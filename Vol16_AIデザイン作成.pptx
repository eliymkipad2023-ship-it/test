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73152" cy="685800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914400"/>
            <a:ext cx="10058400" cy="457200"/>
          </a:xfrm>
          <a:prstGeom prst="rect">
            <a:avLst/>
          </a:prstGeom>
          <a:noFill/>
        </p:spPr>
        <p:txBody>
          <a:bodyPr wrap="square" lIns="45720" rIns="45720" tIns="18288" bIns="18288" anchor="t">
            <a:spAutoFit/>
          </a:bodyPr>
          <a:lstStyle/>
          <a:p>
            <a:pPr algn="l"/>
            <a:r>
              <a:rPr sz="2000" b="1">
                <a:solidFill>
                  <a:srgbClr val="3D5A80"/>
                </a:solidFill>
                <a:latin typeface="Hiragino Sans"/>
              </a:rPr>
              <a:t>Vol.16  ｜  AIデザイン作成</a:t>
            </a:r>
          </a:p>
        </p:txBody>
      </p:sp>
      <p:sp>
        <p:nvSpPr>
          <p:cNvPr id="6" name="Rectangle 5"/>
          <p:cNvSpPr/>
          <p:nvPr/>
        </p:nvSpPr>
        <p:spPr>
          <a:xfrm>
            <a:off x="1097280" y="1417320"/>
            <a:ext cx="182880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515600" cy="1371600"/>
          </a:xfrm>
          <a:prstGeom prst="rect">
            <a:avLst/>
          </a:prstGeom>
          <a:noFill/>
        </p:spPr>
        <p:txBody>
          <a:bodyPr wrap="square" lIns="45720" rIns="45720" tIns="18288" bIns="18288" anchor="t">
            <a:spAutoFit/>
          </a:bodyPr>
          <a:lstStyle/>
          <a:p>
            <a:pPr algn="l"/>
            <a:r>
              <a:rPr sz="6800" b="1">
                <a:solidFill>
                  <a:srgbClr val="0B1B3F"/>
                </a:solidFill>
                <a:latin typeface="Hiragino Sans"/>
              </a:rPr>
              <a:t>AIデザイン作成</a:t>
            </a:r>
          </a:p>
        </p:txBody>
      </p:sp>
      <p:sp>
        <p:nvSpPr>
          <p:cNvPr id="8" name="TextBox 7"/>
          <p:cNvSpPr txBox="1"/>
          <p:nvPr/>
        </p:nvSpPr>
        <p:spPr>
          <a:xfrm>
            <a:off x="1097280" y="3200400"/>
            <a:ext cx="10515600" cy="548640"/>
          </a:xfrm>
          <a:prstGeom prst="rect">
            <a:avLst/>
          </a:prstGeom>
          <a:noFill/>
        </p:spPr>
        <p:txBody>
          <a:bodyPr wrap="square" lIns="45720" rIns="45720" tIns="18288" bIns="18288" anchor="t">
            <a:spAutoFit/>
          </a:bodyPr>
          <a:lstStyle/>
          <a:p>
            <a:pPr algn="l"/>
            <a:r>
              <a:rPr sz="2800" b="1">
                <a:solidFill>
                  <a:srgbClr val="142A5C"/>
                </a:solidFill>
                <a:latin typeface="Hiragino Sans"/>
              </a:rPr>
              <a:t>GPT Image 2でデザインを自動化する</a:t>
            </a:r>
          </a:p>
        </p:txBody>
      </p:sp>
      <p:sp>
        <p:nvSpPr>
          <p:cNvPr id="9" name="TextBox 8"/>
          <p:cNvSpPr txBox="1"/>
          <p:nvPr/>
        </p:nvSpPr>
        <p:spPr>
          <a:xfrm>
            <a:off x="1097280" y="3749039"/>
            <a:ext cx="10515600" cy="457200"/>
          </a:xfrm>
          <a:prstGeom prst="rect">
            <a:avLst/>
          </a:prstGeom>
          <a:noFill/>
        </p:spPr>
        <p:txBody>
          <a:bodyPr wrap="square" lIns="45720" rIns="45720" tIns="18288" bIns="18288" anchor="t">
            <a:spAutoFit/>
          </a:bodyPr>
          <a:lstStyle/>
          <a:p>
            <a:pPr algn="l"/>
            <a:r>
              <a:rPr sz="1800" b="0">
                <a:solidFill>
                  <a:srgbClr val="3D5A80"/>
                </a:solidFill>
                <a:latin typeface="Hiragino Sans"/>
              </a:rPr>
              <a:t>― Phase 4：AIによる創造とアウトプット</a:t>
            </a:r>
          </a:p>
        </p:txBody>
      </p:sp>
      <p:sp>
        <p:nvSpPr>
          <p:cNvPr id="10" name="Rectangle 9"/>
          <p:cNvSpPr/>
          <p:nvPr/>
        </p:nvSpPr>
        <p:spPr>
          <a:xfrm>
            <a:off x="1097280" y="5029200"/>
            <a:ext cx="6400800" cy="7772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5029200"/>
            <a:ext cx="137160"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17320" y="5029200"/>
            <a:ext cx="6126480" cy="777240"/>
          </a:xfrm>
          <a:prstGeom prst="rect">
            <a:avLst/>
          </a:prstGeom>
          <a:noFill/>
        </p:spPr>
        <p:txBody>
          <a:bodyPr wrap="square" lIns="45720" rIns="45720" tIns="18288" bIns="18288" anchor="ctr">
            <a:spAutoFit/>
          </a:bodyPr>
          <a:lstStyle/>
          <a:p>
            <a:pPr algn="l"/>
            <a:r>
              <a:rPr sz="2200" b="1">
                <a:solidFill>
                  <a:srgbClr val="0B1B3F"/>
                </a:solidFill>
                <a:latin typeface="Hiragino Sans"/>
              </a:rPr>
              <a:t>📅  2026/5/9（土）  19:00 〜</a:t>
            </a:r>
          </a:p>
        </p:txBody>
      </p:sp>
      <p:sp>
        <p:nvSpPr>
          <p:cNvPr id="13" name="TextBox 12"/>
          <p:cNvSpPr txBox="1"/>
          <p:nvPr/>
        </p:nvSpPr>
        <p:spPr>
          <a:xfrm>
            <a:off x="1097280" y="6263640"/>
            <a:ext cx="10058400" cy="365760"/>
          </a:xfrm>
          <a:prstGeom prst="rect">
            <a:avLst/>
          </a:prstGeom>
          <a:noFill/>
        </p:spPr>
        <p:txBody>
          <a:bodyPr wrap="square" lIns="45720" rIns="45720" tIns="18288" bIns="18288" anchor="t">
            <a:spAutoFit/>
          </a:bodyPr>
          <a:lstStyle/>
          <a:p>
            <a:pPr algn="l"/>
            <a:r>
              <a:rPr sz="1200" b="0">
                <a:solidFill>
                  <a:srgbClr val="3D5A80"/>
                </a:solidFill>
                <a:latin typeface="Hiragino Sans"/>
              </a:rPr>
              <a:t>AI活用セミナーシリーズ ― Phase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2 / 40</a:t>
            </a:r>
          </a:p>
        </p:txBody>
      </p:sp>
      <p:sp>
        <p:nvSpPr>
          <p:cNvPr id="5" name="Rectangle 4"/>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今日のゴール</a:t>
            </a:r>
          </a:p>
        </p:txBody>
      </p:sp>
      <p:sp>
        <p:nvSpPr>
          <p:cNvPr id="7" name="TextBox 6"/>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セミナー終了時に「できる」ようになっていることリスト</a:t>
            </a:r>
          </a:p>
        </p:txBody>
      </p:sp>
      <p:sp>
        <p:nvSpPr>
          <p:cNvPr id="8" name="Rectangle 7"/>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737360"/>
            <a:ext cx="457200" cy="45720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Hiragino Sans"/>
              </a:rPr>
              <a:t>1</a:t>
            </a:r>
          </a:p>
        </p:txBody>
      </p:sp>
      <p:sp>
        <p:nvSpPr>
          <p:cNvPr id="10" name="TextBox 9"/>
          <p:cNvSpPr txBox="1"/>
          <p:nvPr/>
        </p:nvSpPr>
        <p:spPr>
          <a:xfrm>
            <a:off x="1188720" y="1691640"/>
            <a:ext cx="10698480" cy="566928"/>
          </a:xfrm>
          <a:prstGeom prst="rect">
            <a:avLst/>
          </a:prstGeom>
          <a:noFill/>
        </p:spPr>
        <p:txBody>
          <a:bodyPr wrap="square" lIns="45720" rIns="45720" tIns="18288" bIns="18288" anchor="ctr">
            <a:spAutoFit/>
          </a:bodyPr>
          <a:lstStyle/>
          <a:p>
            <a:pPr algn="l"/>
            <a:r>
              <a:rPr sz="1500" b="0">
                <a:solidFill>
                  <a:srgbClr val="333333"/>
                </a:solidFill>
                <a:latin typeface="Hiragino Sans"/>
              </a:rPr>
              <a:t>ChatGPTのImages機能（GPT Image 2）で、文字指示から画像を生成できる</a:t>
            </a:r>
          </a:p>
        </p:txBody>
      </p:sp>
      <p:sp>
        <p:nvSpPr>
          <p:cNvPr id="11" name="Rectangle 10"/>
          <p:cNvSpPr/>
          <p:nvPr/>
        </p:nvSpPr>
        <p:spPr>
          <a:xfrm>
            <a:off x="1188720" y="2231136"/>
            <a:ext cx="10698480" cy="9144"/>
          </a:xfrm>
          <a:prstGeom prst="rect">
            <a:avLst/>
          </a:prstGeom>
          <a:solidFill>
            <a:srgbClr val="C8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48640" y="2304288"/>
            <a:ext cx="457200" cy="45720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Hiragino Sans"/>
              </a:rPr>
              <a:t>2</a:t>
            </a:r>
          </a:p>
        </p:txBody>
      </p:sp>
      <p:sp>
        <p:nvSpPr>
          <p:cNvPr id="13" name="TextBox 12"/>
          <p:cNvSpPr txBox="1"/>
          <p:nvPr/>
        </p:nvSpPr>
        <p:spPr>
          <a:xfrm>
            <a:off x="1188720" y="2258568"/>
            <a:ext cx="10698480" cy="566928"/>
          </a:xfrm>
          <a:prstGeom prst="rect">
            <a:avLst/>
          </a:prstGeom>
          <a:noFill/>
        </p:spPr>
        <p:txBody>
          <a:bodyPr wrap="square" lIns="45720" rIns="45720" tIns="18288" bIns="18288" anchor="ctr">
            <a:spAutoFit/>
          </a:bodyPr>
          <a:lstStyle/>
          <a:p>
            <a:pPr algn="l"/>
            <a:r>
              <a:rPr sz="1500" b="0">
                <a:solidFill>
                  <a:srgbClr val="333333"/>
                </a:solidFill>
                <a:latin typeface="Hiragino Sans"/>
              </a:rPr>
              <a:t>スライド表紙・挿絵・アイコン・図解と、用途に応じてアスペクト比を使い分けられる</a:t>
            </a:r>
          </a:p>
        </p:txBody>
      </p:sp>
      <p:sp>
        <p:nvSpPr>
          <p:cNvPr id="14" name="Rectangle 13"/>
          <p:cNvSpPr/>
          <p:nvPr/>
        </p:nvSpPr>
        <p:spPr>
          <a:xfrm>
            <a:off x="1188720" y="2798064"/>
            <a:ext cx="10698480" cy="9144"/>
          </a:xfrm>
          <a:prstGeom prst="rect">
            <a:avLst/>
          </a:prstGeom>
          <a:solidFill>
            <a:srgbClr val="C8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8640" y="2871216"/>
            <a:ext cx="457200" cy="45720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Hiragino Sans"/>
              </a:rPr>
              <a:t>3</a:t>
            </a:r>
          </a:p>
        </p:txBody>
      </p:sp>
      <p:sp>
        <p:nvSpPr>
          <p:cNvPr id="16" name="TextBox 15"/>
          <p:cNvSpPr txBox="1"/>
          <p:nvPr/>
        </p:nvSpPr>
        <p:spPr>
          <a:xfrm>
            <a:off x="1188720" y="2825496"/>
            <a:ext cx="10698480" cy="566928"/>
          </a:xfrm>
          <a:prstGeom prst="rect">
            <a:avLst/>
          </a:prstGeom>
          <a:noFill/>
        </p:spPr>
        <p:txBody>
          <a:bodyPr wrap="square" lIns="45720" rIns="45720" tIns="18288" bIns="18288" anchor="ctr">
            <a:spAutoFit/>
          </a:bodyPr>
          <a:lstStyle/>
          <a:p>
            <a:pPr algn="l"/>
            <a:r>
              <a:rPr sz="1500" b="0">
                <a:solidFill>
                  <a:srgbClr val="333333"/>
                </a:solidFill>
                <a:latin typeface="Hiragino Sans"/>
              </a:rPr>
              <a:t>プロンプト工房Project経由で、抽象的なイメージから高品質な画像生成プロンプトを作らせられる</a:t>
            </a:r>
          </a:p>
        </p:txBody>
      </p:sp>
      <p:sp>
        <p:nvSpPr>
          <p:cNvPr id="17" name="Rectangle 16"/>
          <p:cNvSpPr/>
          <p:nvPr/>
        </p:nvSpPr>
        <p:spPr>
          <a:xfrm>
            <a:off x="1188720" y="3364992"/>
            <a:ext cx="10698480" cy="9144"/>
          </a:xfrm>
          <a:prstGeom prst="rect">
            <a:avLst/>
          </a:prstGeom>
          <a:solidFill>
            <a:srgbClr val="C8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8640" y="3438144"/>
            <a:ext cx="457200" cy="45720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Hiragino Sans"/>
              </a:rPr>
              <a:t>4</a:t>
            </a:r>
          </a:p>
        </p:txBody>
      </p:sp>
      <p:sp>
        <p:nvSpPr>
          <p:cNvPr id="19" name="TextBox 18"/>
          <p:cNvSpPr txBox="1"/>
          <p:nvPr/>
        </p:nvSpPr>
        <p:spPr>
          <a:xfrm>
            <a:off x="1188720" y="3392424"/>
            <a:ext cx="10698480" cy="566928"/>
          </a:xfrm>
          <a:prstGeom prst="rect">
            <a:avLst/>
          </a:prstGeom>
          <a:noFill/>
        </p:spPr>
        <p:txBody>
          <a:bodyPr wrap="square" lIns="45720" rIns="45720" tIns="18288" bIns="18288" anchor="ctr">
            <a:spAutoFit/>
          </a:bodyPr>
          <a:lstStyle/>
          <a:p>
            <a:pPr algn="l"/>
            <a:r>
              <a:rPr sz="1500" b="0">
                <a:solidFill>
                  <a:srgbClr val="333333"/>
                </a:solidFill>
                <a:latin typeface="Hiragino Sans"/>
              </a:rPr>
              <a:t>同一テーマ・同一テイストで複数枚の画像を揃えられる</a:t>
            </a:r>
          </a:p>
        </p:txBody>
      </p:sp>
      <p:sp>
        <p:nvSpPr>
          <p:cNvPr id="20" name="Rectangle 19"/>
          <p:cNvSpPr/>
          <p:nvPr/>
        </p:nvSpPr>
        <p:spPr>
          <a:xfrm>
            <a:off x="1188720" y="3931920"/>
            <a:ext cx="10698480" cy="9144"/>
          </a:xfrm>
          <a:prstGeom prst="rect">
            <a:avLst/>
          </a:prstGeom>
          <a:solidFill>
            <a:srgbClr val="C8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8640" y="4005072"/>
            <a:ext cx="457200" cy="45720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Hiragino Sans"/>
              </a:rPr>
              <a:t>5</a:t>
            </a:r>
          </a:p>
        </p:txBody>
      </p:sp>
      <p:sp>
        <p:nvSpPr>
          <p:cNvPr id="22" name="TextBox 21"/>
          <p:cNvSpPr txBox="1"/>
          <p:nvPr/>
        </p:nvSpPr>
        <p:spPr>
          <a:xfrm>
            <a:off x="1188720" y="3959352"/>
            <a:ext cx="10698480" cy="566928"/>
          </a:xfrm>
          <a:prstGeom prst="rect">
            <a:avLst/>
          </a:prstGeom>
          <a:noFill/>
        </p:spPr>
        <p:txBody>
          <a:bodyPr wrap="square" lIns="45720" rIns="45720" tIns="18288" bIns="18288" anchor="ctr">
            <a:spAutoFit/>
          </a:bodyPr>
          <a:lstStyle/>
          <a:p>
            <a:pPr algn="l"/>
            <a:r>
              <a:rPr sz="1500" b="0">
                <a:solidFill>
                  <a:srgbClr val="333333"/>
                </a:solidFill>
                <a:latin typeface="Hiragino Sans"/>
              </a:rPr>
              <a:t>生成後にチャットで追加指示を出して、色・要素・配置を編集できる</a:t>
            </a:r>
          </a:p>
        </p:txBody>
      </p:sp>
      <p:sp>
        <p:nvSpPr>
          <p:cNvPr id="23" name="Rectangle 22"/>
          <p:cNvSpPr/>
          <p:nvPr/>
        </p:nvSpPr>
        <p:spPr>
          <a:xfrm>
            <a:off x="1188720" y="4498848"/>
            <a:ext cx="10698480" cy="9144"/>
          </a:xfrm>
          <a:prstGeom prst="rect">
            <a:avLst/>
          </a:prstGeom>
          <a:solidFill>
            <a:srgbClr val="C8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48640" y="4572000"/>
            <a:ext cx="457200" cy="45720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Hiragino Sans"/>
              </a:rPr>
              <a:t>6</a:t>
            </a:r>
          </a:p>
        </p:txBody>
      </p:sp>
      <p:sp>
        <p:nvSpPr>
          <p:cNvPr id="25" name="TextBox 24"/>
          <p:cNvSpPr txBox="1"/>
          <p:nvPr/>
        </p:nvSpPr>
        <p:spPr>
          <a:xfrm>
            <a:off x="1188720" y="4526280"/>
            <a:ext cx="10698480" cy="566928"/>
          </a:xfrm>
          <a:prstGeom prst="rect">
            <a:avLst/>
          </a:prstGeom>
          <a:noFill/>
        </p:spPr>
        <p:txBody>
          <a:bodyPr wrap="square" lIns="45720" rIns="45720" tIns="18288" bIns="18288" anchor="ctr">
            <a:spAutoFit/>
          </a:bodyPr>
          <a:lstStyle/>
          <a:p>
            <a:pPr algn="l"/>
            <a:r>
              <a:rPr sz="1500" b="0">
                <a:solidFill>
                  <a:srgbClr val="333333"/>
                </a:solidFill>
                <a:latin typeface="Hiragino Sans"/>
              </a:rPr>
              <a:t>生成した画像をiPadの写真アプリ／ファイルアプリに保存できる</a:t>
            </a:r>
          </a:p>
        </p:txBody>
      </p:sp>
      <p:sp>
        <p:nvSpPr>
          <p:cNvPr id="26" name="Rectangle 25"/>
          <p:cNvSpPr/>
          <p:nvPr/>
        </p:nvSpPr>
        <p:spPr>
          <a:xfrm>
            <a:off x="1188720" y="5065776"/>
            <a:ext cx="10698480" cy="9144"/>
          </a:xfrm>
          <a:prstGeom prst="rect">
            <a:avLst/>
          </a:prstGeom>
          <a:solidFill>
            <a:srgbClr val="C8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48640" y="5138928"/>
            <a:ext cx="457200" cy="45720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Hiragino Sans"/>
              </a:rPr>
              <a:t>7</a:t>
            </a:r>
          </a:p>
        </p:txBody>
      </p:sp>
      <p:sp>
        <p:nvSpPr>
          <p:cNvPr id="28" name="TextBox 27"/>
          <p:cNvSpPr txBox="1"/>
          <p:nvPr/>
        </p:nvSpPr>
        <p:spPr>
          <a:xfrm>
            <a:off x="1188720" y="5093208"/>
            <a:ext cx="10698480" cy="566928"/>
          </a:xfrm>
          <a:prstGeom prst="rect">
            <a:avLst/>
          </a:prstGeom>
          <a:noFill/>
        </p:spPr>
        <p:txBody>
          <a:bodyPr wrap="square" lIns="45720" rIns="45720" tIns="18288" bIns="18288" anchor="ctr">
            <a:spAutoFit/>
          </a:bodyPr>
          <a:lstStyle/>
          <a:p>
            <a:pPr algn="l"/>
            <a:r>
              <a:rPr sz="1500" b="0">
                <a:solidFill>
                  <a:srgbClr val="333333"/>
                </a:solidFill>
                <a:latin typeface="Hiragino Sans"/>
              </a:rPr>
              <a:t>生成画像をBase64でClaudeのHTMLドキュメントに埋め込める（Vol.14連携）</a:t>
            </a:r>
          </a:p>
        </p:txBody>
      </p:sp>
      <p:sp>
        <p:nvSpPr>
          <p:cNvPr id="29" name="Rectangle 28"/>
          <p:cNvSpPr/>
          <p:nvPr/>
        </p:nvSpPr>
        <p:spPr>
          <a:xfrm>
            <a:off x="1188720" y="5632704"/>
            <a:ext cx="10698480" cy="9144"/>
          </a:xfrm>
          <a:prstGeom prst="rect">
            <a:avLst/>
          </a:prstGeom>
          <a:solidFill>
            <a:srgbClr val="C8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8640" y="5705856"/>
            <a:ext cx="457200" cy="45720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Hiragino Sans"/>
              </a:rPr>
              <a:t>8</a:t>
            </a:r>
          </a:p>
        </p:txBody>
      </p:sp>
      <p:sp>
        <p:nvSpPr>
          <p:cNvPr id="31" name="TextBox 30"/>
          <p:cNvSpPr txBox="1"/>
          <p:nvPr/>
        </p:nvSpPr>
        <p:spPr>
          <a:xfrm>
            <a:off x="1188720" y="5660136"/>
            <a:ext cx="10698480" cy="566928"/>
          </a:xfrm>
          <a:prstGeom prst="rect">
            <a:avLst/>
          </a:prstGeom>
          <a:noFill/>
        </p:spPr>
        <p:txBody>
          <a:bodyPr wrap="square" lIns="45720" rIns="45720" tIns="18288" bIns="18288" anchor="ctr">
            <a:spAutoFit/>
          </a:bodyPr>
          <a:lstStyle/>
          <a:p>
            <a:pPr algn="l"/>
            <a:r>
              <a:rPr sz="1500" b="0">
                <a:solidFill>
                  <a:srgbClr val="333333"/>
                </a:solidFill>
                <a:latin typeface="Hiragino Sans"/>
              </a:rPr>
              <a:t>GPT Image 2の苦手領域（日本語文字・透過非対応）を理解し、白背景生成＋被写体抜き出しで補完できる</a:t>
            </a:r>
          </a:p>
        </p:txBody>
      </p:sp>
      <p:sp>
        <p:nvSpPr>
          <p:cNvPr id="32" name="Rectangle 31"/>
          <p:cNvSpPr/>
          <p:nvPr/>
        </p:nvSpPr>
        <p:spPr>
          <a:xfrm>
            <a:off x="1188720" y="6199632"/>
            <a:ext cx="10698480" cy="9144"/>
          </a:xfrm>
          <a:prstGeom prst="rect">
            <a:avLst/>
          </a:prstGeom>
          <a:solidFill>
            <a:srgbClr val="C8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3 / 40</a:t>
            </a:r>
          </a:p>
        </p:txBody>
      </p:sp>
      <p:sp>
        <p:nvSpPr>
          <p:cNvPr id="5" name="Rectangle 4"/>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今日の流れ</a:t>
            </a:r>
          </a:p>
        </p:txBody>
      </p:sp>
      <p:sp>
        <p:nvSpPr>
          <p:cNvPr id="7" name="TextBox 6"/>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全体マップ ― Part 0 → Part 4の流れで進めます</a:t>
            </a:r>
          </a:p>
        </p:txBody>
      </p:sp>
      <p:sp>
        <p:nvSpPr>
          <p:cNvPr id="8" name="Rectangle 7"/>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783080"/>
            <a:ext cx="2167128" cy="59436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Triangle 9"/>
          <p:cNvSpPr/>
          <p:nvPr/>
        </p:nvSpPr>
        <p:spPr>
          <a:xfrm rot="5400000">
            <a:off x="2715768" y="1783080"/>
            <a:ext cx="164592" cy="594360"/>
          </a:xfrm>
          <a:prstGeom prst="rtTriangle">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83080"/>
            <a:ext cx="2167128" cy="594360"/>
          </a:xfrm>
          <a:prstGeom prst="rect">
            <a:avLst/>
          </a:prstGeom>
          <a:noFill/>
        </p:spPr>
        <p:txBody>
          <a:bodyPr wrap="square" lIns="45720" rIns="45720" tIns="18288" bIns="18288" anchor="ctr">
            <a:spAutoFit/>
          </a:bodyPr>
          <a:lstStyle/>
          <a:p>
            <a:pPr algn="ctr"/>
            <a:r>
              <a:rPr sz="1400" b="1">
                <a:solidFill>
                  <a:srgbClr val="FFFFFF"/>
                </a:solidFill>
                <a:latin typeface="Hiragino Sans"/>
              </a:rPr>
              <a:t>Part 0  ／  10分</a:t>
            </a:r>
          </a:p>
        </p:txBody>
      </p:sp>
      <p:sp>
        <p:nvSpPr>
          <p:cNvPr id="12" name="Rectangle 11"/>
          <p:cNvSpPr/>
          <p:nvPr/>
        </p:nvSpPr>
        <p:spPr>
          <a:xfrm>
            <a:off x="2761488" y="1783080"/>
            <a:ext cx="21671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rot="5400000">
            <a:off x="4928616" y="1783080"/>
            <a:ext cx="164592" cy="594360"/>
          </a:xfrm>
          <a:prstGeom prst="rtTriangl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1488" y="1783080"/>
            <a:ext cx="2167128" cy="594360"/>
          </a:xfrm>
          <a:prstGeom prst="rect">
            <a:avLst/>
          </a:prstGeom>
          <a:noFill/>
        </p:spPr>
        <p:txBody>
          <a:bodyPr wrap="square" lIns="45720" rIns="45720" tIns="18288" bIns="18288" anchor="ctr">
            <a:spAutoFit/>
          </a:bodyPr>
          <a:lstStyle/>
          <a:p>
            <a:pPr algn="ctr"/>
            <a:r>
              <a:rPr sz="1400" b="1">
                <a:solidFill>
                  <a:srgbClr val="FFFFFF"/>
                </a:solidFill>
                <a:latin typeface="Hiragino Sans"/>
              </a:rPr>
              <a:t>Part 1  ／  35分</a:t>
            </a:r>
          </a:p>
        </p:txBody>
      </p:sp>
      <p:sp>
        <p:nvSpPr>
          <p:cNvPr id="15" name="Rectangle 14"/>
          <p:cNvSpPr/>
          <p:nvPr/>
        </p:nvSpPr>
        <p:spPr>
          <a:xfrm>
            <a:off x="4974336" y="1783080"/>
            <a:ext cx="21671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Triangle 15"/>
          <p:cNvSpPr/>
          <p:nvPr/>
        </p:nvSpPr>
        <p:spPr>
          <a:xfrm rot="5400000">
            <a:off x="7141464" y="1783080"/>
            <a:ext cx="164592" cy="594360"/>
          </a:xfrm>
          <a:prstGeom prst="rtTriangl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74336" y="1783080"/>
            <a:ext cx="2167128" cy="594360"/>
          </a:xfrm>
          <a:prstGeom prst="rect">
            <a:avLst/>
          </a:prstGeom>
          <a:noFill/>
        </p:spPr>
        <p:txBody>
          <a:bodyPr wrap="square" lIns="45720" rIns="45720" tIns="18288" bIns="18288" anchor="ctr">
            <a:spAutoFit/>
          </a:bodyPr>
          <a:lstStyle/>
          <a:p>
            <a:pPr algn="ctr"/>
            <a:r>
              <a:rPr sz="1400" b="1">
                <a:solidFill>
                  <a:srgbClr val="FFFFFF"/>
                </a:solidFill>
                <a:latin typeface="Hiragino Sans"/>
              </a:rPr>
              <a:t>Part 2  ／  30分</a:t>
            </a:r>
          </a:p>
        </p:txBody>
      </p:sp>
      <p:sp>
        <p:nvSpPr>
          <p:cNvPr id="18" name="Rectangle 17"/>
          <p:cNvSpPr/>
          <p:nvPr/>
        </p:nvSpPr>
        <p:spPr>
          <a:xfrm>
            <a:off x="7187184" y="1783080"/>
            <a:ext cx="21671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Triangle 18"/>
          <p:cNvSpPr/>
          <p:nvPr/>
        </p:nvSpPr>
        <p:spPr>
          <a:xfrm rot="5400000">
            <a:off x="9354312" y="1783080"/>
            <a:ext cx="164592" cy="594360"/>
          </a:xfrm>
          <a:prstGeom prst="rtTriangl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87184" y="1783080"/>
            <a:ext cx="2167128" cy="594360"/>
          </a:xfrm>
          <a:prstGeom prst="rect">
            <a:avLst/>
          </a:prstGeom>
          <a:noFill/>
        </p:spPr>
        <p:txBody>
          <a:bodyPr wrap="square" lIns="45720" rIns="45720" tIns="18288" bIns="18288" anchor="ctr">
            <a:spAutoFit/>
          </a:bodyPr>
          <a:lstStyle/>
          <a:p>
            <a:pPr algn="ctr"/>
            <a:r>
              <a:rPr sz="1400" b="1">
                <a:solidFill>
                  <a:srgbClr val="FFFFFF"/>
                </a:solidFill>
                <a:latin typeface="Hiragino Sans"/>
              </a:rPr>
              <a:t>Part 3  ／  20分</a:t>
            </a:r>
          </a:p>
        </p:txBody>
      </p:sp>
      <p:sp>
        <p:nvSpPr>
          <p:cNvPr id="21" name="Rectangle 20"/>
          <p:cNvSpPr/>
          <p:nvPr/>
        </p:nvSpPr>
        <p:spPr>
          <a:xfrm>
            <a:off x="9400032" y="1783080"/>
            <a:ext cx="2167128" cy="59436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00032" y="1783080"/>
            <a:ext cx="2167128" cy="594360"/>
          </a:xfrm>
          <a:prstGeom prst="rect">
            <a:avLst/>
          </a:prstGeom>
          <a:noFill/>
        </p:spPr>
        <p:txBody>
          <a:bodyPr wrap="square" lIns="45720" rIns="45720" tIns="18288" bIns="18288" anchor="ctr">
            <a:spAutoFit/>
          </a:bodyPr>
          <a:lstStyle/>
          <a:p>
            <a:pPr algn="ctr"/>
            <a:r>
              <a:rPr sz="1400" b="1">
                <a:solidFill>
                  <a:srgbClr val="FFFFFF"/>
                </a:solidFill>
                <a:latin typeface="Hiragino Sans"/>
              </a:rPr>
              <a:t>Part 4  ／  20分</a:t>
            </a:r>
          </a:p>
        </p:txBody>
      </p:sp>
      <p:graphicFrame>
        <p:nvGraphicFramePr>
          <p:cNvPr id="23" name="Table 22"/>
          <p:cNvGraphicFramePr>
            <a:graphicFrameLocks noGrp="1"/>
          </p:cNvGraphicFramePr>
          <p:nvPr/>
        </p:nvGraphicFramePr>
        <p:xfrm>
          <a:off x="548640" y="2697480"/>
          <a:ext cx="11064240" cy="2697480"/>
        </p:xfrm>
        <a:graphic>
          <a:graphicData uri="http://schemas.openxmlformats.org/drawingml/2006/table">
            <a:tbl>
              <a:tblPr firstRow="1" bandRow="1">
                <a:tableStyleId>{5C22544A-7EE6-4342-B048-85BDC9FD1C3A}</a:tableStyleId>
              </a:tblPr>
              <a:tblGrid>
                <a:gridCol w="1844040"/>
                <a:gridCol w="7376160"/>
                <a:gridCol w="1844040"/>
              </a:tblGrid>
              <a:tr h="411480">
                <a:tc>
                  <a:txBody>
                    <a:bodyPr/>
                    <a:lstStyle/>
                    <a:p>
                      <a:pPr algn="ctr"/>
                      <a:r>
                        <a:rPr sz="1400" b="1">
                          <a:solidFill>
                            <a:srgbClr val="FFFFFF"/>
                          </a:solidFill>
                          <a:latin typeface="Hiragino Sans"/>
                        </a:rPr>
                        <a:t>パート</a:t>
                      </a:r>
                    </a:p>
                  </a:txBody>
                  <a:tcPr marL="73152" marR="73152" marT="45720" marB="45720" anchor="ctr">
                    <a:solidFill>
                      <a:srgbClr val="142A5C"/>
                    </a:solidFill>
                  </a:tcPr>
                </a:tc>
                <a:tc>
                  <a:txBody>
                    <a:bodyPr/>
                    <a:lstStyle/>
                    <a:p>
                      <a:pPr algn="ctr"/>
                      <a:r>
                        <a:rPr sz="1400" b="1">
                          <a:solidFill>
                            <a:srgbClr val="FFFFFF"/>
                          </a:solidFill>
                          <a:latin typeface="Hiragino Sans"/>
                        </a:rPr>
                        <a:t>内容</a:t>
                      </a:r>
                    </a:p>
                  </a:txBody>
                  <a:tcPr marL="73152" marR="73152" marT="45720" marB="45720" anchor="ctr">
                    <a:solidFill>
                      <a:srgbClr val="142A5C"/>
                    </a:solidFill>
                  </a:tcPr>
                </a:tc>
                <a:tc>
                  <a:txBody>
                    <a:bodyPr/>
                    <a:lstStyle/>
                    <a:p>
                      <a:pPr algn="ctr"/>
                      <a:r>
                        <a:rPr sz="1400" b="1">
                          <a:solidFill>
                            <a:srgbClr val="FFFFFF"/>
                          </a:solidFill>
                          <a:latin typeface="Hiragino Sans"/>
                        </a:rPr>
                        <a:t>時間目安</a:t>
                      </a:r>
                    </a:p>
                  </a:txBody>
                  <a:tcPr marL="73152" marR="73152" marT="45720" marB="45720" anchor="ctr">
                    <a:solidFill>
                      <a:srgbClr val="142A5C"/>
                    </a:solidFill>
                  </a:tcPr>
                </a:tc>
              </a:tr>
              <a:tr h="457200">
                <a:tc>
                  <a:txBody>
                    <a:bodyPr wrap="square"/>
                    <a:lstStyle/>
                    <a:p>
                      <a:pPr algn="ctr"/>
                      <a:r>
                        <a:rPr sz="1400" b="1">
                          <a:solidFill>
                            <a:srgbClr val="0B1B3F"/>
                          </a:solidFill>
                          <a:latin typeface="Hiragino Sans"/>
                        </a:rPr>
                        <a:t>Part 0</a:t>
                      </a:r>
                    </a:p>
                  </a:txBody>
                  <a:tcPr marL="91440" marR="91440" marT="45720" marB="45720" anchor="ctr">
                    <a:solidFill>
                      <a:srgbClr val="E8EEF7"/>
                    </a:solidFill>
                  </a:tcPr>
                </a:tc>
                <a:tc>
                  <a:txBody>
                    <a:bodyPr wrap="square"/>
                    <a:lstStyle/>
                    <a:p>
                      <a:pPr algn="l"/>
                      <a:r>
                        <a:rPr sz="1400" b="0">
                          <a:solidFill>
                            <a:srgbClr val="333333"/>
                          </a:solidFill>
                          <a:latin typeface="Hiragino Sans"/>
                        </a:rPr>
                        <a:t>GPT Image 2を始める前に</a:t>
                      </a:r>
                    </a:p>
                  </a:txBody>
                  <a:tcPr marL="91440" marR="91440" marT="45720" marB="45720" anchor="ctr">
                    <a:solidFill>
                      <a:srgbClr val="E8EEF7"/>
                    </a:solidFill>
                  </a:tcPr>
                </a:tc>
                <a:tc>
                  <a:txBody>
                    <a:bodyPr wrap="square"/>
                    <a:lstStyle/>
                    <a:p>
                      <a:pPr algn="ctr"/>
                      <a:r>
                        <a:rPr sz="1400" b="0">
                          <a:solidFill>
                            <a:srgbClr val="333333"/>
                          </a:solidFill>
                          <a:latin typeface="Hiragino Sans"/>
                        </a:rPr>
                        <a:t>10分</a:t>
                      </a:r>
                    </a:p>
                  </a:txBody>
                  <a:tcPr marL="91440" marR="91440" marT="45720" marB="45720" anchor="ctr">
                    <a:solidFill>
                      <a:srgbClr val="E8EEF7"/>
                    </a:solidFill>
                  </a:tcPr>
                </a:tc>
              </a:tr>
              <a:tr h="457200">
                <a:tc>
                  <a:txBody>
                    <a:bodyPr wrap="square"/>
                    <a:lstStyle/>
                    <a:p>
                      <a:pPr algn="ctr"/>
                      <a:r>
                        <a:rPr sz="1400" b="1">
                          <a:solidFill>
                            <a:srgbClr val="0B1B3F"/>
                          </a:solidFill>
                          <a:latin typeface="Hiragino Sans"/>
                        </a:rPr>
                        <a:t>Part 1</a:t>
                      </a:r>
                    </a:p>
                  </a:txBody>
                  <a:tcPr marL="91440" marR="91440" marT="45720" marB="45720" anchor="ctr">
                    <a:solidFill>
                      <a:srgbClr val="FFFFFF"/>
                    </a:solidFill>
                  </a:tcPr>
                </a:tc>
                <a:tc>
                  <a:txBody>
                    <a:bodyPr wrap="square"/>
                    <a:lstStyle/>
                    <a:p>
                      <a:pPr algn="l"/>
                      <a:r>
                        <a:rPr sz="1400" b="0">
                          <a:solidFill>
                            <a:srgbClr val="333333"/>
                          </a:solidFill>
                          <a:latin typeface="Hiragino Sans"/>
                        </a:rPr>
                        <a:t>ギャラリー → 基本操作（生成・保存・抜き出し）</a:t>
                      </a:r>
                    </a:p>
                  </a:txBody>
                  <a:tcPr marL="91440" marR="91440" marT="45720" marB="45720" anchor="ctr">
                    <a:solidFill>
                      <a:srgbClr val="FFFFFF"/>
                    </a:solidFill>
                  </a:tcPr>
                </a:tc>
                <a:tc>
                  <a:txBody>
                    <a:bodyPr wrap="square"/>
                    <a:lstStyle/>
                    <a:p>
                      <a:pPr algn="ctr"/>
                      <a:r>
                        <a:rPr sz="1400" b="0">
                          <a:solidFill>
                            <a:srgbClr val="333333"/>
                          </a:solidFill>
                          <a:latin typeface="Hiragino Sans"/>
                        </a:rPr>
                        <a:t>35分</a:t>
                      </a:r>
                    </a:p>
                  </a:txBody>
                  <a:tcPr marL="91440" marR="91440" marT="45720" marB="45720" anchor="ctr">
                    <a:solidFill>
                      <a:srgbClr val="FFFFFF"/>
                    </a:solidFill>
                  </a:tcPr>
                </a:tc>
              </a:tr>
              <a:tr h="457200">
                <a:tc>
                  <a:txBody>
                    <a:bodyPr wrap="square"/>
                    <a:lstStyle/>
                    <a:p>
                      <a:pPr algn="ctr"/>
                      <a:r>
                        <a:rPr sz="1400" b="1">
                          <a:solidFill>
                            <a:srgbClr val="0B1B3F"/>
                          </a:solidFill>
                          <a:latin typeface="Hiragino Sans"/>
                        </a:rPr>
                        <a:t>Part 2</a:t>
                      </a:r>
                    </a:p>
                  </a:txBody>
                  <a:tcPr marL="91440" marR="91440" marT="45720" marB="45720" anchor="ctr">
                    <a:solidFill>
                      <a:srgbClr val="E8EEF7"/>
                    </a:solidFill>
                  </a:tcPr>
                </a:tc>
                <a:tc>
                  <a:txBody>
                    <a:bodyPr wrap="square"/>
                    <a:lstStyle/>
                    <a:p>
                      <a:pPr algn="l"/>
                      <a:r>
                        <a:rPr sz="1400" b="0">
                          <a:solidFill>
                            <a:srgbClr val="333333"/>
                          </a:solidFill>
                          <a:latin typeface="Hiragino Sans"/>
                        </a:rPr>
                        <a:t>プロンプト工房 ― Projectにプロンプトを書かせる</a:t>
                      </a:r>
                    </a:p>
                  </a:txBody>
                  <a:tcPr marL="91440" marR="91440" marT="45720" marB="45720" anchor="ctr">
                    <a:solidFill>
                      <a:srgbClr val="E8EEF7"/>
                    </a:solidFill>
                  </a:tcPr>
                </a:tc>
                <a:tc>
                  <a:txBody>
                    <a:bodyPr wrap="square"/>
                    <a:lstStyle/>
                    <a:p>
                      <a:pPr algn="ctr"/>
                      <a:r>
                        <a:rPr sz="1400" b="0">
                          <a:solidFill>
                            <a:srgbClr val="333333"/>
                          </a:solidFill>
                          <a:latin typeface="Hiragino Sans"/>
                        </a:rPr>
                        <a:t>30分</a:t>
                      </a:r>
                    </a:p>
                  </a:txBody>
                  <a:tcPr marL="91440" marR="91440" marT="45720" marB="45720" anchor="ctr">
                    <a:solidFill>
                      <a:srgbClr val="E8EEF7"/>
                    </a:solidFill>
                  </a:tcPr>
                </a:tc>
              </a:tr>
              <a:tr h="457200">
                <a:tc>
                  <a:txBody>
                    <a:bodyPr wrap="square"/>
                    <a:lstStyle/>
                    <a:p>
                      <a:pPr algn="ctr"/>
                      <a:r>
                        <a:rPr sz="1400" b="1">
                          <a:solidFill>
                            <a:srgbClr val="0B1B3F"/>
                          </a:solidFill>
                          <a:latin typeface="Hiragino Sans"/>
                        </a:rPr>
                        <a:t>Part 3</a:t>
                      </a:r>
                    </a:p>
                  </a:txBody>
                  <a:tcPr marL="91440" marR="91440" marT="45720" marB="45720" anchor="ctr">
                    <a:solidFill>
                      <a:srgbClr val="FFFFFF"/>
                    </a:solidFill>
                  </a:tcPr>
                </a:tc>
                <a:tc>
                  <a:txBody>
                    <a:bodyPr wrap="square"/>
                    <a:lstStyle/>
                    <a:p>
                      <a:pPr algn="l"/>
                      <a:r>
                        <a:rPr sz="1400" b="0">
                          <a:solidFill>
                            <a:srgbClr val="333333"/>
                          </a:solidFill>
                          <a:latin typeface="Hiragino Sans"/>
                        </a:rPr>
                        <a:t>同一テイストの複数枚 &amp; 生成後の編集</a:t>
                      </a:r>
                    </a:p>
                  </a:txBody>
                  <a:tcPr marL="91440" marR="91440" marT="45720" marB="45720" anchor="ctr">
                    <a:solidFill>
                      <a:srgbClr val="FFFFFF"/>
                    </a:solidFill>
                  </a:tcPr>
                </a:tc>
                <a:tc>
                  <a:txBody>
                    <a:bodyPr wrap="square"/>
                    <a:lstStyle/>
                    <a:p>
                      <a:pPr algn="ctr"/>
                      <a:r>
                        <a:rPr sz="1400" b="0">
                          <a:solidFill>
                            <a:srgbClr val="333333"/>
                          </a:solidFill>
                          <a:latin typeface="Hiragino Sans"/>
                        </a:rPr>
                        <a:t>20分</a:t>
                      </a:r>
                    </a:p>
                  </a:txBody>
                  <a:tcPr marL="91440" marR="91440" marT="45720" marB="45720" anchor="ctr">
                    <a:solidFill>
                      <a:srgbClr val="FFFFFF"/>
                    </a:solidFill>
                  </a:tcPr>
                </a:tc>
              </a:tr>
              <a:tr h="457200">
                <a:tc>
                  <a:txBody>
                    <a:bodyPr wrap="square"/>
                    <a:lstStyle/>
                    <a:p>
                      <a:pPr algn="ctr"/>
                      <a:r>
                        <a:rPr sz="1400" b="1">
                          <a:solidFill>
                            <a:srgbClr val="0B1B3F"/>
                          </a:solidFill>
                          <a:latin typeface="Hiragino Sans"/>
                        </a:rPr>
                        <a:t>Part 4</a:t>
                      </a:r>
                    </a:p>
                  </a:txBody>
                  <a:tcPr marL="91440" marR="91440" marT="45720" marB="45720" anchor="ctr">
                    <a:solidFill>
                      <a:srgbClr val="E8EEF7"/>
                    </a:solidFill>
                  </a:tcPr>
                </a:tc>
                <a:tc>
                  <a:txBody>
                    <a:bodyPr wrap="square"/>
                    <a:lstStyle/>
                    <a:p>
                      <a:pPr algn="l"/>
                      <a:r>
                        <a:rPr sz="1400" b="0">
                          <a:solidFill>
                            <a:srgbClr val="333333"/>
                          </a:solidFill>
                          <a:latin typeface="Hiragino Sans"/>
                        </a:rPr>
                        <a:t>Claudeに埋め込む ― Vol.14連携</a:t>
                      </a:r>
                    </a:p>
                  </a:txBody>
                  <a:tcPr marL="91440" marR="91440" marT="45720" marB="45720" anchor="ctr">
                    <a:solidFill>
                      <a:srgbClr val="E8EEF7"/>
                    </a:solidFill>
                  </a:tcPr>
                </a:tc>
                <a:tc>
                  <a:txBody>
                    <a:bodyPr wrap="square"/>
                    <a:lstStyle/>
                    <a:p>
                      <a:pPr algn="ctr"/>
                      <a:r>
                        <a:rPr sz="1400" b="0">
                          <a:solidFill>
                            <a:srgbClr val="333333"/>
                          </a:solidFill>
                          <a:latin typeface="Hiragino Sans"/>
                        </a:rPr>
                        <a:t>20分</a:t>
                      </a:r>
                    </a:p>
                  </a:txBody>
                  <a:tcPr marL="91440" marR="91440" marT="45720" marB="45720" anchor="ctr">
                    <a:solidFill>
                      <a:srgbClr val="E8EEF7"/>
                    </a:solidFill>
                  </a:tcPr>
                </a:tc>
              </a:tr>
            </a:tbl>
          </a:graphicData>
        </a:graphic>
      </p:graphicFrame>
      <p:sp>
        <p:nvSpPr>
          <p:cNvPr id="24" name="Rectangle 23"/>
          <p:cNvSpPr/>
          <p:nvPr/>
        </p:nvSpPr>
        <p:spPr>
          <a:xfrm>
            <a:off x="548640" y="5623560"/>
            <a:ext cx="1097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5623560"/>
            <a:ext cx="10954512" cy="59436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5623560"/>
            <a:ext cx="1060704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 Part 1冒頭の「ギャラリーツアー」で、今日学ぶ操作で何が作れるかを先に体感してから技術解説に入ります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468880"/>
            <a:ext cx="64008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2331720"/>
            <a:ext cx="9144000" cy="457200"/>
          </a:xfrm>
          <a:prstGeom prst="rect">
            <a:avLst/>
          </a:prstGeom>
          <a:noFill/>
        </p:spPr>
        <p:txBody>
          <a:bodyPr wrap="square" lIns="45720" rIns="45720" tIns="18288" bIns="18288" anchor="ctr">
            <a:spAutoFit/>
          </a:bodyPr>
          <a:lstStyle/>
          <a:p>
            <a:pPr algn="l"/>
            <a:r>
              <a:rPr sz="1800" b="1">
                <a:solidFill>
                  <a:srgbClr val="C8A84B"/>
                </a:solidFill>
                <a:latin typeface="Hiragino Sans"/>
              </a:rPr>
              <a:t>PART 0</a:t>
            </a:r>
          </a:p>
        </p:txBody>
      </p:sp>
      <p:sp>
        <p:nvSpPr>
          <p:cNvPr id="5" name="TextBox 4"/>
          <p:cNvSpPr txBox="1"/>
          <p:nvPr/>
        </p:nvSpPr>
        <p:spPr>
          <a:xfrm>
            <a:off x="731520" y="2834640"/>
            <a:ext cx="10698480" cy="1828800"/>
          </a:xfrm>
          <a:prstGeom prst="rect">
            <a:avLst/>
          </a:prstGeom>
          <a:noFill/>
        </p:spPr>
        <p:txBody>
          <a:bodyPr wrap="square" lIns="45720" rIns="45720" tIns="18288" bIns="18288" anchor="t">
            <a:spAutoFit/>
          </a:bodyPr>
          <a:lstStyle/>
          <a:p>
            <a:pPr algn="l"/>
            <a:r>
              <a:rPr sz="5400" b="1">
                <a:solidFill>
                  <a:srgbClr val="FFFFFF"/>
                </a:solidFill>
                <a:latin typeface="Hiragino Sans"/>
              </a:rPr>
              <a:t>GPT Image 2を始める前に</a:t>
            </a:r>
          </a:p>
        </p:txBody>
      </p:sp>
      <p:sp>
        <p:nvSpPr>
          <p:cNvPr id="6" name="TextBox 5"/>
          <p:cNvSpPr txBox="1"/>
          <p:nvPr/>
        </p:nvSpPr>
        <p:spPr>
          <a:xfrm>
            <a:off x="731520" y="6035040"/>
            <a:ext cx="10698480" cy="365760"/>
          </a:xfrm>
          <a:prstGeom prst="rect">
            <a:avLst/>
          </a:prstGeom>
          <a:noFill/>
        </p:spPr>
        <p:txBody>
          <a:bodyPr wrap="square" lIns="45720" rIns="45720" tIns="18288" bIns="18288" anchor="t">
            <a:spAutoFit/>
          </a:bodyPr>
          <a:lstStyle/>
          <a:p>
            <a:pPr algn="l"/>
            <a:r>
              <a:rPr sz="1300" b="0">
                <a:solidFill>
                  <a:srgbClr val="E8EEF7"/>
                </a:solidFill>
                <a:latin typeface="Hiragino Sans"/>
              </a:rPr>
              <a:t>Vol.16 AIデザイン作成</a:t>
            </a:r>
          </a:p>
        </p:txBody>
      </p:sp>
      <p:sp>
        <p:nvSpPr>
          <p:cNvPr id="7" name="TextBox 6"/>
          <p:cNvSpPr txBox="1"/>
          <p:nvPr/>
        </p:nvSpPr>
        <p:spPr>
          <a:xfrm>
            <a:off x="11247120" y="6492240"/>
            <a:ext cx="868680" cy="274320"/>
          </a:xfrm>
          <a:prstGeom prst="rect">
            <a:avLst/>
          </a:prstGeom>
          <a:noFill/>
        </p:spPr>
        <p:txBody>
          <a:bodyPr wrap="square" lIns="45720" rIns="45720" tIns="18288" bIns="18288" anchor="t">
            <a:spAutoFit/>
          </a:bodyPr>
          <a:lstStyle/>
          <a:p>
            <a:pPr algn="r"/>
            <a:r>
              <a:rPr sz="1000" b="0">
                <a:solidFill>
                  <a:srgbClr val="E8EEF7"/>
                </a:solidFill>
                <a:latin typeface="Hiragino Sans"/>
              </a:rPr>
              <a:t>4 /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0｜始める前に</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5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利用できるChatGPTプラン × モード対応表</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どのプランでも画像生成は使える ― モードの違いが少しある</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914400" y="1828800"/>
          <a:ext cx="10332720" cy="2468880"/>
        </p:xfrm>
        <a:graphic>
          <a:graphicData uri="http://schemas.openxmlformats.org/drawingml/2006/table">
            <a:tbl>
              <a:tblPr firstRow="1" bandRow="1">
                <a:tableStyleId>{5C22544A-7EE6-4342-B048-85BDC9FD1C3A}</a:tableStyleId>
              </a:tblPr>
              <a:tblGrid>
                <a:gridCol w="2743200"/>
                <a:gridCol w="2743200"/>
                <a:gridCol w="4846320"/>
              </a:tblGrid>
              <a:tr h="457200">
                <a:tc>
                  <a:txBody>
                    <a:bodyPr/>
                    <a:lstStyle/>
                    <a:p>
                      <a:pPr algn="ctr"/>
                      <a:r>
                        <a:rPr sz="1500" b="1">
                          <a:solidFill>
                            <a:srgbClr val="FFFFFF"/>
                          </a:solidFill>
                          <a:latin typeface="Hiragino Sans"/>
                        </a:rPr>
                        <a:t>プラン</a:t>
                      </a:r>
                    </a:p>
                  </a:txBody>
                  <a:tcPr marL="73152" marR="73152" marT="45720" marB="45720" anchor="ctr">
                    <a:solidFill>
                      <a:srgbClr val="142A5C"/>
                    </a:solidFill>
                  </a:tcPr>
                </a:tc>
                <a:tc>
                  <a:txBody>
                    <a:bodyPr/>
                    <a:lstStyle/>
                    <a:p>
                      <a:pPr algn="ctr"/>
                      <a:r>
                        <a:rPr sz="1500" b="1">
                          <a:solidFill>
                            <a:srgbClr val="FFFFFF"/>
                          </a:solidFill>
                          <a:latin typeface="Hiragino Sans"/>
                        </a:rPr>
                        <a:t>利用可否</a:t>
                      </a:r>
                    </a:p>
                  </a:txBody>
                  <a:tcPr marL="73152" marR="73152" marT="45720" marB="45720" anchor="ctr">
                    <a:solidFill>
                      <a:srgbClr val="142A5C"/>
                    </a:solidFill>
                  </a:tcPr>
                </a:tc>
                <a:tc>
                  <a:txBody>
                    <a:bodyPr/>
                    <a:lstStyle/>
                    <a:p>
                      <a:pPr algn="ctr"/>
                      <a:r>
                        <a:rPr sz="1500" b="1">
                          <a:solidFill>
                            <a:srgbClr val="FFFFFF"/>
                          </a:solidFill>
                          <a:latin typeface="Hiragino Sans"/>
                        </a:rPr>
                        <a:t>利用可能モード</a:t>
                      </a:r>
                    </a:p>
                  </a:txBody>
                  <a:tcPr marL="73152" marR="73152" marT="45720" marB="45720" anchor="ctr">
                    <a:solidFill>
                      <a:srgbClr val="142A5C"/>
                    </a:solidFill>
                  </a:tcPr>
                </a:tc>
              </a:tr>
              <a:tr h="502920">
                <a:tc>
                  <a:txBody>
                    <a:bodyPr wrap="square"/>
                    <a:lstStyle/>
                    <a:p>
                      <a:pPr algn="ctr"/>
                      <a:r>
                        <a:rPr sz="1500" b="1">
                          <a:solidFill>
                            <a:srgbClr val="0B1B3F"/>
                          </a:solidFill>
                          <a:latin typeface="Hiragino Sans"/>
                        </a:rPr>
                        <a:t>Free</a:t>
                      </a:r>
                    </a:p>
                  </a:txBody>
                  <a:tcPr marL="91440" marR="91440" marT="45720" marB="45720" anchor="ctr">
                    <a:solidFill>
                      <a:srgbClr val="E8EEF7"/>
                    </a:solidFill>
                  </a:tcPr>
                </a:tc>
                <a:tc>
                  <a:txBody>
                    <a:bodyPr wrap="square"/>
                    <a:lstStyle/>
                    <a:p>
                      <a:pPr algn="ctr"/>
                      <a:r>
                        <a:rPr sz="1500" b="0">
                          <a:solidFill>
                            <a:srgbClr val="333333"/>
                          </a:solidFill>
                          <a:latin typeface="Hiragino Sans"/>
                        </a:rPr>
                        <a:t>◯</a:t>
                      </a:r>
                    </a:p>
                  </a:txBody>
                  <a:tcPr marL="91440" marR="91440" marT="45720" marB="45720" anchor="ctr">
                    <a:solidFill>
                      <a:srgbClr val="E8EEF7"/>
                    </a:solidFill>
                  </a:tcPr>
                </a:tc>
                <a:tc>
                  <a:txBody>
                    <a:bodyPr wrap="square"/>
                    <a:lstStyle/>
                    <a:p>
                      <a:pPr algn="ctr"/>
                      <a:r>
                        <a:rPr sz="1500" b="0">
                          <a:solidFill>
                            <a:srgbClr val="333333"/>
                          </a:solidFill>
                          <a:latin typeface="Hiragino Sans"/>
                        </a:rPr>
                        <a:t>Instantのみ</a:t>
                      </a:r>
                    </a:p>
                  </a:txBody>
                  <a:tcPr marL="91440" marR="91440" marT="45720" marB="45720" anchor="ctr">
                    <a:solidFill>
                      <a:srgbClr val="E8EEF7"/>
                    </a:solidFill>
                  </a:tcPr>
                </a:tc>
              </a:tr>
              <a:tr h="502920">
                <a:tc>
                  <a:txBody>
                    <a:bodyPr wrap="square"/>
                    <a:lstStyle/>
                    <a:p>
                      <a:pPr algn="ctr"/>
                      <a:r>
                        <a:rPr sz="1500" b="1">
                          <a:solidFill>
                            <a:srgbClr val="0B1B3F"/>
                          </a:solidFill>
                          <a:latin typeface="Hiragino Sans"/>
                        </a:rPr>
                        <a:t>Go</a:t>
                      </a:r>
                    </a:p>
                  </a:txBody>
                  <a:tcPr marL="91440" marR="91440" marT="45720" marB="45720" anchor="ctr">
                    <a:solidFill>
                      <a:srgbClr val="FFFFFF"/>
                    </a:solidFill>
                  </a:tcPr>
                </a:tc>
                <a:tc>
                  <a:txBody>
                    <a:bodyPr wrap="square"/>
                    <a:lstStyle/>
                    <a:p>
                      <a:pPr algn="ctr"/>
                      <a:r>
                        <a:rPr sz="1500" b="0">
                          <a:solidFill>
                            <a:srgbClr val="333333"/>
                          </a:solidFill>
                          <a:latin typeface="Hiragino Sans"/>
                        </a:rPr>
                        <a:t>◯</a:t>
                      </a:r>
                    </a:p>
                  </a:txBody>
                  <a:tcPr marL="91440" marR="91440" marT="45720" marB="45720" anchor="ctr">
                    <a:solidFill>
                      <a:srgbClr val="FFFFFF"/>
                    </a:solidFill>
                  </a:tcPr>
                </a:tc>
                <a:tc>
                  <a:txBody>
                    <a:bodyPr wrap="square"/>
                    <a:lstStyle/>
                    <a:p>
                      <a:pPr algn="ctr"/>
                      <a:r>
                        <a:rPr sz="1500" b="0">
                          <a:solidFill>
                            <a:srgbClr val="333333"/>
                          </a:solidFill>
                          <a:latin typeface="Hiragino Sans"/>
                        </a:rPr>
                        <a:t>Instantのみ</a:t>
                      </a:r>
                    </a:p>
                  </a:txBody>
                  <a:tcPr marL="91440" marR="91440" marT="45720" marB="45720" anchor="ctr">
                    <a:solidFill>
                      <a:srgbClr val="FFFFFF"/>
                    </a:solidFill>
                  </a:tcPr>
                </a:tc>
              </a:tr>
              <a:tr h="502920">
                <a:tc>
                  <a:txBody>
                    <a:bodyPr wrap="square"/>
                    <a:lstStyle/>
                    <a:p>
                      <a:pPr algn="ctr"/>
                      <a:r>
                        <a:rPr sz="1500" b="1">
                          <a:solidFill>
                            <a:srgbClr val="0B1B3F"/>
                          </a:solidFill>
                          <a:latin typeface="Hiragino Sans"/>
                        </a:rPr>
                        <a:t>Plus</a:t>
                      </a:r>
                    </a:p>
                  </a:txBody>
                  <a:tcPr marL="91440" marR="91440" marT="45720" marB="45720" anchor="ctr">
                    <a:solidFill>
                      <a:srgbClr val="E8EEF7"/>
                    </a:solidFill>
                  </a:tcPr>
                </a:tc>
                <a:tc>
                  <a:txBody>
                    <a:bodyPr wrap="square"/>
                    <a:lstStyle/>
                    <a:p>
                      <a:pPr algn="ctr"/>
                      <a:r>
                        <a:rPr sz="1500" b="0">
                          <a:solidFill>
                            <a:srgbClr val="333333"/>
                          </a:solidFill>
                          <a:latin typeface="Hiragino Sans"/>
                        </a:rPr>
                        <a:t>◯</a:t>
                      </a:r>
                    </a:p>
                  </a:txBody>
                  <a:tcPr marL="91440" marR="91440" marT="45720" marB="45720" anchor="ctr">
                    <a:solidFill>
                      <a:srgbClr val="E8EEF7"/>
                    </a:solidFill>
                  </a:tcPr>
                </a:tc>
                <a:tc>
                  <a:txBody>
                    <a:bodyPr wrap="square"/>
                    <a:lstStyle/>
                    <a:p>
                      <a:pPr algn="ctr"/>
                      <a:r>
                        <a:rPr sz="1500" b="0">
                          <a:solidFill>
                            <a:srgbClr val="333333"/>
                          </a:solidFill>
                          <a:latin typeface="Hiragino Sans"/>
                        </a:rPr>
                        <a:t>Instant ＋ Thinking</a:t>
                      </a:r>
                    </a:p>
                  </a:txBody>
                  <a:tcPr marL="91440" marR="91440" marT="45720" marB="45720" anchor="ctr">
                    <a:solidFill>
                      <a:srgbClr val="E8EEF7"/>
                    </a:solidFill>
                  </a:tcPr>
                </a:tc>
              </a:tr>
              <a:tr h="502920">
                <a:tc>
                  <a:txBody>
                    <a:bodyPr wrap="square"/>
                    <a:lstStyle/>
                    <a:p>
                      <a:pPr algn="ctr"/>
                      <a:r>
                        <a:rPr sz="1500" b="1">
                          <a:solidFill>
                            <a:srgbClr val="0B1B3F"/>
                          </a:solidFill>
                          <a:latin typeface="Hiragino Sans"/>
                        </a:rPr>
                        <a:t>Pro</a:t>
                      </a:r>
                    </a:p>
                  </a:txBody>
                  <a:tcPr marL="91440" marR="91440" marT="45720" marB="45720" anchor="ctr">
                    <a:solidFill>
                      <a:srgbClr val="FFFFFF"/>
                    </a:solidFill>
                  </a:tcPr>
                </a:tc>
                <a:tc>
                  <a:txBody>
                    <a:bodyPr wrap="square"/>
                    <a:lstStyle/>
                    <a:p>
                      <a:pPr algn="ctr"/>
                      <a:r>
                        <a:rPr sz="1500" b="0">
                          <a:solidFill>
                            <a:srgbClr val="333333"/>
                          </a:solidFill>
                          <a:latin typeface="Hiragino Sans"/>
                        </a:rPr>
                        <a:t>◯</a:t>
                      </a:r>
                    </a:p>
                  </a:txBody>
                  <a:tcPr marL="91440" marR="91440" marT="45720" marB="45720" anchor="ctr">
                    <a:solidFill>
                      <a:srgbClr val="FFFFFF"/>
                    </a:solidFill>
                  </a:tcPr>
                </a:tc>
                <a:tc>
                  <a:txBody>
                    <a:bodyPr wrap="square"/>
                    <a:lstStyle/>
                    <a:p>
                      <a:pPr algn="ctr"/>
                      <a:r>
                        <a:rPr sz="1500" b="0">
                          <a:solidFill>
                            <a:srgbClr val="333333"/>
                          </a:solidFill>
                          <a:latin typeface="Hiragino Sans"/>
                        </a:rPr>
                        <a:t>Instant ＋ Thinking</a:t>
                      </a:r>
                    </a:p>
                  </a:txBody>
                  <a:tcPr marL="91440" marR="91440" marT="45720" marB="45720" anchor="ctr">
                    <a:solidFill>
                      <a:srgbClr val="FFFFFF"/>
                    </a:solidFill>
                  </a:tcPr>
                </a:tc>
              </a:tr>
            </a:tbl>
          </a:graphicData>
        </a:graphic>
      </p:graphicFrame>
      <p:sp>
        <p:nvSpPr>
          <p:cNvPr id="11" name="Rounded Rectangle 10"/>
          <p:cNvSpPr/>
          <p:nvPr/>
        </p:nvSpPr>
        <p:spPr>
          <a:xfrm>
            <a:off x="914400" y="4572000"/>
            <a:ext cx="10332720" cy="1097280"/>
          </a:xfrm>
          <a:prstGeom prst="roundRect">
            <a:avLst>
              <a:gd name="adj" fmla="val 15000"/>
            </a:avLst>
          </a:prstGeom>
          <a:solidFill>
            <a:srgbClr val="E8EEF7"/>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617720"/>
            <a:ext cx="10058400" cy="1005840"/>
          </a:xfrm>
          <a:prstGeom prst="rect">
            <a:avLst/>
          </a:prstGeom>
          <a:noFill/>
        </p:spPr>
        <p:txBody>
          <a:bodyPr wrap="square" lIns="45720" rIns="45720" anchor="ctr">
            <a:spAutoFit/>
          </a:bodyPr>
          <a:lstStyle/>
          <a:p>
            <a:pPr algn="l"/>
            <a:r>
              <a:rPr sz="1600" b="1">
                <a:solidFill>
                  <a:srgbClr val="0B1B3F"/>
                </a:solidFill>
                <a:latin typeface="Hiragino Sans"/>
              </a:rPr>
              <a:t>メッセージ：</a:t>
            </a:r>
            <a:r>
              <a:rPr sz="1600" b="0">
                <a:solidFill>
                  <a:srgbClr val="333333"/>
                </a:solidFill>
                <a:latin typeface="Hiragino Sans"/>
              </a:rPr>
              <a:t>スライド表紙・挿絵レベルなら </a:t>
            </a:r>
            <a:r>
              <a:rPr sz="1600" b="1">
                <a:solidFill>
                  <a:srgbClr val="0B1B3F"/>
                </a:solidFill>
                <a:latin typeface="Hiragino Sans"/>
              </a:rPr>
              <a:t>無料プランのInstantモードで十分</a:t>
            </a:r>
            <a:r>
              <a:rPr sz="1600" b="0">
                <a:solidFill>
                  <a:srgbClr val="333333"/>
                </a:solidFill>
                <a:latin typeface="Hiragino Sans"/>
              </a:rPr>
              <a:t>。</a:t>
            </a:r>
          </a:p>
          <a:p>
            <a:pPr algn="l"/>
            <a:r>
              <a:rPr sz="1500" b="0">
                <a:solidFill>
                  <a:srgbClr val="333333"/>
                </a:solidFill>
                <a:latin typeface="Hiragino Sans"/>
              </a:rPr>
              <a:t>Thinkingは「文字が多い・複雑なレイアウト」のときに差が出る。</a:t>
            </a:r>
          </a:p>
        </p:txBody>
      </p:sp>
      <p:sp>
        <p:nvSpPr>
          <p:cNvPr id="13" name="TextBox 12"/>
          <p:cNvSpPr txBox="1"/>
          <p:nvPr/>
        </p:nvSpPr>
        <p:spPr>
          <a:xfrm>
            <a:off x="914400" y="5852160"/>
            <a:ext cx="10332720" cy="365760"/>
          </a:xfrm>
          <a:prstGeom prst="rect">
            <a:avLst/>
          </a:prstGeom>
          <a:noFill/>
        </p:spPr>
        <p:txBody>
          <a:bodyPr wrap="square" lIns="45720" rIns="45720" tIns="18288" bIns="18288" anchor="t">
            <a:spAutoFit/>
          </a:bodyPr>
          <a:lstStyle/>
          <a:p>
            <a:pPr algn="l"/>
            <a:r>
              <a:rPr sz="1200" b="1">
                <a:solidFill>
                  <a:srgbClr val="142A5C"/>
                </a:solidFill>
                <a:latin typeface="Hiragino Sans"/>
              </a:rPr>
              <a:t>▼ モードの使い分け</a:t>
            </a:r>
          </a:p>
        </p:txBody>
      </p:sp>
      <p:sp>
        <p:nvSpPr>
          <p:cNvPr id="14" name="Rectangle 13"/>
          <p:cNvSpPr/>
          <p:nvPr/>
        </p:nvSpPr>
        <p:spPr>
          <a:xfrm>
            <a:off x="914400" y="6172200"/>
            <a:ext cx="274320" cy="45720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0160" y="6172200"/>
            <a:ext cx="5029200" cy="457200"/>
          </a:xfrm>
          <a:prstGeom prst="rect">
            <a:avLst/>
          </a:prstGeom>
          <a:noFill/>
        </p:spPr>
        <p:txBody>
          <a:bodyPr wrap="square" lIns="45720" rIns="45720" tIns="18288" bIns="18288" anchor="ctr">
            <a:spAutoFit/>
          </a:bodyPr>
          <a:lstStyle/>
          <a:p>
            <a:pPr algn="l"/>
            <a:r>
              <a:rPr sz="1300" b="0">
                <a:solidFill>
                  <a:srgbClr val="333333"/>
                </a:solidFill>
                <a:latin typeface="Hiragino Sans"/>
              </a:rPr>
              <a:t>Instant：軽快・速い・多くの用途で十分</a:t>
            </a:r>
          </a:p>
        </p:txBody>
      </p:sp>
      <p:sp>
        <p:nvSpPr>
          <p:cNvPr id="16" name="Rectangle 15"/>
          <p:cNvSpPr/>
          <p:nvPr/>
        </p:nvSpPr>
        <p:spPr>
          <a:xfrm>
            <a:off x="6400800" y="6172200"/>
            <a:ext cx="274320" cy="4572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6172200"/>
            <a:ext cx="5029200" cy="457200"/>
          </a:xfrm>
          <a:prstGeom prst="rect">
            <a:avLst/>
          </a:prstGeom>
          <a:noFill/>
        </p:spPr>
        <p:txBody>
          <a:bodyPr wrap="square" lIns="45720" rIns="45720" tIns="18288" bIns="18288" anchor="ctr">
            <a:spAutoFit/>
          </a:bodyPr>
          <a:lstStyle/>
          <a:p>
            <a:pPr algn="l"/>
            <a:r>
              <a:rPr sz="1300" b="0">
                <a:solidFill>
                  <a:srgbClr val="333333"/>
                </a:solidFill>
                <a:latin typeface="Hiragino Sans"/>
              </a:rPr>
              <a:t>Thinking：文字多め・複雑レイアウト時に有利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0｜始める前に</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6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GPT Image 2でできること</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大きく分けて「作る」「直す」の2方向</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828800"/>
            <a:ext cx="5394960" cy="4206240"/>
          </a:xfrm>
          <a:prstGeom prst="roundRect">
            <a:avLst>
              <a:gd name="adj" fmla="val 5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28800"/>
            <a:ext cx="5394960" cy="6400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28800"/>
            <a:ext cx="5394960" cy="640080"/>
          </a:xfrm>
          <a:prstGeom prst="rect">
            <a:avLst/>
          </a:prstGeom>
          <a:noFill/>
        </p:spPr>
        <p:txBody>
          <a:bodyPr wrap="square" lIns="45720" rIns="45720" tIns="18288" bIns="18288" anchor="ctr">
            <a:spAutoFit/>
          </a:bodyPr>
          <a:lstStyle/>
          <a:p>
            <a:pPr algn="ctr"/>
            <a:r>
              <a:rPr sz="2000" b="1">
                <a:solidFill>
                  <a:srgbClr val="FFFFFF"/>
                </a:solidFill>
                <a:latin typeface="Hiragino Sans"/>
              </a:rPr>
              <a:t>A. 画像を作成する</a:t>
            </a:r>
          </a:p>
        </p:txBody>
      </p:sp>
      <p:sp>
        <p:nvSpPr>
          <p:cNvPr id="13" name="Rounded Rectangle 12"/>
          <p:cNvSpPr/>
          <p:nvPr/>
        </p:nvSpPr>
        <p:spPr>
          <a:xfrm>
            <a:off x="822960" y="2743200"/>
            <a:ext cx="4846320" cy="1188720"/>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834640"/>
            <a:ext cx="4572000" cy="457200"/>
          </a:xfrm>
          <a:prstGeom prst="rect">
            <a:avLst/>
          </a:prstGeom>
          <a:noFill/>
        </p:spPr>
        <p:txBody>
          <a:bodyPr wrap="square" lIns="45720" rIns="45720" tIns="18288" bIns="18288" anchor="t">
            <a:spAutoFit/>
          </a:bodyPr>
          <a:lstStyle/>
          <a:p>
            <a:pPr algn="l"/>
            <a:r>
              <a:rPr sz="2400" b="1">
                <a:solidFill>
                  <a:srgbClr val="0B1B3F"/>
                </a:solidFill>
                <a:latin typeface="Hiragino Sans"/>
              </a:rPr>
              <a:t>📝 → 🖼️</a:t>
            </a:r>
          </a:p>
        </p:txBody>
      </p:sp>
      <p:sp>
        <p:nvSpPr>
          <p:cNvPr id="15" name="TextBox 14"/>
          <p:cNvSpPr txBox="1"/>
          <p:nvPr/>
        </p:nvSpPr>
        <p:spPr>
          <a:xfrm>
            <a:off x="960120" y="3337560"/>
            <a:ext cx="4572000" cy="502920"/>
          </a:xfrm>
          <a:prstGeom prst="rect">
            <a:avLst/>
          </a:prstGeom>
          <a:noFill/>
        </p:spPr>
        <p:txBody>
          <a:bodyPr wrap="square" lIns="45720" rIns="45720" tIns="18288" bIns="18288" anchor="t">
            <a:spAutoFit/>
          </a:bodyPr>
          <a:lstStyle/>
          <a:p>
            <a:pPr algn="l"/>
            <a:r>
              <a:rPr sz="1400" b="0">
                <a:solidFill>
                  <a:srgbClr val="333333"/>
                </a:solidFill>
                <a:latin typeface="Hiragino Sans"/>
              </a:rPr>
              <a:t>テキスト（プロンプト）から画像を生成</a:t>
            </a:r>
          </a:p>
        </p:txBody>
      </p:sp>
      <p:sp>
        <p:nvSpPr>
          <p:cNvPr id="16" name="Rounded Rectangle 15"/>
          <p:cNvSpPr/>
          <p:nvPr/>
        </p:nvSpPr>
        <p:spPr>
          <a:xfrm>
            <a:off x="822960" y="4206240"/>
            <a:ext cx="4846320" cy="1188720"/>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297680"/>
            <a:ext cx="4572000" cy="457200"/>
          </a:xfrm>
          <a:prstGeom prst="rect">
            <a:avLst/>
          </a:prstGeom>
          <a:noFill/>
        </p:spPr>
        <p:txBody>
          <a:bodyPr wrap="square" lIns="45720" rIns="45720" tIns="18288" bIns="18288" anchor="t">
            <a:spAutoFit/>
          </a:bodyPr>
          <a:lstStyle/>
          <a:p>
            <a:pPr algn="l"/>
            <a:r>
              <a:rPr sz="2400" b="1">
                <a:solidFill>
                  <a:srgbClr val="0B1B3F"/>
                </a:solidFill>
                <a:latin typeface="Hiragino Sans"/>
              </a:rPr>
              <a:t>🖼️ → 🖼️</a:t>
            </a:r>
          </a:p>
        </p:txBody>
      </p:sp>
      <p:sp>
        <p:nvSpPr>
          <p:cNvPr id="18" name="TextBox 17"/>
          <p:cNvSpPr txBox="1"/>
          <p:nvPr/>
        </p:nvSpPr>
        <p:spPr>
          <a:xfrm>
            <a:off x="960120" y="4800600"/>
            <a:ext cx="4572000" cy="502920"/>
          </a:xfrm>
          <a:prstGeom prst="rect">
            <a:avLst/>
          </a:prstGeom>
          <a:noFill/>
        </p:spPr>
        <p:txBody>
          <a:bodyPr wrap="square" lIns="45720" rIns="45720" tIns="18288" bIns="18288" anchor="t">
            <a:spAutoFit/>
          </a:bodyPr>
          <a:lstStyle/>
          <a:p>
            <a:pPr algn="l"/>
            <a:r>
              <a:rPr sz="1400" b="0">
                <a:solidFill>
                  <a:srgbClr val="333333"/>
                </a:solidFill>
                <a:latin typeface="Hiragino Sans"/>
              </a:rPr>
              <a:t>参考画像を渡してスタイルを真似た画像を生成</a:t>
            </a:r>
          </a:p>
        </p:txBody>
      </p:sp>
      <p:sp>
        <p:nvSpPr>
          <p:cNvPr id="19" name="Rounded Rectangle 18"/>
          <p:cNvSpPr/>
          <p:nvPr/>
        </p:nvSpPr>
        <p:spPr>
          <a:xfrm>
            <a:off x="6263640" y="1828800"/>
            <a:ext cx="5394960" cy="4206240"/>
          </a:xfrm>
          <a:prstGeom prst="roundRect">
            <a:avLst>
              <a:gd name="adj" fmla="val 5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828800"/>
            <a:ext cx="5394960" cy="6400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1828800"/>
            <a:ext cx="5394960" cy="640080"/>
          </a:xfrm>
          <a:prstGeom prst="rect">
            <a:avLst/>
          </a:prstGeom>
          <a:noFill/>
        </p:spPr>
        <p:txBody>
          <a:bodyPr wrap="square" lIns="45720" rIns="45720" tIns="18288" bIns="18288" anchor="ctr">
            <a:spAutoFit/>
          </a:bodyPr>
          <a:lstStyle/>
          <a:p>
            <a:pPr algn="ctr"/>
            <a:r>
              <a:rPr sz="2000" b="1">
                <a:solidFill>
                  <a:srgbClr val="FFFFFF"/>
                </a:solidFill>
                <a:latin typeface="Hiragino Sans"/>
              </a:rPr>
              <a:t>B. 画像を編集する</a:t>
            </a:r>
          </a:p>
        </p:txBody>
      </p:sp>
      <p:sp>
        <p:nvSpPr>
          <p:cNvPr id="22" name="Rounded Rectangle 21"/>
          <p:cNvSpPr/>
          <p:nvPr/>
        </p:nvSpPr>
        <p:spPr>
          <a:xfrm>
            <a:off x="6537960" y="2651760"/>
            <a:ext cx="4846320" cy="868680"/>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2743200"/>
            <a:ext cx="4572000" cy="365760"/>
          </a:xfrm>
          <a:prstGeom prst="rect">
            <a:avLst/>
          </a:prstGeom>
          <a:noFill/>
        </p:spPr>
        <p:txBody>
          <a:bodyPr wrap="square" lIns="45720" rIns="45720" tIns="18288" bIns="18288" anchor="ctr">
            <a:spAutoFit/>
          </a:bodyPr>
          <a:lstStyle/>
          <a:p>
            <a:pPr algn="l"/>
            <a:r>
              <a:rPr sz="1400" b="1">
                <a:solidFill>
                  <a:srgbClr val="0B1B3F"/>
                </a:solidFill>
                <a:latin typeface="Hiragino Sans"/>
              </a:rPr>
              <a:t>生成済みの画像にチャットで追加指示</a:t>
            </a:r>
          </a:p>
        </p:txBody>
      </p:sp>
      <p:sp>
        <p:nvSpPr>
          <p:cNvPr id="24" name="TextBox 23"/>
          <p:cNvSpPr txBox="1"/>
          <p:nvPr/>
        </p:nvSpPr>
        <p:spPr>
          <a:xfrm>
            <a:off x="6675120" y="3108960"/>
            <a:ext cx="4572000" cy="365760"/>
          </a:xfrm>
          <a:prstGeom prst="rect">
            <a:avLst/>
          </a:prstGeom>
          <a:noFill/>
        </p:spPr>
        <p:txBody>
          <a:bodyPr wrap="square" lIns="45720" rIns="45720" tIns="18288" bIns="18288" anchor="ctr">
            <a:spAutoFit/>
          </a:bodyPr>
          <a:lstStyle/>
          <a:p>
            <a:pPr algn="l"/>
            <a:r>
              <a:rPr sz="1200" b="0">
                <a:solidFill>
                  <a:srgbClr val="333333"/>
                </a:solidFill>
                <a:latin typeface="Hiragino Sans"/>
              </a:rPr>
              <a:t>「色を青に変えて」など</a:t>
            </a:r>
          </a:p>
        </p:txBody>
      </p:sp>
      <p:sp>
        <p:nvSpPr>
          <p:cNvPr id="25" name="Rounded Rectangle 24"/>
          <p:cNvSpPr/>
          <p:nvPr/>
        </p:nvSpPr>
        <p:spPr>
          <a:xfrm>
            <a:off x="6537960" y="3703320"/>
            <a:ext cx="4846320" cy="868680"/>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3794760"/>
            <a:ext cx="4572000" cy="365760"/>
          </a:xfrm>
          <a:prstGeom prst="rect">
            <a:avLst/>
          </a:prstGeom>
          <a:noFill/>
        </p:spPr>
        <p:txBody>
          <a:bodyPr wrap="square" lIns="45720" rIns="45720" tIns="18288" bIns="18288" anchor="ctr">
            <a:spAutoFit/>
          </a:bodyPr>
          <a:lstStyle/>
          <a:p>
            <a:pPr algn="l"/>
            <a:r>
              <a:rPr sz="1400" b="1">
                <a:solidFill>
                  <a:srgbClr val="0B1B3F"/>
                </a:solidFill>
                <a:latin typeface="Hiragino Sans"/>
              </a:rPr>
              <a:t>一部だけ選択して修正</a:t>
            </a:r>
          </a:p>
        </p:txBody>
      </p:sp>
      <p:sp>
        <p:nvSpPr>
          <p:cNvPr id="27" name="TextBox 26"/>
          <p:cNvSpPr txBox="1"/>
          <p:nvPr/>
        </p:nvSpPr>
        <p:spPr>
          <a:xfrm>
            <a:off x="6675120" y="4160520"/>
            <a:ext cx="4572000" cy="365760"/>
          </a:xfrm>
          <a:prstGeom prst="rect">
            <a:avLst/>
          </a:prstGeom>
          <a:noFill/>
        </p:spPr>
        <p:txBody>
          <a:bodyPr wrap="square" lIns="45720" rIns="45720" tIns="18288" bIns="18288" anchor="ctr">
            <a:spAutoFit/>
          </a:bodyPr>
          <a:lstStyle/>
          <a:p>
            <a:pPr algn="l"/>
            <a:r>
              <a:rPr sz="1200" b="0">
                <a:solidFill>
                  <a:srgbClr val="333333"/>
                </a:solidFill>
                <a:latin typeface="Hiragino Sans"/>
              </a:rPr>
              <a:t>ピンポイント編集</a:t>
            </a:r>
          </a:p>
        </p:txBody>
      </p:sp>
      <p:sp>
        <p:nvSpPr>
          <p:cNvPr id="28" name="Rounded Rectangle 27"/>
          <p:cNvSpPr/>
          <p:nvPr/>
        </p:nvSpPr>
        <p:spPr>
          <a:xfrm>
            <a:off x="6537960" y="4754880"/>
            <a:ext cx="4846320" cy="868680"/>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4846320"/>
            <a:ext cx="4572000" cy="365760"/>
          </a:xfrm>
          <a:prstGeom prst="rect">
            <a:avLst/>
          </a:prstGeom>
          <a:noFill/>
        </p:spPr>
        <p:txBody>
          <a:bodyPr wrap="square" lIns="45720" rIns="45720" tIns="18288" bIns="18288" anchor="ctr">
            <a:spAutoFit/>
          </a:bodyPr>
          <a:lstStyle/>
          <a:p>
            <a:pPr algn="l"/>
            <a:r>
              <a:rPr sz="1400" b="1">
                <a:solidFill>
                  <a:srgbClr val="0B1B3F"/>
                </a:solidFill>
                <a:latin typeface="Hiragino Sans"/>
              </a:rPr>
              <a:t>既存の画像をアップロードして編集</a:t>
            </a:r>
          </a:p>
        </p:txBody>
      </p:sp>
      <p:sp>
        <p:nvSpPr>
          <p:cNvPr id="30" name="TextBox 29"/>
          <p:cNvSpPr txBox="1"/>
          <p:nvPr/>
        </p:nvSpPr>
        <p:spPr>
          <a:xfrm>
            <a:off x="6675120" y="5212080"/>
            <a:ext cx="4572000" cy="365760"/>
          </a:xfrm>
          <a:prstGeom prst="rect">
            <a:avLst/>
          </a:prstGeom>
          <a:noFill/>
        </p:spPr>
        <p:txBody>
          <a:bodyPr wrap="square" lIns="45720" rIns="45720" tIns="18288" bIns="18288" anchor="ctr">
            <a:spAutoFit/>
          </a:bodyPr>
          <a:lstStyle/>
          <a:p>
            <a:pPr algn="l"/>
            <a:r>
              <a:rPr sz="1200" b="0">
                <a:solidFill>
                  <a:srgbClr val="333333"/>
                </a:solidFill>
                <a:latin typeface="Hiragino Sans"/>
              </a:rPr>
              <a:t>手元の画像も対象に</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0｜始める前に</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7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進化点 ― 従来モデルとの違い</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「画像にロゴ・タイトルを入れたい」が現実的になった</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83080"/>
            <a:ext cx="11064240" cy="2103120"/>
          </a:xfrm>
          <a:prstGeom prst="roundRect">
            <a:avLst>
              <a:gd name="adj" fmla="val 5000"/>
            </a:avLst>
          </a:prstGeom>
          <a:solidFill>
            <a:srgbClr val="FFFFFF"/>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83080"/>
            <a:ext cx="164592" cy="21031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28800"/>
            <a:ext cx="10515600" cy="457200"/>
          </a:xfrm>
          <a:prstGeom prst="rect">
            <a:avLst/>
          </a:prstGeom>
          <a:noFill/>
        </p:spPr>
        <p:txBody>
          <a:bodyPr wrap="square" lIns="45720" rIns="45720" tIns="18288" bIns="18288" anchor="ctr">
            <a:spAutoFit/>
          </a:bodyPr>
          <a:lstStyle/>
          <a:p>
            <a:pPr algn="l"/>
            <a:r>
              <a:rPr sz="2000" b="1">
                <a:solidFill>
                  <a:srgbClr val="0B1B3F"/>
                </a:solidFill>
                <a:latin typeface="Hiragino Sans"/>
              </a:rPr>
              <a:t>①  文字の描写精度が大幅向上</a:t>
            </a:r>
          </a:p>
        </p:txBody>
      </p:sp>
      <p:sp>
        <p:nvSpPr>
          <p:cNvPr id="13" name="Rounded Rectangle 12"/>
          <p:cNvSpPr/>
          <p:nvPr/>
        </p:nvSpPr>
        <p:spPr>
          <a:xfrm>
            <a:off x="868680" y="2423160"/>
            <a:ext cx="5120640" cy="1280160"/>
          </a:xfrm>
          <a:prstGeom prst="roundRect">
            <a:avLst>
              <a:gd name="adj" fmla="val 6000"/>
            </a:avLst>
          </a:prstGeom>
          <a:solidFill>
            <a:srgbClr val="E8EEF7"/>
          </a:solidFill>
          <a:ln w="12700">
            <a:solidFill>
              <a:srgbClr val="C8C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468880"/>
            <a:ext cx="4937760" cy="365760"/>
          </a:xfrm>
          <a:prstGeom prst="rect">
            <a:avLst/>
          </a:prstGeom>
          <a:noFill/>
        </p:spPr>
        <p:txBody>
          <a:bodyPr wrap="square" lIns="45720" rIns="45720" tIns="18288" bIns="18288" anchor="t">
            <a:spAutoFit/>
          </a:bodyPr>
          <a:lstStyle/>
          <a:p>
            <a:pPr algn="l"/>
            <a:r>
              <a:rPr sz="1100" b="1">
                <a:solidFill>
                  <a:srgbClr val="3D5A80"/>
                </a:solidFill>
                <a:latin typeface="Hiragino Sans"/>
              </a:rPr>
              <a:t>BEFORE（以前）</a:t>
            </a:r>
          </a:p>
        </p:txBody>
      </p:sp>
      <p:sp>
        <p:nvSpPr>
          <p:cNvPr id="15" name="TextBox 14"/>
          <p:cNvSpPr txBox="1"/>
          <p:nvPr/>
        </p:nvSpPr>
        <p:spPr>
          <a:xfrm>
            <a:off x="960120" y="2788920"/>
            <a:ext cx="4937760" cy="914400"/>
          </a:xfrm>
          <a:prstGeom prst="rect">
            <a:avLst/>
          </a:prstGeom>
          <a:noFill/>
        </p:spPr>
        <p:txBody>
          <a:bodyPr wrap="square" lIns="45720" rIns="45720" tIns="18288" bIns="18288" anchor="t">
            <a:spAutoFit/>
          </a:bodyPr>
          <a:lstStyle/>
          <a:p>
            <a:pPr algn="l"/>
            <a:r>
              <a:rPr sz="1400" b="0">
                <a:solidFill>
                  <a:srgbClr val="333333"/>
                </a:solidFill>
                <a:latin typeface="Hiragino Sans"/>
              </a:rPr>
              <a:t>「Confrence 2026」のように</a:t>
            </a:r>
          </a:p>
          <a:p>
            <a:pPr algn="l"/>
            <a:r>
              <a:rPr sz="1400" b="0">
                <a:solidFill>
                  <a:srgbClr val="333333"/>
                </a:solidFill>
                <a:latin typeface="Hiragino Sans"/>
              </a:rPr>
              <a:t>誤字・崩れだらけで使い物にならない</a:t>
            </a:r>
          </a:p>
        </p:txBody>
      </p:sp>
      <p:sp>
        <p:nvSpPr>
          <p:cNvPr id="16" name="Rounded Rectangle 15"/>
          <p:cNvSpPr/>
          <p:nvPr/>
        </p:nvSpPr>
        <p:spPr>
          <a:xfrm>
            <a:off x="6263640" y="2423160"/>
            <a:ext cx="5120640" cy="1280160"/>
          </a:xfrm>
          <a:prstGeom prst="roundRect">
            <a:avLst>
              <a:gd name="adj" fmla="val 6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68880"/>
            <a:ext cx="4937760" cy="365760"/>
          </a:xfrm>
          <a:prstGeom prst="rect">
            <a:avLst/>
          </a:prstGeom>
          <a:noFill/>
        </p:spPr>
        <p:txBody>
          <a:bodyPr wrap="square" lIns="45720" rIns="45720" tIns="18288" bIns="18288" anchor="t">
            <a:spAutoFit/>
          </a:bodyPr>
          <a:lstStyle/>
          <a:p>
            <a:pPr algn="l"/>
            <a:r>
              <a:rPr sz="1100" b="1">
                <a:solidFill>
                  <a:srgbClr val="E8EEF7"/>
                </a:solidFill>
                <a:latin typeface="Hiragino Sans"/>
              </a:rPr>
              <a:t>AFTER（今）</a:t>
            </a:r>
          </a:p>
        </p:txBody>
      </p:sp>
      <p:sp>
        <p:nvSpPr>
          <p:cNvPr id="18" name="TextBox 17"/>
          <p:cNvSpPr txBox="1"/>
          <p:nvPr/>
        </p:nvSpPr>
        <p:spPr>
          <a:xfrm>
            <a:off x="6355080" y="2788920"/>
            <a:ext cx="4937760" cy="914400"/>
          </a:xfrm>
          <a:prstGeom prst="rect">
            <a:avLst/>
          </a:prstGeom>
          <a:noFill/>
        </p:spPr>
        <p:txBody>
          <a:bodyPr wrap="square" lIns="45720" rIns="45720" tIns="18288" bIns="18288" anchor="t">
            <a:spAutoFit/>
          </a:bodyPr>
          <a:lstStyle/>
          <a:p>
            <a:pPr algn="l"/>
            <a:r>
              <a:rPr sz="1400" b="0">
                <a:solidFill>
                  <a:srgbClr val="FFFFFF"/>
                </a:solidFill>
                <a:latin typeface="Hiragino Sans"/>
              </a:rPr>
              <a:t>バナー・ポスターで読める文字が出せる</a:t>
            </a:r>
          </a:p>
          <a:p>
            <a:pPr algn="l"/>
            <a:r>
              <a:rPr sz="1400" b="0">
                <a:solidFill>
                  <a:srgbClr val="FFFFFF"/>
                </a:solidFill>
                <a:latin typeface="Hiragino Sans"/>
              </a:rPr>
              <a:t>（日本語はまだ崩れあり）</a:t>
            </a:r>
          </a:p>
        </p:txBody>
      </p:sp>
      <p:sp>
        <p:nvSpPr>
          <p:cNvPr id="19" name="Rounded Rectangle 18"/>
          <p:cNvSpPr/>
          <p:nvPr/>
        </p:nvSpPr>
        <p:spPr>
          <a:xfrm>
            <a:off x="548640" y="4069080"/>
            <a:ext cx="11064240" cy="1417320"/>
          </a:xfrm>
          <a:prstGeom prst="roundRect">
            <a:avLst>
              <a:gd name="adj" fmla="val 5000"/>
            </a:avLst>
          </a:prstGeom>
          <a:solidFill>
            <a:srgbClr val="FFFFFF"/>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069080"/>
            <a:ext cx="164592" cy="14173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114800"/>
            <a:ext cx="10515600" cy="457200"/>
          </a:xfrm>
          <a:prstGeom prst="rect">
            <a:avLst/>
          </a:prstGeom>
          <a:noFill/>
        </p:spPr>
        <p:txBody>
          <a:bodyPr wrap="square" lIns="45720" rIns="45720" tIns="18288" bIns="18288" anchor="ctr">
            <a:spAutoFit/>
          </a:bodyPr>
          <a:lstStyle/>
          <a:p>
            <a:pPr algn="l"/>
            <a:r>
              <a:rPr sz="2000" b="1">
                <a:solidFill>
                  <a:srgbClr val="0B1B3F"/>
                </a:solidFill>
                <a:latin typeface="Hiragino Sans"/>
              </a:rPr>
              <a:t>②  多言語対応の改善</a:t>
            </a:r>
          </a:p>
        </p:txBody>
      </p:sp>
      <p:sp>
        <p:nvSpPr>
          <p:cNvPr id="22" name="TextBox 21"/>
          <p:cNvSpPr txBox="1"/>
          <p:nvPr/>
        </p:nvSpPr>
        <p:spPr>
          <a:xfrm>
            <a:off x="868680" y="4617720"/>
            <a:ext cx="10515600" cy="822960"/>
          </a:xfrm>
          <a:prstGeom prst="rect">
            <a:avLst/>
          </a:prstGeom>
          <a:noFill/>
        </p:spPr>
        <p:txBody>
          <a:bodyPr wrap="square" lIns="45720" rIns="45720" tIns="18288" bIns="18288" anchor="t">
            <a:spAutoFit/>
          </a:bodyPr>
          <a:lstStyle/>
          <a:p>
            <a:pPr algn="l"/>
            <a:r>
              <a:rPr sz="1400" b="0">
                <a:solidFill>
                  <a:srgbClr val="333333"/>
                </a:solidFill>
                <a:latin typeface="Hiragino Sans"/>
              </a:rPr>
              <a:t>日本語・韓国語・中国語などの文字も以前より精度高く出せる（特に短いキャッチコピーで効果大）</a:t>
            </a:r>
          </a:p>
        </p:txBody>
      </p:sp>
      <p:sp>
        <p:nvSpPr>
          <p:cNvPr id="23" name="Rectangle 22"/>
          <p:cNvSpPr/>
          <p:nvPr/>
        </p:nvSpPr>
        <p:spPr>
          <a:xfrm>
            <a:off x="548640" y="5715000"/>
            <a:ext cx="1097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5715000"/>
            <a:ext cx="10954512" cy="59436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5715000"/>
            <a:ext cx="1060704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メッセージ：「画像にロゴ・タイトルを入れたい」が現実的になった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468880"/>
            <a:ext cx="64008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2331720"/>
            <a:ext cx="9144000" cy="457200"/>
          </a:xfrm>
          <a:prstGeom prst="rect">
            <a:avLst/>
          </a:prstGeom>
          <a:noFill/>
        </p:spPr>
        <p:txBody>
          <a:bodyPr wrap="square" lIns="45720" rIns="45720" tIns="18288" bIns="18288" anchor="ctr">
            <a:spAutoFit/>
          </a:bodyPr>
          <a:lstStyle/>
          <a:p>
            <a:pPr algn="l"/>
            <a:r>
              <a:rPr sz="1800" b="1">
                <a:solidFill>
                  <a:srgbClr val="C8A84B"/>
                </a:solidFill>
                <a:latin typeface="Hiragino Sans"/>
              </a:rPr>
              <a:t>PART 1</a:t>
            </a:r>
          </a:p>
        </p:txBody>
      </p:sp>
      <p:sp>
        <p:nvSpPr>
          <p:cNvPr id="5" name="TextBox 4"/>
          <p:cNvSpPr txBox="1"/>
          <p:nvPr/>
        </p:nvSpPr>
        <p:spPr>
          <a:xfrm>
            <a:off x="731520" y="2834640"/>
            <a:ext cx="10698480" cy="1828800"/>
          </a:xfrm>
          <a:prstGeom prst="rect">
            <a:avLst/>
          </a:prstGeom>
          <a:noFill/>
        </p:spPr>
        <p:txBody>
          <a:bodyPr wrap="square" lIns="45720" rIns="45720" tIns="18288" bIns="18288" anchor="t">
            <a:spAutoFit/>
          </a:bodyPr>
          <a:lstStyle/>
          <a:p>
            <a:pPr algn="l"/>
            <a:r>
              <a:rPr sz="5400" b="1">
                <a:solidFill>
                  <a:srgbClr val="FFFFFF"/>
                </a:solidFill>
                <a:latin typeface="Hiragino Sans"/>
              </a:rPr>
              <a:t>GPT Image 2でこんなのが作れる</a:t>
            </a:r>
          </a:p>
          <a:p>
            <a:pPr algn="l"/>
            <a:r>
              <a:rPr sz="5400" b="1">
                <a:solidFill>
                  <a:srgbClr val="FFFFFF"/>
                </a:solidFill>
                <a:latin typeface="Hiragino Sans"/>
              </a:rPr>
              <a:t>→ 基本操作</a:t>
            </a:r>
          </a:p>
        </p:txBody>
      </p:sp>
      <p:sp>
        <p:nvSpPr>
          <p:cNvPr id="6" name="TextBox 5"/>
          <p:cNvSpPr txBox="1"/>
          <p:nvPr/>
        </p:nvSpPr>
        <p:spPr>
          <a:xfrm>
            <a:off x="731520" y="6035040"/>
            <a:ext cx="10698480" cy="365760"/>
          </a:xfrm>
          <a:prstGeom prst="rect">
            <a:avLst/>
          </a:prstGeom>
          <a:noFill/>
        </p:spPr>
        <p:txBody>
          <a:bodyPr wrap="square" lIns="45720" rIns="45720" tIns="18288" bIns="18288" anchor="t">
            <a:spAutoFit/>
          </a:bodyPr>
          <a:lstStyle/>
          <a:p>
            <a:pPr algn="l"/>
            <a:r>
              <a:rPr sz="1300" b="0">
                <a:solidFill>
                  <a:srgbClr val="E8EEF7"/>
                </a:solidFill>
                <a:latin typeface="Hiragino Sans"/>
              </a:rPr>
              <a:t>Vol.16 AIデザイン作成</a:t>
            </a:r>
          </a:p>
        </p:txBody>
      </p:sp>
      <p:sp>
        <p:nvSpPr>
          <p:cNvPr id="7" name="TextBox 6"/>
          <p:cNvSpPr txBox="1"/>
          <p:nvPr/>
        </p:nvSpPr>
        <p:spPr>
          <a:xfrm>
            <a:off x="11247120" y="6492240"/>
            <a:ext cx="868680" cy="274320"/>
          </a:xfrm>
          <a:prstGeom prst="rect">
            <a:avLst/>
          </a:prstGeom>
          <a:noFill/>
        </p:spPr>
        <p:txBody>
          <a:bodyPr wrap="square" lIns="45720" rIns="45720" tIns="18288" bIns="18288" anchor="t">
            <a:spAutoFit/>
          </a:bodyPr>
          <a:lstStyle/>
          <a:p>
            <a:pPr algn="r"/>
            <a:r>
              <a:rPr sz="1000" b="0">
                <a:solidFill>
                  <a:srgbClr val="E8EEF7"/>
                </a:solidFill>
                <a:latin typeface="Hiragino Sans"/>
              </a:rPr>
              <a:t>8 /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1｜基本操作</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9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今日のセミナー後、こんな画像が30秒で作れる</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デザインスキルもPhotoshopも、英語のプロンプトを覚える必要も一切不要</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11064240" cy="14630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28800"/>
            <a:ext cx="110642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デザインスキルもPhotoshopも、英語のプロンプトを覚える必要も一切不要</a:t>
            </a:r>
          </a:p>
        </p:txBody>
      </p:sp>
      <p:sp>
        <p:nvSpPr>
          <p:cNvPr id="12" name="TextBox 11"/>
          <p:cNvSpPr txBox="1"/>
          <p:nvPr/>
        </p:nvSpPr>
        <p:spPr>
          <a:xfrm>
            <a:off x="548640" y="2423160"/>
            <a:ext cx="11064240" cy="777240"/>
          </a:xfrm>
          <a:prstGeom prst="rect">
            <a:avLst/>
          </a:prstGeom>
          <a:noFill/>
        </p:spPr>
        <p:txBody>
          <a:bodyPr wrap="square" lIns="45720" rIns="45720" tIns="18288" bIns="18288" anchor="ctr">
            <a:spAutoFit/>
          </a:bodyPr>
          <a:lstStyle/>
          <a:p>
            <a:pPr algn="ctr"/>
            <a:r>
              <a:rPr sz="1400" b="0">
                <a:solidFill>
                  <a:srgbClr val="E8EEF7"/>
                </a:solidFill>
                <a:latin typeface="Hiragino Sans"/>
              </a:rPr>
              <a:t>30秒で「使える画像」が出てくる ― 必要なのは日本語のひと言だけ</a:t>
            </a:r>
          </a:p>
        </p:txBody>
      </p:sp>
      <p:sp>
        <p:nvSpPr>
          <p:cNvPr id="13" name="Rounded Rectangle 12"/>
          <p:cNvSpPr/>
          <p:nvPr/>
        </p:nvSpPr>
        <p:spPr>
          <a:xfrm>
            <a:off x="655167" y="3566160"/>
            <a:ext cx="3383280" cy="1645920"/>
          </a:xfrm>
          <a:prstGeom prst="roundRect">
            <a:avLst>
              <a:gd name="adj" fmla="val 6000"/>
            </a:avLst>
          </a:prstGeom>
          <a:solidFill>
            <a:srgbClr val="FFFFFF"/>
          </a:solidFill>
          <a:ln w="3175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5167" y="3566160"/>
            <a:ext cx="3383280" cy="50292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167" y="3566160"/>
            <a:ext cx="3383280" cy="502920"/>
          </a:xfrm>
          <a:prstGeom prst="rect">
            <a:avLst/>
          </a:prstGeom>
          <a:noFill/>
        </p:spPr>
        <p:txBody>
          <a:bodyPr wrap="square" lIns="45720" rIns="45720" tIns="18288" bIns="18288" anchor="ctr">
            <a:spAutoFit/>
          </a:bodyPr>
          <a:lstStyle/>
          <a:p>
            <a:pPr algn="ctr"/>
            <a:r>
              <a:rPr sz="1500" b="1">
                <a:solidFill>
                  <a:srgbClr val="FFFFFF"/>
                </a:solidFill>
                <a:latin typeface="Hiragino Sans"/>
              </a:rPr>
              <a:t>日本語の指示</a:t>
            </a:r>
          </a:p>
        </p:txBody>
      </p:sp>
      <p:sp>
        <p:nvSpPr>
          <p:cNvPr id="16" name="TextBox 15"/>
          <p:cNvSpPr txBox="1"/>
          <p:nvPr/>
        </p:nvSpPr>
        <p:spPr>
          <a:xfrm>
            <a:off x="746607" y="4160520"/>
            <a:ext cx="3200400" cy="960120"/>
          </a:xfrm>
          <a:prstGeom prst="rect">
            <a:avLst/>
          </a:prstGeom>
          <a:noFill/>
        </p:spPr>
        <p:txBody>
          <a:bodyPr wrap="square" lIns="45720" rIns="45720" tIns="18288" bIns="18288" anchor="ctr">
            <a:spAutoFit/>
          </a:bodyPr>
          <a:lstStyle/>
          <a:p>
            <a:pPr algn="ctr"/>
            <a:r>
              <a:rPr sz="1400" b="0">
                <a:solidFill>
                  <a:srgbClr val="333333"/>
                </a:solidFill>
                <a:latin typeface="Hiragino Sans"/>
              </a:rPr>
              <a:t>「セミナーの表紙画像を作って」</a:t>
            </a:r>
          </a:p>
        </p:txBody>
      </p:sp>
      <p:sp>
        <p:nvSpPr>
          <p:cNvPr id="17" name="Right Arrow 16"/>
          <p:cNvSpPr/>
          <p:nvPr/>
        </p:nvSpPr>
        <p:spPr>
          <a:xfrm>
            <a:off x="4038447" y="4206240"/>
            <a:ext cx="365760" cy="365760"/>
          </a:xfrm>
          <a:prstGeom prst="right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04207" y="3566160"/>
            <a:ext cx="3383280" cy="1645920"/>
          </a:xfrm>
          <a:prstGeom prst="roundRect">
            <a:avLst>
              <a:gd name="adj" fmla="val 6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04207" y="3566160"/>
            <a:ext cx="3383280" cy="5029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4207" y="3566160"/>
            <a:ext cx="3383280" cy="502920"/>
          </a:xfrm>
          <a:prstGeom prst="rect">
            <a:avLst/>
          </a:prstGeom>
          <a:noFill/>
        </p:spPr>
        <p:txBody>
          <a:bodyPr wrap="square" lIns="45720" rIns="45720" tIns="18288" bIns="18288" anchor="ctr">
            <a:spAutoFit/>
          </a:bodyPr>
          <a:lstStyle/>
          <a:p>
            <a:pPr algn="ctr"/>
            <a:r>
              <a:rPr sz="1500" b="1">
                <a:solidFill>
                  <a:srgbClr val="FFFFFF"/>
                </a:solidFill>
                <a:latin typeface="Hiragino Sans"/>
              </a:rPr>
              <a:t>ChatGPT</a:t>
            </a:r>
          </a:p>
        </p:txBody>
      </p:sp>
      <p:sp>
        <p:nvSpPr>
          <p:cNvPr id="21" name="TextBox 20"/>
          <p:cNvSpPr txBox="1"/>
          <p:nvPr/>
        </p:nvSpPr>
        <p:spPr>
          <a:xfrm>
            <a:off x="4495647" y="4160520"/>
            <a:ext cx="3200400" cy="960120"/>
          </a:xfrm>
          <a:prstGeom prst="rect">
            <a:avLst/>
          </a:prstGeom>
          <a:noFill/>
        </p:spPr>
        <p:txBody>
          <a:bodyPr wrap="square" lIns="45720" rIns="45720" tIns="18288" bIns="18288" anchor="ctr">
            <a:spAutoFit/>
          </a:bodyPr>
          <a:lstStyle/>
          <a:p>
            <a:pPr algn="ctr"/>
            <a:r>
              <a:rPr sz="1400" b="0">
                <a:solidFill>
                  <a:srgbClr val="333333"/>
                </a:solidFill>
                <a:latin typeface="Hiragino Sans"/>
              </a:rPr>
              <a:t>GPT Image 2</a:t>
            </a:r>
          </a:p>
        </p:txBody>
      </p:sp>
      <p:sp>
        <p:nvSpPr>
          <p:cNvPr id="22" name="Right Arrow 21"/>
          <p:cNvSpPr/>
          <p:nvPr/>
        </p:nvSpPr>
        <p:spPr>
          <a:xfrm>
            <a:off x="7787487" y="4206240"/>
            <a:ext cx="365760" cy="365760"/>
          </a:xfrm>
          <a:prstGeom prst="right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53247" y="3566160"/>
            <a:ext cx="3383280" cy="1645920"/>
          </a:xfrm>
          <a:prstGeom prst="roundRect">
            <a:avLst>
              <a:gd name="adj" fmla="val 6000"/>
            </a:avLst>
          </a:prstGeom>
          <a:solidFill>
            <a:srgbClr val="FFFFFF"/>
          </a:solidFill>
          <a:ln w="31750">
            <a:solidFill>
              <a:srgbClr val="0B1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53247" y="3566160"/>
            <a:ext cx="3383280" cy="5029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3247" y="3566160"/>
            <a:ext cx="3383280" cy="502920"/>
          </a:xfrm>
          <a:prstGeom prst="rect">
            <a:avLst/>
          </a:prstGeom>
          <a:noFill/>
        </p:spPr>
        <p:txBody>
          <a:bodyPr wrap="square" lIns="45720" rIns="45720" tIns="18288" bIns="18288" anchor="ctr">
            <a:spAutoFit/>
          </a:bodyPr>
          <a:lstStyle/>
          <a:p>
            <a:pPr algn="ctr"/>
            <a:r>
              <a:rPr sz="1500" b="1">
                <a:solidFill>
                  <a:srgbClr val="FFFFFF"/>
                </a:solidFill>
                <a:latin typeface="Hiragino Sans"/>
              </a:rPr>
              <a:t>使える画像</a:t>
            </a:r>
          </a:p>
        </p:txBody>
      </p:sp>
      <p:sp>
        <p:nvSpPr>
          <p:cNvPr id="26" name="TextBox 25"/>
          <p:cNvSpPr txBox="1"/>
          <p:nvPr/>
        </p:nvSpPr>
        <p:spPr>
          <a:xfrm>
            <a:off x="8244687" y="4160520"/>
            <a:ext cx="3200400" cy="960120"/>
          </a:xfrm>
          <a:prstGeom prst="rect">
            <a:avLst/>
          </a:prstGeom>
          <a:noFill/>
        </p:spPr>
        <p:txBody>
          <a:bodyPr wrap="square" lIns="45720" rIns="45720" tIns="18288" bIns="18288" anchor="ctr">
            <a:spAutoFit/>
          </a:bodyPr>
          <a:lstStyle/>
          <a:p>
            <a:pPr algn="ctr"/>
            <a:r>
              <a:rPr sz="1400" b="0">
                <a:solidFill>
                  <a:srgbClr val="333333"/>
                </a:solidFill>
                <a:latin typeface="Hiragino Sans"/>
              </a:rPr>
              <a:t>30秒で完成 → そのまま使える</a:t>
            </a:r>
          </a:p>
        </p:txBody>
      </p:sp>
      <p:sp>
        <p:nvSpPr>
          <p:cNvPr id="27" name="TextBox 26"/>
          <p:cNvSpPr txBox="1"/>
          <p:nvPr/>
        </p:nvSpPr>
        <p:spPr>
          <a:xfrm>
            <a:off x="548640" y="5486400"/>
            <a:ext cx="11064240" cy="457200"/>
          </a:xfrm>
          <a:prstGeom prst="rect">
            <a:avLst/>
          </a:prstGeom>
          <a:noFill/>
        </p:spPr>
        <p:txBody>
          <a:bodyPr wrap="square" lIns="45720" rIns="45720" tIns="18288" bIns="18288" anchor="t">
            <a:spAutoFit/>
          </a:bodyPr>
          <a:lstStyle/>
          <a:p>
            <a:pPr algn="l"/>
            <a:r>
              <a:rPr sz="1400" b="1">
                <a:solidFill>
                  <a:srgbClr val="0B1B3F"/>
                </a:solidFill>
                <a:latin typeface="Hiragino Sans"/>
              </a:rPr>
              <a:t>▼  これから見せる12枚は、すべて「今日学ぶ操作とプロンプト工房だけ」で生成したもの</a:t>
            </a:r>
          </a:p>
        </p:txBody>
      </p:sp>
      <p:sp>
        <p:nvSpPr>
          <p:cNvPr id="28" name="TextBox 27"/>
          <p:cNvSpPr txBox="1"/>
          <p:nvPr/>
        </p:nvSpPr>
        <p:spPr>
          <a:xfrm>
            <a:off x="548640" y="5897880"/>
            <a:ext cx="11064240" cy="457200"/>
          </a:xfrm>
          <a:prstGeom prst="rect">
            <a:avLst/>
          </a:prstGeom>
          <a:noFill/>
        </p:spPr>
        <p:txBody>
          <a:bodyPr wrap="square" lIns="45720" rIns="45720" tIns="18288" bIns="18288" anchor="t">
            <a:spAutoFit/>
          </a:bodyPr>
          <a:lstStyle/>
          <a:p>
            <a:pPr algn="l"/>
            <a:r>
              <a:rPr sz="1400" b="0">
                <a:solidFill>
                  <a:srgbClr val="333333"/>
                </a:solidFill>
                <a:latin typeface="Hiragino Sans"/>
              </a:rPr>
              <a:t>    自分の仕事・家庭・趣味のどこで使えそうかをイメージしながら見てください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1｜ギャラリー</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10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ギャラリー①  仕事で使う画像</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ギャラリー①  仕事で使う画像  ／  この後の操作で全部作れます</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228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44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44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13" name="Rectangle 12"/>
          <p:cNvSpPr/>
          <p:nvPr/>
        </p:nvSpPr>
        <p:spPr>
          <a:xfrm>
            <a:off x="60944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16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提案書／企画書の表紙</a:t>
            </a:r>
          </a:p>
          <a:p>
            <a:pPr algn="l"/>
            <a:r>
              <a:rPr sz="1300" b="1">
                <a:solidFill>
                  <a:srgbClr val="0B1B3F"/>
                </a:solidFill>
                <a:latin typeface="Hiragino Sans"/>
              </a:rPr>
              <a:t>（16:9・モダンフラット）</a:t>
            </a:r>
          </a:p>
        </p:txBody>
      </p:sp>
      <p:sp>
        <p:nvSpPr>
          <p:cNvPr id="15" name="TextBox 14"/>
          <p:cNvSpPr txBox="1"/>
          <p:nvPr/>
        </p:nvSpPr>
        <p:spPr>
          <a:xfrm>
            <a:off x="65516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16" name="TextBox 15"/>
          <p:cNvSpPr txBox="1"/>
          <p:nvPr/>
        </p:nvSpPr>
        <p:spPr>
          <a:xfrm>
            <a:off x="65516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クライアント提案・社内会議のスライド表紙</a:t>
            </a:r>
          </a:p>
        </p:txBody>
      </p:sp>
      <p:sp>
        <p:nvSpPr>
          <p:cNvPr id="17" name="Rounded Rectangle 16"/>
          <p:cNvSpPr/>
          <p:nvPr/>
        </p:nvSpPr>
        <p:spPr>
          <a:xfrm>
            <a:off x="426704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420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20" name="Rectangle 19"/>
          <p:cNvSpPr/>
          <p:nvPr/>
        </p:nvSpPr>
        <p:spPr>
          <a:xfrm>
            <a:off x="440420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992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オフィス会議シーンの挿絵</a:t>
            </a:r>
          </a:p>
          <a:p>
            <a:pPr algn="l"/>
            <a:r>
              <a:rPr sz="1300" b="1">
                <a:solidFill>
                  <a:srgbClr val="0B1B3F"/>
                </a:solidFill>
                <a:latin typeface="Hiragino Sans"/>
              </a:rPr>
              <a:t>（横長・水彩風）</a:t>
            </a:r>
          </a:p>
        </p:txBody>
      </p:sp>
      <p:sp>
        <p:nvSpPr>
          <p:cNvPr id="22" name="TextBox 21"/>
          <p:cNvSpPr txBox="1"/>
          <p:nvPr/>
        </p:nvSpPr>
        <p:spPr>
          <a:xfrm>
            <a:off x="444992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23" name="TextBox 22"/>
          <p:cNvSpPr txBox="1"/>
          <p:nvPr/>
        </p:nvSpPr>
        <p:spPr>
          <a:xfrm>
            <a:off x="444992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研修資料・社内報・ブログの挿絵</a:t>
            </a:r>
          </a:p>
        </p:txBody>
      </p:sp>
      <p:sp>
        <p:nvSpPr>
          <p:cNvPr id="24" name="Rounded Rectangle 23"/>
          <p:cNvSpPr/>
          <p:nvPr/>
        </p:nvSpPr>
        <p:spPr>
          <a:xfrm>
            <a:off x="806180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9896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9896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27" name="Rectangle 26"/>
          <p:cNvSpPr/>
          <p:nvPr/>
        </p:nvSpPr>
        <p:spPr>
          <a:xfrm>
            <a:off x="819896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468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業務マニュアル用ピクトグラム3点</a:t>
            </a:r>
          </a:p>
          <a:p>
            <a:pPr algn="l"/>
            <a:r>
              <a:rPr sz="1300" b="1">
                <a:solidFill>
                  <a:srgbClr val="0B1B3F"/>
                </a:solidFill>
                <a:latin typeface="Hiragino Sans"/>
              </a:rPr>
              <a:t>（電話／メール／会議）</a:t>
            </a:r>
          </a:p>
        </p:txBody>
      </p:sp>
      <p:sp>
        <p:nvSpPr>
          <p:cNvPr id="29" name="TextBox 28"/>
          <p:cNvSpPr txBox="1"/>
          <p:nvPr/>
        </p:nvSpPr>
        <p:spPr>
          <a:xfrm>
            <a:off x="824468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30" name="TextBox 29"/>
          <p:cNvSpPr txBox="1"/>
          <p:nvPr/>
        </p:nvSpPr>
        <p:spPr>
          <a:xfrm>
            <a:off x="824468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マニュアル・FAQの統一感あるアイコン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1｜ギャラリー</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11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ギャラリー②  家庭・プライベートで使う画像</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ギャラリー②  家庭・プライベートで使う画像  ／  この後の操作で全部作れます</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228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44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44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13" name="Rectangle 12"/>
          <p:cNvSpPr/>
          <p:nvPr/>
        </p:nvSpPr>
        <p:spPr>
          <a:xfrm>
            <a:off x="60944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16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お子さん向け誕生日招待状</a:t>
            </a:r>
          </a:p>
          <a:p>
            <a:pPr algn="l"/>
            <a:r>
              <a:rPr sz="1300" b="1">
                <a:solidFill>
                  <a:srgbClr val="0B1B3F"/>
                </a:solidFill>
                <a:latin typeface="Hiragino Sans"/>
              </a:rPr>
              <a:t>（ポップ・1:1）</a:t>
            </a:r>
          </a:p>
        </p:txBody>
      </p:sp>
      <p:sp>
        <p:nvSpPr>
          <p:cNvPr id="15" name="TextBox 14"/>
          <p:cNvSpPr txBox="1"/>
          <p:nvPr/>
        </p:nvSpPr>
        <p:spPr>
          <a:xfrm>
            <a:off x="65516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16" name="TextBox 15"/>
          <p:cNvSpPr txBox="1"/>
          <p:nvPr/>
        </p:nvSpPr>
        <p:spPr>
          <a:xfrm>
            <a:off x="65516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LINE配信・印刷して手渡し</a:t>
            </a:r>
          </a:p>
        </p:txBody>
      </p:sp>
      <p:sp>
        <p:nvSpPr>
          <p:cNvPr id="17" name="Rounded Rectangle 16"/>
          <p:cNvSpPr/>
          <p:nvPr/>
        </p:nvSpPr>
        <p:spPr>
          <a:xfrm>
            <a:off x="426704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420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20" name="Rectangle 19"/>
          <p:cNvSpPr/>
          <p:nvPr/>
        </p:nvSpPr>
        <p:spPr>
          <a:xfrm>
            <a:off x="440420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992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桜と「春のご挨拶」季節カード</a:t>
            </a:r>
          </a:p>
          <a:p>
            <a:pPr algn="l"/>
            <a:r>
              <a:rPr sz="1300" b="1">
                <a:solidFill>
                  <a:srgbClr val="0B1B3F"/>
                </a:solidFill>
                <a:latin typeface="Hiragino Sans"/>
              </a:rPr>
              <a:t>（縦長・水彩風）</a:t>
            </a:r>
          </a:p>
        </p:txBody>
      </p:sp>
      <p:sp>
        <p:nvSpPr>
          <p:cNvPr id="22" name="TextBox 21"/>
          <p:cNvSpPr txBox="1"/>
          <p:nvPr/>
        </p:nvSpPr>
        <p:spPr>
          <a:xfrm>
            <a:off x="444992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23" name="TextBox 22"/>
          <p:cNvSpPr txBox="1"/>
          <p:nvPr/>
        </p:nvSpPr>
        <p:spPr>
          <a:xfrm>
            <a:off x="444992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親戚・取引先への挨拶状</a:t>
            </a:r>
          </a:p>
        </p:txBody>
      </p:sp>
      <p:sp>
        <p:nvSpPr>
          <p:cNvPr id="24" name="Rounded Rectangle 23"/>
          <p:cNvSpPr/>
          <p:nvPr/>
        </p:nvSpPr>
        <p:spPr>
          <a:xfrm>
            <a:off x="806180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9896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9896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27" name="Rectangle 26"/>
          <p:cNvSpPr/>
          <p:nvPr/>
        </p:nvSpPr>
        <p:spPr>
          <a:xfrm>
            <a:off x="819896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468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「秋祭りのお知らせ」町内会ポスター</a:t>
            </a:r>
          </a:p>
          <a:p>
            <a:pPr algn="l"/>
            <a:r>
              <a:rPr sz="1300" b="1">
                <a:solidFill>
                  <a:srgbClr val="0B1B3F"/>
                </a:solidFill>
                <a:latin typeface="Hiragino Sans"/>
              </a:rPr>
              <a:t>（手描き風）</a:t>
            </a:r>
          </a:p>
        </p:txBody>
      </p:sp>
      <p:sp>
        <p:nvSpPr>
          <p:cNvPr id="29" name="TextBox 28"/>
          <p:cNvSpPr txBox="1"/>
          <p:nvPr/>
        </p:nvSpPr>
        <p:spPr>
          <a:xfrm>
            <a:off x="824468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30" name="TextBox 29"/>
          <p:cNvSpPr txBox="1"/>
          <p:nvPr/>
        </p:nvSpPr>
        <p:spPr>
          <a:xfrm>
            <a:off x="824468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掲示板に貼る・LINEグループで配信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1｜ギャラリー</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12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ギャラリー③  SNS・趣味で使う画像</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ギャラリー③  SNS・趣味で使う画像  ／  この後の操作で全部作れます</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228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44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44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13" name="Rectangle 12"/>
          <p:cNvSpPr/>
          <p:nvPr/>
        </p:nvSpPr>
        <p:spPr>
          <a:xfrm>
            <a:off x="60944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16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レシピブログのアイキャッチ</a:t>
            </a:r>
          </a:p>
          <a:p>
            <a:pPr algn="l"/>
            <a:r>
              <a:rPr sz="1300" b="1">
                <a:solidFill>
                  <a:srgbClr val="0B1B3F"/>
                </a:solidFill>
                <a:latin typeface="Hiragino Sans"/>
              </a:rPr>
              <a:t>（写真風・16:9）</a:t>
            </a:r>
          </a:p>
        </p:txBody>
      </p:sp>
      <p:sp>
        <p:nvSpPr>
          <p:cNvPr id="15" name="TextBox 14"/>
          <p:cNvSpPr txBox="1"/>
          <p:nvPr/>
        </p:nvSpPr>
        <p:spPr>
          <a:xfrm>
            <a:off x="65516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16" name="TextBox 15"/>
          <p:cNvSpPr txBox="1"/>
          <p:nvPr/>
        </p:nvSpPr>
        <p:spPr>
          <a:xfrm>
            <a:off x="65516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ブログ・noteのトップ画像</a:t>
            </a:r>
          </a:p>
        </p:txBody>
      </p:sp>
      <p:sp>
        <p:nvSpPr>
          <p:cNvPr id="17" name="Rounded Rectangle 16"/>
          <p:cNvSpPr/>
          <p:nvPr/>
        </p:nvSpPr>
        <p:spPr>
          <a:xfrm>
            <a:off x="426704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420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20" name="Rectangle 19"/>
          <p:cNvSpPr/>
          <p:nvPr/>
        </p:nvSpPr>
        <p:spPr>
          <a:xfrm>
            <a:off x="440420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992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「私の朝活ルーティン」Instagram投稿</a:t>
            </a:r>
          </a:p>
          <a:p>
            <a:pPr algn="l"/>
            <a:r>
              <a:rPr sz="1300" b="1">
                <a:solidFill>
                  <a:srgbClr val="0B1B3F"/>
                </a:solidFill>
                <a:latin typeface="Hiragino Sans"/>
              </a:rPr>
              <a:t>（1:1）</a:t>
            </a:r>
          </a:p>
        </p:txBody>
      </p:sp>
      <p:sp>
        <p:nvSpPr>
          <p:cNvPr id="22" name="TextBox 21"/>
          <p:cNvSpPr txBox="1"/>
          <p:nvPr/>
        </p:nvSpPr>
        <p:spPr>
          <a:xfrm>
            <a:off x="444992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23" name="TextBox 22"/>
          <p:cNvSpPr txBox="1"/>
          <p:nvPr/>
        </p:nvSpPr>
        <p:spPr>
          <a:xfrm>
            <a:off x="444992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SNS発信・お店紹介</a:t>
            </a:r>
          </a:p>
        </p:txBody>
      </p:sp>
      <p:sp>
        <p:nvSpPr>
          <p:cNvPr id="24" name="Rounded Rectangle 23"/>
          <p:cNvSpPr/>
          <p:nvPr/>
        </p:nvSpPr>
        <p:spPr>
          <a:xfrm>
            <a:off x="806180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9896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9896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27" name="Rectangle 26"/>
          <p:cNvSpPr/>
          <p:nvPr/>
        </p:nvSpPr>
        <p:spPr>
          <a:xfrm>
            <a:off x="819896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468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旅行ブログのヘッダー画像</a:t>
            </a:r>
          </a:p>
          <a:p>
            <a:pPr algn="l"/>
            <a:r>
              <a:rPr sz="1300" b="1">
                <a:solidFill>
                  <a:srgbClr val="0B1B3F"/>
                </a:solidFill>
                <a:latin typeface="Hiragino Sans"/>
              </a:rPr>
              <a:t>（風景写真風・横長）</a:t>
            </a:r>
          </a:p>
        </p:txBody>
      </p:sp>
      <p:sp>
        <p:nvSpPr>
          <p:cNvPr id="29" name="TextBox 28"/>
          <p:cNvSpPr txBox="1"/>
          <p:nvPr/>
        </p:nvSpPr>
        <p:spPr>
          <a:xfrm>
            <a:off x="824468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30" name="TextBox 29"/>
          <p:cNvSpPr txBox="1"/>
          <p:nvPr/>
        </p:nvSpPr>
        <p:spPr>
          <a:xfrm>
            <a:off x="824468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ブログ・SNSのプロフィールヘッダー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1｜ギャラリー</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13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ギャラリー④  学習・教育用素材</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ギャラリー④  学習・教育用素材  ／  この後の操作で全部作れます</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228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44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44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13" name="Rectangle 12"/>
          <p:cNvSpPr/>
          <p:nvPr/>
        </p:nvSpPr>
        <p:spPr>
          <a:xfrm>
            <a:off x="60944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16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子どもの自由研究の表紙</a:t>
            </a:r>
          </a:p>
          <a:p>
            <a:pPr algn="l"/>
            <a:r>
              <a:rPr sz="1300" b="1">
                <a:solidFill>
                  <a:srgbClr val="0B1B3F"/>
                </a:solidFill>
                <a:latin typeface="Hiragino Sans"/>
              </a:rPr>
              <a:t>（「私のSDGs研究」・1:1）</a:t>
            </a:r>
          </a:p>
        </p:txBody>
      </p:sp>
      <p:sp>
        <p:nvSpPr>
          <p:cNvPr id="15" name="TextBox 14"/>
          <p:cNvSpPr txBox="1"/>
          <p:nvPr/>
        </p:nvSpPr>
        <p:spPr>
          <a:xfrm>
            <a:off x="65516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16" name="TextBox 15"/>
          <p:cNvSpPr txBox="1"/>
          <p:nvPr/>
        </p:nvSpPr>
        <p:spPr>
          <a:xfrm>
            <a:off x="65516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学校提出物・家族共有</a:t>
            </a:r>
          </a:p>
        </p:txBody>
      </p:sp>
      <p:sp>
        <p:nvSpPr>
          <p:cNvPr id="17" name="Rounded Rectangle 16"/>
          <p:cNvSpPr/>
          <p:nvPr/>
        </p:nvSpPr>
        <p:spPr>
          <a:xfrm>
            <a:off x="426704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420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20" name="Rectangle 19"/>
          <p:cNvSpPr/>
          <p:nvPr/>
        </p:nvSpPr>
        <p:spPr>
          <a:xfrm>
            <a:off x="440420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992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英単語暗記カードのイラスト</a:t>
            </a:r>
          </a:p>
          <a:p>
            <a:pPr algn="l"/>
            <a:r>
              <a:rPr sz="1300" b="1">
                <a:solidFill>
                  <a:srgbClr val="0B1B3F"/>
                </a:solidFill>
                <a:latin typeface="Hiragino Sans"/>
              </a:rPr>
              <a:t>（ポップ・1:1）</a:t>
            </a:r>
          </a:p>
        </p:txBody>
      </p:sp>
      <p:sp>
        <p:nvSpPr>
          <p:cNvPr id="22" name="TextBox 21"/>
          <p:cNvSpPr txBox="1"/>
          <p:nvPr/>
        </p:nvSpPr>
        <p:spPr>
          <a:xfrm>
            <a:off x="444992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23" name="TextBox 22"/>
          <p:cNvSpPr txBox="1"/>
          <p:nvPr/>
        </p:nvSpPr>
        <p:spPr>
          <a:xfrm>
            <a:off x="444992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お子さんの勉強・大人の資格学習・GoodNotes活用</a:t>
            </a:r>
          </a:p>
        </p:txBody>
      </p:sp>
      <p:sp>
        <p:nvSpPr>
          <p:cNvPr id="24" name="Rounded Rectangle 23"/>
          <p:cNvSpPr/>
          <p:nvPr/>
        </p:nvSpPr>
        <p:spPr>
          <a:xfrm>
            <a:off x="8061807" y="1828800"/>
            <a:ext cx="3657600" cy="4114800"/>
          </a:xfrm>
          <a:prstGeom prst="roundRect">
            <a:avLst>
              <a:gd name="adj" fmla="val 4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98967" y="1965960"/>
            <a:ext cx="3383280" cy="2286000"/>
          </a:xfrm>
          <a:prstGeom prst="rect">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98967" y="1965960"/>
            <a:ext cx="3383280" cy="2286000"/>
          </a:xfrm>
          <a:prstGeom prst="rect">
            <a:avLst/>
          </a:prstGeom>
          <a:noFill/>
        </p:spPr>
        <p:txBody>
          <a:bodyPr wrap="square" lIns="45720" rIns="45720" tIns="18288" bIns="18288" anchor="ctr">
            <a:spAutoFit/>
          </a:bodyPr>
          <a:lstStyle/>
          <a:p>
            <a:pPr algn="ctr"/>
            <a:r>
              <a:rPr sz="1400" b="0">
                <a:solidFill>
                  <a:srgbClr val="3D5A80"/>
                </a:solidFill>
                <a:latin typeface="Hiragino Sans"/>
              </a:rPr>
              <a:t>🖼  画像プレースホルダー</a:t>
            </a:r>
          </a:p>
        </p:txBody>
      </p:sp>
      <p:sp>
        <p:nvSpPr>
          <p:cNvPr id="27" name="Rectangle 26"/>
          <p:cNvSpPr/>
          <p:nvPr/>
        </p:nvSpPr>
        <p:spPr>
          <a:xfrm>
            <a:off x="8198967" y="4297680"/>
            <a:ext cx="3383280" cy="36576"/>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4687" y="4370832"/>
            <a:ext cx="3291840" cy="640080"/>
          </a:xfrm>
          <a:prstGeom prst="rect">
            <a:avLst/>
          </a:prstGeom>
          <a:noFill/>
        </p:spPr>
        <p:txBody>
          <a:bodyPr wrap="square" lIns="45720" rIns="45720" tIns="18288" bIns="18288" anchor="t">
            <a:spAutoFit/>
          </a:bodyPr>
          <a:lstStyle/>
          <a:p>
            <a:pPr algn="l"/>
            <a:r>
              <a:rPr sz="1300" b="1">
                <a:solidFill>
                  <a:srgbClr val="0B1B3F"/>
                </a:solidFill>
                <a:latin typeface="Hiragino Sans"/>
              </a:rPr>
              <a:t>資格学習／社内研修用の図解キャラクター</a:t>
            </a:r>
          </a:p>
        </p:txBody>
      </p:sp>
      <p:sp>
        <p:nvSpPr>
          <p:cNvPr id="29" name="TextBox 28"/>
          <p:cNvSpPr txBox="1"/>
          <p:nvPr/>
        </p:nvSpPr>
        <p:spPr>
          <a:xfrm>
            <a:off x="8244687" y="4983480"/>
            <a:ext cx="3291840" cy="274320"/>
          </a:xfrm>
          <a:prstGeom prst="rect">
            <a:avLst/>
          </a:prstGeom>
          <a:noFill/>
        </p:spPr>
        <p:txBody>
          <a:bodyPr wrap="square" lIns="45720" rIns="45720" tIns="18288" bIns="18288" anchor="t">
            <a:spAutoFit/>
          </a:bodyPr>
          <a:lstStyle/>
          <a:p>
            <a:pPr algn="l"/>
            <a:r>
              <a:rPr sz="1100" b="1">
                <a:solidFill>
                  <a:srgbClr val="3D5A80"/>
                </a:solidFill>
                <a:latin typeface="Hiragino Sans"/>
              </a:rPr>
              <a:t>▶ 使い道</a:t>
            </a:r>
          </a:p>
        </p:txBody>
      </p:sp>
      <p:sp>
        <p:nvSpPr>
          <p:cNvPr id="30" name="TextBox 29"/>
          <p:cNvSpPr txBox="1"/>
          <p:nvPr/>
        </p:nvSpPr>
        <p:spPr>
          <a:xfrm>
            <a:off x="8244687" y="5257800"/>
            <a:ext cx="3291840" cy="640080"/>
          </a:xfrm>
          <a:prstGeom prst="rect">
            <a:avLst/>
          </a:prstGeom>
          <a:noFill/>
        </p:spPr>
        <p:txBody>
          <a:bodyPr wrap="square" lIns="45720" rIns="45720" tIns="18288" bIns="18288" anchor="t">
            <a:spAutoFit/>
          </a:bodyPr>
          <a:lstStyle/>
          <a:p>
            <a:pPr algn="l"/>
            <a:r>
              <a:rPr sz="1200" b="0">
                <a:solidFill>
                  <a:srgbClr val="333333"/>
                </a:solidFill>
                <a:latin typeface="Hiragino Sans"/>
              </a:rPr>
              <a:t>教える側の素材・OJT資料・社内勉強会</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1｜基本操作</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14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最初の画像を生成する（操作手順）</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5ステップで完了 ― 慣れれば30秒</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914400" cy="8686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83080"/>
            <a:ext cx="914400" cy="868680"/>
          </a:xfrm>
          <a:prstGeom prst="rect">
            <a:avLst/>
          </a:prstGeom>
          <a:noFill/>
        </p:spPr>
        <p:txBody>
          <a:bodyPr wrap="square" lIns="45720" rIns="45720" tIns="18288" bIns="18288" anchor="ctr">
            <a:spAutoFit/>
          </a:bodyPr>
          <a:lstStyle/>
          <a:p>
            <a:pPr algn="ctr"/>
            <a:r>
              <a:rPr sz="1400" b="1">
                <a:solidFill>
                  <a:srgbClr val="FFFFFF"/>
                </a:solidFill>
                <a:latin typeface="Hiragino Sans"/>
              </a:rPr>
              <a:t>STEP 1</a:t>
            </a:r>
          </a:p>
        </p:txBody>
      </p:sp>
      <p:sp>
        <p:nvSpPr>
          <p:cNvPr id="12" name="Rectangle 11"/>
          <p:cNvSpPr/>
          <p:nvPr/>
        </p:nvSpPr>
        <p:spPr>
          <a:xfrm>
            <a:off x="1463040" y="1783080"/>
            <a:ext cx="10149840" cy="86868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1783080"/>
            <a:ext cx="6858000" cy="868680"/>
          </a:xfrm>
          <a:prstGeom prst="rect">
            <a:avLst/>
          </a:prstGeom>
          <a:noFill/>
        </p:spPr>
        <p:txBody>
          <a:bodyPr wrap="square" lIns="45720" rIns="45720" tIns="18288" bIns="18288" anchor="ctr">
            <a:spAutoFit/>
          </a:bodyPr>
          <a:lstStyle/>
          <a:p>
            <a:pPr algn="l"/>
            <a:r>
              <a:rPr sz="1600" b="1">
                <a:solidFill>
                  <a:srgbClr val="0B1B3F"/>
                </a:solidFill>
                <a:latin typeface="Hiragino Sans"/>
              </a:rPr>
              <a:t>ChatGPTアプリ（またはWeb版）を開く</a:t>
            </a:r>
          </a:p>
        </p:txBody>
      </p:sp>
      <p:sp>
        <p:nvSpPr>
          <p:cNvPr id="14" name="TextBox 13"/>
          <p:cNvSpPr txBox="1"/>
          <p:nvPr/>
        </p:nvSpPr>
        <p:spPr>
          <a:xfrm>
            <a:off x="8595360" y="1783080"/>
            <a:ext cx="2926080" cy="868680"/>
          </a:xfrm>
          <a:prstGeom prst="rect">
            <a:avLst/>
          </a:prstGeom>
          <a:noFill/>
        </p:spPr>
        <p:txBody>
          <a:bodyPr wrap="square" lIns="45720" rIns="45720" tIns="18288" bIns="18288" anchor="ctr">
            <a:spAutoFit/>
          </a:bodyPr>
          <a:lstStyle/>
          <a:p>
            <a:pPr algn="l"/>
            <a:r>
              <a:rPr sz="1200" b="0">
                <a:solidFill>
                  <a:srgbClr val="333333"/>
                </a:solidFill>
                <a:latin typeface="Hiragino Sans"/>
              </a:rPr>
              <a:t>アプリ／ブラウザどちらでもOK</a:t>
            </a:r>
          </a:p>
        </p:txBody>
      </p:sp>
      <p:sp>
        <p:nvSpPr>
          <p:cNvPr id="15" name="Down Arrow 14"/>
          <p:cNvSpPr/>
          <p:nvPr/>
        </p:nvSpPr>
        <p:spPr>
          <a:xfrm>
            <a:off x="868680" y="2633472"/>
            <a:ext cx="274320" cy="91440"/>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97480"/>
            <a:ext cx="914400" cy="8686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697480"/>
            <a:ext cx="914400" cy="868680"/>
          </a:xfrm>
          <a:prstGeom prst="rect">
            <a:avLst/>
          </a:prstGeom>
          <a:noFill/>
        </p:spPr>
        <p:txBody>
          <a:bodyPr wrap="square" lIns="45720" rIns="45720" tIns="18288" bIns="18288" anchor="ctr">
            <a:spAutoFit/>
          </a:bodyPr>
          <a:lstStyle/>
          <a:p>
            <a:pPr algn="ctr"/>
            <a:r>
              <a:rPr sz="1400" b="1">
                <a:solidFill>
                  <a:srgbClr val="FFFFFF"/>
                </a:solidFill>
                <a:latin typeface="Hiragino Sans"/>
              </a:rPr>
              <a:t>STEP 2</a:t>
            </a:r>
          </a:p>
        </p:txBody>
      </p:sp>
      <p:sp>
        <p:nvSpPr>
          <p:cNvPr id="18" name="Rectangle 17"/>
          <p:cNvSpPr/>
          <p:nvPr/>
        </p:nvSpPr>
        <p:spPr>
          <a:xfrm>
            <a:off x="1463040" y="2697480"/>
            <a:ext cx="10149840" cy="86868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91640" y="2697480"/>
            <a:ext cx="6858000" cy="868680"/>
          </a:xfrm>
          <a:prstGeom prst="rect">
            <a:avLst/>
          </a:prstGeom>
          <a:noFill/>
        </p:spPr>
        <p:txBody>
          <a:bodyPr wrap="square" lIns="45720" rIns="45720" tIns="18288" bIns="18288" anchor="ctr">
            <a:spAutoFit/>
          </a:bodyPr>
          <a:lstStyle/>
          <a:p>
            <a:pPr algn="l"/>
            <a:r>
              <a:rPr sz="1600" b="1">
                <a:solidFill>
                  <a:srgbClr val="0B1B3F"/>
                </a:solidFill>
                <a:latin typeface="Hiragino Sans"/>
              </a:rPr>
              <a:t>新規チャットを開始</a:t>
            </a:r>
          </a:p>
        </p:txBody>
      </p:sp>
      <p:sp>
        <p:nvSpPr>
          <p:cNvPr id="20" name="TextBox 19"/>
          <p:cNvSpPr txBox="1"/>
          <p:nvPr/>
        </p:nvSpPr>
        <p:spPr>
          <a:xfrm>
            <a:off x="8595360" y="2697480"/>
            <a:ext cx="2926080" cy="868680"/>
          </a:xfrm>
          <a:prstGeom prst="rect">
            <a:avLst/>
          </a:prstGeom>
          <a:noFill/>
        </p:spPr>
        <p:txBody>
          <a:bodyPr wrap="square" lIns="45720" rIns="45720" tIns="18288" bIns="18288" anchor="ctr">
            <a:spAutoFit/>
          </a:bodyPr>
          <a:lstStyle/>
          <a:p>
            <a:pPr algn="l"/>
            <a:r>
              <a:rPr sz="1200" b="0">
                <a:solidFill>
                  <a:srgbClr val="333333"/>
                </a:solidFill>
                <a:latin typeface="Hiragino Sans"/>
              </a:rPr>
              <a:t>サイドバー左上のアイコンから</a:t>
            </a:r>
          </a:p>
        </p:txBody>
      </p:sp>
      <p:sp>
        <p:nvSpPr>
          <p:cNvPr id="21" name="Down Arrow 20"/>
          <p:cNvSpPr/>
          <p:nvPr/>
        </p:nvSpPr>
        <p:spPr>
          <a:xfrm>
            <a:off x="868680" y="3547872"/>
            <a:ext cx="274320" cy="91440"/>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611880"/>
            <a:ext cx="914400" cy="8686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611880"/>
            <a:ext cx="914400" cy="868680"/>
          </a:xfrm>
          <a:prstGeom prst="rect">
            <a:avLst/>
          </a:prstGeom>
          <a:noFill/>
        </p:spPr>
        <p:txBody>
          <a:bodyPr wrap="square" lIns="45720" rIns="45720" tIns="18288" bIns="18288" anchor="ctr">
            <a:spAutoFit/>
          </a:bodyPr>
          <a:lstStyle/>
          <a:p>
            <a:pPr algn="ctr"/>
            <a:r>
              <a:rPr sz="1400" b="1">
                <a:solidFill>
                  <a:srgbClr val="FFFFFF"/>
                </a:solidFill>
                <a:latin typeface="Hiragino Sans"/>
              </a:rPr>
              <a:t>STEP 3</a:t>
            </a:r>
          </a:p>
        </p:txBody>
      </p:sp>
      <p:sp>
        <p:nvSpPr>
          <p:cNvPr id="24" name="Rectangle 23"/>
          <p:cNvSpPr/>
          <p:nvPr/>
        </p:nvSpPr>
        <p:spPr>
          <a:xfrm>
            <a:off x="1463040" y="3611880"/>
            <a:ext cx="10149840" cy="86868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91640" y="3611880"/>
            <a:ext cx="6858000" cy="868680"/>
          </a:xfrm>
          <a:prstGeom prst="rect">
            <a:avLst/>
          </a:prstGeom>
          <a:noFill/>
        </p:spPr>
        <p:txBody>
          <a:bodyPr wrap="square" lIns="45720" rIns="45720" tIns="18288" bIns="18288" anchor="ctr">
            <a:spAutoFit/>
          </a:bodyPr>
          <a:lstStyle/>
          <a:p>
            <a:pPr algn="l"/>
            <a:r>
              <a:rPr sz="1600" b="1">
                <a:solidFill>
                  <a:srgbClr val="0B1B3F"/>
                </a:solidFill>
                <a:latin typeface="Hiragino Sans"/>
              </a:rPr>
              <a:t>プロンプト入力欄に画像生成を依頼</a:t>
            </a:r>
          </a:p>
        </p:txBody>
      </p:sp>
      <p:sp>
        <p:nvSpPr>
          <p:cNvPr id="26" name="TextBox 25"/>
          <p:cNvSpPr txBox="1"/>
          <p:nvPr/>
        </p:nvSpPr>
        <p:spPr>
          <a:xfrm>
            <a:off x="8595360" y="3611880"/>
            <a:ext cx="2926080" cy="868680"/>
          </a:xfrm>
          <a:prstGeom prst="rect">
            <a:avLst/>
          </a:prstGeom>
          <a:noFill/>
        </p:spPr>
        <p:txBody>
          <a:bodyPr wrap="square" lIns="45720" rIns="45720" tIns="18288" bIns="18288" anchor="ctr">
            <a:spAutoFit/>
          </a:bodyPr>
          <a:lstStyle/>
          <a:p>
            <a:pPr algn="l"/>
            <a:r>
              <a:rPr sz="1200" b="0">
                <a:solidFill>
                  <a:srgbClr val="333333"/>
                </a:solidFill>
                <a:latin typeface="Hiragino Sans"/>
              </a:rPr>
              <a:t>例：「青空の下に立つ柴犬の写真を作って」</a:t>
            </a:r>
          </a:p>
        </p:txBody>
      </p:sp>
      <p:sp>
        <p:nvSpPr>
          <p:cNvPr id="27" name="Down Arrow 26"/>
          <p:cNvSpPr/>
          <p:nvPr/>
        </p:nvSpPr>
        <p:spPr>
          <a:xfrm>
            <a:off x="868680" y="4462272"/>
            <a:ext cx="274320" cy="91440"/>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4526280"/>
            <a:ext cx="914400" cy="8686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526280"/>
            <a:ext cx="914400" cy="868680"/>
          </a:xfrm>
          <a:prstGeom prst="rect">
            <a:avLst/>
          </a:prstGeom>
          <a:noFill/>
        </p:spPr>
        <p:txBody>
          <a:bodyPr wrap="square" lIns="45720" rIns="45720" tIns="18288" bIns="18288" anchor="ctr">
            <a:spAutoFit/>
          </a:bodyPr>
          <a:lstStyle/>
          <a:p>
            <a:pPr algn="ctr"/>
            <a:r>
              <a:rPr sz="1400" b="1">
                <a:solidFill>
                  <a:srgbClr val="FFFFFF"/>
                </a:solidFill>
                <a:latin typeface="Hiragino Sans"/>
              </a:rPr>
              <a:t>STEP 4</a:t>
            </a:r>
          </a:p>
        </p:txBody>
      </p:sp>
      <p:sp>
        <p:nvSpPr>
          <p:cNvPr id="30" name="Rectangle 29"/>
          <p:cNvSpPr/>
          <p:nvPr/>
        </p:nvSpPr>
        <p:spPr>
          <a:xfrm>
            <a:off x="1463040" y="4526280"/>
            <a:ext cx="10149840" cy="86868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91640" y="4526280"/>
            <a:ext cx="6858000" cy="868680"/>
          </a:xfrm>
          <a:prstGeom prst="rect">
            <a:avLst/>
          </a:prstGeom>
          <a:noFill/>
        </p:spPr>
        <p:txBody>
          <a:bodyPr wrap="square" lIns="45720" rIns="45720" tIns="18288" bIns="18288" anchor="ctr">
            <a:spAutoFit/>
          </a:bodyPr>
          <a:lstStyle/>
          <a:p>
            <a:pPr algn="l"/>
            <a:r>
              <a:rPr sz="1600" b="1">
                <a:solidFill>
                  <a:srgbClr val="0B1B3F"/>
                </a:solidFill>
                <a:latin typeface="Hiragino Sans"/>
              </a:rPr>
              <a:t>数秒〜30秒で生成完了</a:t>
            </a:r>
          </a:p>
        </p:txBody>
      </p:sp>
      <p:sp>
        <p:nvSpPr>
          <p:cNvPr id="32" name="TextBox 31"/>
          <p:cNvSpPr txBox="1"/>
          <p:nvPr/>
        </p:nvSpPr>
        <p:spPr>
          <a:xfrm>
            <a:off x="8595360" y="4526280"/>
            <a:ext cx="2926080" cy="868680"/>
          </a:xfrm>
          <a:prstGeom prst="rect">
            <a:avLst/>
          </a:prstGeom>
          <a:noFill/>
        </p:spPr>
        <p:txBody>
          <a:bodyPr wrap="square" lIns="45720" rIns="45720" tIns="18288" bIns="18288" anchor="ctr">
            <a:spAutoFit/>
          </a:bodyPr>
          <a:lstStyle/>
          <a:p>
            <a:pPr algn="l"/>
            <a:r>
              <a:rPr sz="1200" b="0">
                <a:solidFill>
                  <a:srgbClr val="333333"/>
                </a:solidFill>
                <a:latin typeface="Hiragino Sans"/>
              </a:rPr>
              <a:t>Instantモードなら更に速い</a:t>
            </a:r>
          </a:p>
        </p:txBody>
      </p:sp>
      <p:sp>
        <p:nvSpPr>
          <p:cNvPr id="33" name="Down Arrow 32"/>
          <p:cNvSpPr/>
          <p:nvPr/>
        </p:nvSpPr>
        <p:spPr>
          <a:xfrm>
            <a:off x="868680" y="5376672"/>
            <a:ext cx="274320" cy="91440"/>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440680"/>
            <a:ext cx="914400" cy="8686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440680"/>
            <a:ext cx="914400" cy="868680"/>
          </a:xfrm>
          <a:prstGeom prst="rect">
            <a:avLst/>
          </a:prstGeom>
          <a:noFill/>
        </p:spPr>
        <p:txBody>
          <a:bodyPr wrap="square" lIns="45720" rIns="45720" tIns="18288" bIns="18288" anchor="ctr">
            <a:spAutoFit/>
          </a:bodyPr>
          <a:lstStyle/>
          <a:p>
            <a:pPr algn="ctr"/>
            <a:r>
              <a:rPr sz="1400" b="1">
                <a:solidFill>
                  <a:srgbClr val="FFFFFF"/>
                </a:solidFill>
                <a:latin typeface="Hiragino Sans"/>
              </a:rPr>
              <a:t>STEP 5</a:t>
            </a:r>
          </a:p>
        </p:txBody>
      </p:sp>
      <p:sp>
        <p:nvSpPr>
          <p:cNvPr id="36" name="Rectangle 35"/>
          <p:cNvSpPr/>
          <p:nvPr/>
        </p:nvSpPr>
        <p:spPr>
          <a:xfrm>
            <a:off x="1463040" y="5440680"/>
            <a:ext cx="10149840" cy="86868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91640" y="5440680"/>
            <a:ext cx="6858000" cy="868680"/>
          </a:xfrm>
          <a:prstGeom prst="rect">
            <a:avLst/>
          </a:prstGeom>
          <a:noFill/>
        </p:spPr>
        <p:txBody>
          <a:bodyPr wrap="square" lIns="45720" rIns="45720" tIns="18288" bIns="18288" anchor="ctr">
            <a:spAutoFit/>
          </a:bodyPr>
          <a:lstStyle/>
          <a:p>
            <a:pPr algn="l"/>
            <a:r>
              <a:rPr sz="1600" b="1">
                <a:solidFill>
                  <a:srgbClr val="0B1B3F"/>
                </a:solidFill>
                <a:latin typeface="Hiragino Sans"/>
              </a:rPr>
              <a:t>チャット欄に画像が表示される</a:t>
            </a:r>
          </a:p>
        </p:txBody>
      </p:sp>
      <p:sp>
        <p:nvSpPr>
          <p:cNvPr id="38" name="TextBox 37"/>
          <p:cNvSpPr txBox="1"/>
          <p:nvPr/>
        </p:nvSpPr>
        <p:spPr>
          <a:xfrm>
            <a:off x="8595360" y="5440680"/>
            <a:ext cx="2926080" cy="868680"/>
          </a:xfrm>
          <a:prstGeom prst="rect">
            <a:avLst/>
          </a:prstGeom>
          <a:noFill/>
        </p:spPr>
        <p:txBody>
          <a:bodyPr wrap="square" lIns="45720" rIns="45720" tIns="18288" bIns="18288" anchor="ctr">
            <a:spAutoFit/>
          </a:bodyPr>
          <a:lstStyle/>
          <a:p>
            <a:pPr algn="l"/>
            <a:r>
              <a:rPr sz="1200" b="0">
                <a:solidFill>
                  <a:srgbClr val="333333"/>
                </a:solidFill>
                <a:latin typeface="Hiragino Sans"/>
              </a:rPr>
              <a:t>タップで拡大 → 保存可能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1｜基本操作</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15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アスペクト比の使い分け</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用途で選ぶ ― 迷ったら下のうちのどれか</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95447" y="2011680"/>
            <a:ext cx="2377440" cy="1335024"/>
          </a:xfrm>
          <a:prstGeom prst="rect">
            <a:avLst/>
          </a:prstGeom>
          <a:solidFill>
            <a:srgbClr val="E8EEF7"/>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5447" y="2011680"/>
            <a:ext cx="2377440" cy="1335024"/>
          </a:xfrm>
          <a:prstGeom prst="rect">
            <a:avLst/>
          </a:prstGeom>
          <a:noFill/>
        </p:spPr>
        <p:txBody>
          <a:bodyPr wrap="square" lIns="45720" rIns="45720" tIns="18288" bIns="18288" anchor="ctr">
            <a:spAutoFit/>
          </a:bodyPr>
          <a:lstStyle/>
          <a:p>
            <a:pPr algn="ctr"/>
            <a:r>
              <a:rPr sz="3000" b="1">
                <a:solidFill>
                  <a:srgbClr val="0B1B3F"/>
                </a:solidFill>
                <a:latin typeface="Hiragino Sans"/>
              </a:rPr>
              <a:t>16:9</a:t>
            </a:r>
          </a:p>
        </p:txBody>
      </p:sp>
      <p:sp>
        <p:nvSpPr>
          <p:cNvPr id="12" name="TextBox 11"/>
          <p:cNvSpPr txBox="1"/>
          <p:nvPr/>
        </p:nvSpPr>
        <p:spPr>
          <a:xfrm>
            <a:off x="2712567" y="3666744"/>
            <a:ext cx="2743200" cy="777240"/>
          </a:xfrm>
          <a:prstGeom prst="rect">
            <a:avLst/>
          </a:prstGeom>
          <a:noFill/>
        </p:spPr>
        <p:txBody>
          <a:bodyPr wrap="square" lIns="45720" rIns="45720" tIns="18288" bIns="18288" anchor="t">
            <a:spAutoFit/>
          </a:bodyPr>
          <a:lstStyle/>
          <a:p>
            <a:pPr algn="ctr"/>
            <a:r>
              <a:rPr sz="1200" b="0">
                <a:solidFill>
                  <a:srgbClr val="333333"/>
                </a:solidFill>
                <a:latin typeface="Hiragino Sans"/>
              </a:rPr>
              <a:t>YouTubeサムネイル</a:t>
            </a:r>
          </a:p>
          <a:p>
            <a:pPr algn="ctr"/>
            <a:r>
              <a:rPr sz="1200" b="0">
                <a:solidFill>
                  <a:srgbClr val="333333"/>
                </a:solidFill>
                <a:latin typeface="Hiragino Sans"/>
              </a:rPr>
              <a:t>スライド表紙</a:t>
            </a:r>
          </a:p>
        </p:txBody>
      </p:sp>
      <p:sp>
        <p:nvSpPr>
          <p:cNvPr id="13" name="Rectangle 12"/>
          <p:cNvSpPr/>
          <p:nvPr/>
        </p:nvSpPr>
        <p:spPr>
          <a:xfrm>
            <a:off x="6004407" y="1901952"/>
            <a:ext cx="1554480" cy="1554480"/>
          </a:xfrm>
          <a:prstGeom prst="rect">
            <a:avLst/>
          </a:prstGeom>
          <a:solidFill>
            <a:srgbClr val="E8EEF7"/>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04407" y="1901952"/>
            <a:ext cx="1554480" cy="1554480"/>
          </a:xfrm>
          <a:prstGeom prst="rect">
            <a:avLst/>
          </a:prstGeom>
          <a:noFill/>
        </p:spPr>
        <p:txBody>
          <a:bodyPr wrap="square" lIns="45720" rIns="45720" tIns="18288" bIns="18288" anchor="ctr">
            <a:spAutoFit/>
          </a:bodyPr>
          <a:lstStyle/>
          <a:p>
            <a:pPr algn="ctr"/>
            <a:r>
              <a:rPr sz="3000" b="1">
                <a:solidFill>
                  <a:srgbClr val="0B1B3F"/>
                </a:solidFill>
                <a:latin typeface="Hiragino Sans"/>
              </a:rPr>
              <a:t>1:1</a:t>
            </a:r>
          </a:p>
        </p:txBody>
      </p:sp>
      <p:sp>
        <p:nvSpPr>
          <p:cNvPr id="15" name="TextBox 14"/>
          <p:cNvSpPr txBox="1"/>
          <p:nvPr/>
        </p:nvSpPr>
        <p:spPr>
          <a:xfrm>
            <a:off x="5821527" y="3666744"/>
            <a:ext cx="1920240" cy="777240"/>
          </a:xfrm>
          <a:prstGeom prst="rect">
            <a:avLst/>
          </a:prstGeom>
          <a:noFill/>
        </p:spPr>
        <p:txBody>
          <a:bodyPr wrap="square" lIns="45720" rIns="45720" tIns="18288" bIns="18288" anchor="t">
            <a:spAutoFit/>
          </a:bodyPr>
          <a:lstStyle/>
          <a:p>
            <a:pPr algn="ctr"/>
            <a:r>
              <a:rPr sz="1200" b="0">
                <a:solidFill>
                  <a:srgbClr val="333333"/>
                </a:solidFill>
                <a:latin typeface="Hiragino Sans"/>
              </a:rPr>
              <a:t>Instagram投稿</a:t>
            </a:r>
          </a:p>
          <a:p>
            <a:pPr algn="ctr"/>
            <a:r>
              <a:rPr sz="1200" b="0">
                <a:solidFill>
                  <a:srgbClr val="333333"/>
                </a:solidFill>
                <a:latin typeface="Hiragino Sans"/>
              </a:rPr>
              <a:t>アイコン</a:t>
            </a:r>
          </a:p>
        </p:txBody>
      </p:sp>
      <p:sp>
        <p:nvSpPr>
          <p:cNvPr id="16" name="Rectangle 15"/>
          <p:cNvSpPr/>
          <p:nvPr/>
        </p:nvSpPr>
        <p:spPr>
          <a:xfrm>
            <a:off x="8290407" y="1783080"/>
            <a:ext cx="1005840" cy="1792224"/>
          </a:xfrm>
          <a:prstGeom prst="rect">
            <a:avLst/>
          </a:prstGeom>
          <a:solidFill>
            <a:srgbClr val="E8EEF7"/>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407" y="1783080"/>
            <a:ext cx="1005840" cy="1792224"/>
          </a:xfrm>
          <a:prstGeom prst="rect">
            <a:avLst/>
          </a:prstGeom>
          <a:noFill/>
        </p:spPr>
        <p:txBody>
          <a:bodyPr wrap="square" lIns="45720" rIns="45720" tIns="18288" bIns="18288" anchor="ctr">
            <a:spAutoFit/>
          </a:bodyPr>
          <a:lstStyle/>
          <a:p>
            <a:pPr algn="ctr"/>
            <a:r>
              <a:rPr sz="3000" b="1">
                <a:solidFill>
                  <a:srgbClr val="0B1B3F"/>
                </a:solidFill>
                <a:latin typeface="Hiragino Sans"/>
              </a:rPr>
              <a:t>9:16</a:t>
            </a:r>
          </a:p>
        </p:txBody>
      </p:sp>
      <p:sp>
        <p:nvSpPr>
          <p:cNvPr id="18" name="TextBox 17"/>
          <p:cNvSpPr txBox="1"/>
          <p:nvPr/>
        </p:nvSpPr>
        <p:spPr>
          <a:xfrm>
            <a:off x="8107527" y="3666744"/>
            <a:ext cx="1371600" cy="777240"/>
          </a:xfrm>
          <a:prstGeom prst="rect">
            <a:avLst/>
          </a:prstGeom>
          <a:noFill/>
        </p:spPr>
        <p:txBody>
          <a:bodyPr wrap="square" lIns="45720" rIns="45720" tIns="18288" bIns="18288" anchor="t">
            <a:spAutoFit/>
          </a:bodyPr>
          <a:lstStyle/>
          <a:p>
            <a:pPr algn="ctr"/>
            <a:r>
              <a:rPr sz="1200" b="0">
                <a:solidFill>
                  <a:srgbClr val="333333"/>
                </a:solidFill>
                <a:latin typeface="Hiragino Sans"/>
              </a:rPr>
              <a:t>Instagramストーリー</a:t>
            </a:r>
          </a:p>
          <a:p>
            <a:pPr algn="ctr"/>
            <a:r>
              <a:rPr sz="1200" b="0">
                <a:solidFill>
                  <a:srgbClr val="333333"/>
                </a:solidFill>
                <a:latin typeface="Hiragino Sans"/>
              </a:rPr>
              <a:t>TikTok</a:t>
            </a:r>
          </a:p>
        </p:txBody>
      </p:sp>
      <p:graphicFrame>
        <p:nvGraphicFramePr>
          <p:cNvPr id="19" name="Table 18"/>
          <p:cNvGraphicFramePr>
            <a:graphicFrameLocks noGrp="1"/>
          </p:cNvGraphicFramePr>
          <p:nvPr/>
        </p:nvGraphicFramePr>
        <p:xfrm>
          <a:off x="2286000" y="4572000"/>
          <a:ext cx="7589520" cy="1353312"/>
        </p:xfrm>
        <a:graphic>
          <a:graphicData uri="http://schemas.openxmlformats.org/drawingml/2006/table">
            <a:tbl>
              <a:tblPr firstRow="1" bandRow="1">
                <a:tableStyleId>{5C22544A-7EE6-4342-B048-85BDC9FD1C3A}</a:tableStyleId>
              </a:tblPr>
              <a:tblGrid>
                <a:gridCol w="4553712"/>
                <a:gridCol w="3035808"/>
              </a:tblGrid>
              <a:tr h="365760">
                <a:tc>
                  <a:txBody>
                    <a:bodyPr/>
                    <a:lstStyle/>
                    <a:p>
                      <a:pPr algn="ctr"/>
                      <a:r>
                        <a:rPr sz="1300" b="1">
                          <a:solidFill>
                            <a:srgbClr val="FFFFFF"/>
                          </a:solidFill>
                          <a:latin typeface="Hiragino Sans"/>
                        </a:rPr>
                        <a:t>用途</a:t>
                      </a:r>
                    </a:p>
                  </a:txBody>
                  <a:tcPr marL="73152" marR="73152" marT="45720" marB="45720" anchor="ctr">
                    <a:solidFill>
                      <a:srgbClr val="142A5C"/>
                    </a:solidFill>
                  </a:tcPr>
                </a:tc>
                <a:tc>
                  <a:txBody>
                    <a:bodyPr/>
                    <a:lstStyle/>
                    <a:p>
                      <a:pPr algn="ctr"/>
                      <a:r>
                        <a:rPr sz="1300" b="1">
                          <a:solidFill>
                            <a:srgbClr val="FFFFFF"/>
                          </a:solidFill>
                          <a:latin typeface="Hiragino Sans"/>
                        </a:rPr>
                        <a:t>推奨アスペクト比</a:t>
                      </a:r>
                    </a:p>
                  </a:txBody>
                  <a:tcPr marL="73152" marR="73152" marT="45720" marB="45720" anchor="ctr">
                    <a:solidFill>
                      <a:srgbClr val="142A5C"/>
                    </a:solidFill>
                  </a:tcPr>
                </a:tc>
              </a:tr>
              <a:tr h="329184">
                <a:tc>
                  <a:txBody>
                    <a:bodyPr wrap="square"/>
                    <a:lstStyle/>
                    <a:p>
                      <a:pPr algn="l"/>
                      <a:r>
                        <a:rPr sz="1300" b="1">
                          <a:solidFill>
                            <a:srgbClr val="0B1B3F"/>
                          </a:solidFill>
                          <a:latin typeface="Hiragino Sans"/>
                        </a:rPr>
                        <a:t>YouTubeサムネイル／スライド表紙</a:t>
                      </a:r>
                    </a:p>
                  </a:txBody>
                  <a:tcPr marL="91440" marR="91440" marT="45720" marB="45720" anchor="ctr">
                    <a:solidFill>
                      <a:srgbClr val="E8EEF7"/>
                    </a:solidFill>
                  </a:tcPr>
                </a:tc>
                <a:tc>
                  <a:txBody>
                    <a:bodyPr wrap="square"/>
                    <a:lstStyle/>
                    <a:p>
                      <a:pPr algn="ctr"/>
                      <a:r>
                        <a:rPr sz="1300" b="0">
                          <a:solidFill>
                            <a:srgbClr val="333333"/>
                          </a:solidFill>
                          <a:latin typeface="Hiragino Sans"/>
                        </a:rPr>
                        <a:t>16 : 9</a:t>
                      </a:r>
                    </a:p>
                  </a:txBody>
                  <a:tcPr marL="91440" marR="91440" marT="45720" marB="45720" anchor="ctr">
                    <a:solidFill>
                      <a:srgbClr val="E8EEF7"/>
                    </a:solidFill>
                  </a:tcPr>
                </a:tc>
              </a:tr>
              <a:tr h="329184">
                <a:tc>
                  <a:txBody>
                    <a:bodyPr wrap="square"/>
                    <a:lstStyle/>
                    <a:p>
                      <a:pPr algn="l"/>
                      <a:r>
                        <a:rPr sz="1300" b="1">
                          <a:solidFill>
                            <a:srgbClr val="0B1B3F"/>
                          </a:solidFill>
                          <a:latin typeface="Hiragino Sans"/>
                        </a:rPr>
                        <a:t>Instagram投稿／アイコン</a:t>
                      </a:r>
                    </a:p>
                  </a:txBody>
                  <a:tcPr marL="91440" marR="91440" marT="45720" marB="45720" anchor="ctr">
                    <a:solidFill>
                      <a:srgbClr val="FFFFFF"/>
                    </a:solidFill>
                  </a:tcPr>
                </a:tc>
                <a:tc>
                  <a:txBody>
                    <a:bodyPr wrap="square"/>
                    <a:lstStyle/>
                    <a:p>
                      <a:pPr algn="ctr"/>
                      <a:r>
                        <a:rPr sz="1300" b="0">
                          <a:solidFill>
                            <a:srgbClr val="333333"/>
                          </a:solidFill>
                          <a:latin typeface="Hiragino Sans"/>
                        </a:rPr>
                        <a:t>1 : 1</a:t>
                      </a:r>
                    </a:p>
                  </a:txBody>
                  <a:tcPr marL="91440" marR="91440" marT="45720" marB="45720" anchor="ctr">
                    <a:solidFill>
                      <a:srgbClr val="FFFFFF"/>
                    </a:solidFill>
                  </a:tcPr>
                </a:tc>
              </a:tr>
              <a:tr h="329184">
                <a:tc>
                  <a:txBody>
                    <a:bodyPr wrap="square"/>
                    <a:lstStyle/>
                    <a:p>
                      <a:pPr algn="l"/>
                      <a:r>
                        <a:rPr sz="1300" b="1">
                          <a:solidFill>
                            <a:srgbClr val="0B1B3F"/>
                          </a:solidFill>
                          <a:latin typeface="Hiragino Sans"/>
                        </a:rPr>
                        <a:t>Instagramストーリー／TikTok</a:t>
                      </a:r>
                    </a:p>
                  </a:txBody>
                  <a:tcPr marL="91440" marR="91440" marT="45720" marB="45720" anchor="ctr">
                    <a:solidFill>
                      <a:srgbClr val="E8EEF7"/>
                    </a:solidFill>
                  </a:tcPr>
                </a:tc>
                <a:tc>
                  <a:txBody>
                    <a:bodyPr wrap="square"/>
                    <a:lstStyle/>
                    <a:p>
                      <a:pPr algn="ctr"/>
                      <a:r>
                        <a:rPr sz="1300" b="0">
                          <a:solidFill>
                            <a:srgbClr val="333333"/>
                          </a:solidFill>
                          <a:latin typeface="Hiragino Sans"/>
                        </a:rPr>
                        <a:t>9 : 16</a:t>
                      </a:r>
                    </a:p>
                  </a:txBody>
                  <a:tcPr marL="91440" marR="91440" marT="45720" marB="45720" anchor="ctr">
                    <a:solidFill>
                      <a:srgbClr val="E8EEF7"/>
                    </a:solidFill>
                  </a:tcPr>
                </a:tc>
              </a:tr>
            </a:tbl>
          </a:graphicData>
        </a:graphic>
      </p:graphicFrame>
      <p:sp>
        <p:nvSpPr>
          <p:cNvPr id="20" name="Rectangle 19"/>
          <p:cNvSpPr/>
          <p:nvPr/>
        </p:nvSpPr>
        <p:spPr>
          <a:xfrm>
            <a:off x="548640" y="6035040"/>
            <a:ext cx="1097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6035040"/>
            <a:ext cx="10954512" cy="59436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6035040"/>
            <a:ext cx="1060704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メッセージ：プロンプトに直接入れる、または生成後に「16:9で作り直して」と追加指示する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1｜基本操作</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16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iPadへの画像保存 ― 2つの保存先</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目的に合わせて選ぶ</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828800"/>
            <a:ext cx="5394960" cy="3017520"/>
          </a:xfrm>
          <a:prstGeom prst="roundRect">
            <a:avLst>
              <a:gd name="adj" fmla="val 5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28800"/>
            <a:ext cx="5394960" cy="6400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28800"/>
            <a:ext cx="5394960" cy="640080"/>
          </a:xfrm>
          <a:prstGeom prst="rect">
            <a:avLst/>
          </a:prstGeom>
          <a:noFill/>
        </p:spPr>
        <p:txBody>
          <a:bodyPr wrap="square" lIns="45720" rIns="45720" tIns="18288" bIns="18288" anchor="ctr">
            <a:spAutoFit/>
          </a:bodyPr>
          <a:lstStyle/>
          <a:p>
            <a:pPr algn="ctr"/>
            <a:r>
              <a:rPr sz="2200" b="1">
                <a:solidFill>
                  <a:srgbClr val="FFFFFF"/>
                </a:solidFill>
                <a:latin typeface="Hiragino Sans"/>
              </a:rPr>
              <a:t>📷  写真アプリ</a:t>
            </a:r>
          </a:p>
        </p:txBody>
      </p:sp>
      <p:sp>
        <p:nvSpPr>
          <p:cNvPr id="13" name="Oval 12"/>
          <p:cNvSpPr/>
          <p:nvPr/>
        </p:nvSpPr>
        <p:spPr>
          <a:xfrm>
            <a:off x="868680" y="2816352"/>
            <a:ext cx="164592" cy="164592"/>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2697480"/>
            <a:ext cx="4754880" cy="457200"/>
          </a:xfrm>
          <a:prstGeom prst="rect">
            <a:avLst/>
          </a:prstGeom>
          <a:noFill/>
        </p:spPr>
        <p:txBody>
          <a:bodyPr wrap="square" lIns="45720" rIns="45720" tIns="18288" bIns="18288" anchor="ctr">
            <a:spAutoFit/>
          </a:bodyPr>
          <a:lstStyle/>
          <a:p>
            <a:pPr algn="l"/>
            <a:r>
              <a:rPr sz="1400" b="0">
                <a:solidFill>
                  <a:srgbClr val="333333"/>
                </a:solidFill>
                <a:latin typeface="Hiragino Sans"/>
              </a:rPr>
              <a:t>SNS投稿に最適</a:t>
            </a:r>
          </a:p>
        </p:txBody>
      </p:sp>
      <p:sp>
        <p:nvSpPr>
          <p:cNvPr id="15" name="Oval 14"/>
          <p:cNvSpPr/>
          <p:nvPr/>
        </p:nvSpPr>
        <p:spPr>
          <a:xfrm>
            <a:off x="868680" y="3273552"/>
            <a:ext cx="164592" cy="164592"/>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3154680"/>
            <a:ext cx="4754880" cy="457200"/>
          </a:xfrm>
          <a:prstGeom prst="rect">
            <a:avLst/>
          </a:prstGeom>
          <a:noFill/>
        </p:spPr>
        <p:txBody>
          <a:bodyPr wrap="square" lIns="45720" rIns="45720" tIns="18288" bIns="18288" anchor="ctr">
            <a:spAutoFit/>
          </a:bodyPr>
          <a:lstStyle/>
          <a:p>
            <a:pPr algn="l"/>
            <a:r>
              <a:rPr sz="1400" b="0">
                <a:solidFill>
                  <a:srgbClr val="333333"/>
                </a:solidFill>
                <a:latin typeface="Hiragino Sans"/>
              </a:rPr>
              <a:t>Keynoteクイック貼り付け</a:t>
            </a:r>
          </a:p>
        </p:txBody>
      </p:sp>
      <p:sp>
        <p:nvSpPr>
          <p:cNvPr id="17" name="Oval 16"/>
          <p:cNvSpPr/>
          <p:nvPr/>
        </p:nvSpPr>
        <p:spPr>
          <a:xfrm>
            <a:off x="868680" y="3730752"/>
            <a:ext cx="164592" cy="164592"/>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611880"/>
            <a:ext cx="4754880" cy="457200"/>
          </a:xfrm>
          <a:prstGeom prst="rect">
            <a:avLst/>
          </a:prstGeom>
          <a:noFill/>
        </p:spPr>
        <p:txBody>
          <a:bodyPr wrap="square" lIns="45720" rIns="45720" tIns="18288" bIns="18288" anchor="ctr">
            <a:spAutoFit/>
          </a:bodyPr>
          <a:lstStyle/>
          <a:p>
            <a:pPr algn="l"/>
            <a:r>
              <a:rPr sz="1400" b="0">
                <a:solidFill>
                  <a:srgbClr val="333333"/>
                </a:solidFill>
                <a:latin typeface="Hiragino Sans"/>
              </a:rPr>
              <a:t>iPhoneとも自動同期（iCloud写真）</a:t>
            </a:r>
          </a:p>
        </p:txBody>
      </p:sp>
      <p:sp>
        <p:nvSpPr>
          <p:cNvPr id="19" name="Rounded Rectangle 18"/>
          <p:cNvSpPr/>
          <p:nvPr/>
        </p:nvSpPr>
        <p:spPr>
          <a:xfrm>
            <a:off x="6263640" y="1828800"/>
            <a:ext cx="5394960" cy="3017520"/>
          </a:xfrm>
          <a:prstGeom prst="roundRect">
            <a:avLst>
              <a:gd name="adj" fmla="val 5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828800"/>
            <a:ext cx="5394960" cy="6400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1828800"/>
            <a:ext cx="5394960" cy="640080"/>
          </a:xfrm>
          <a:prstGeom prst="rect">
            <a:avLst/>
          </a:prstGeom>
          <a:noFill/>
        </p:spPr>
        <p:txBody>
          <a:bodyPr wrap="square" lIns="45720" rIns="45720" tIns="18288" bIns="18288" anchor="ctr">
            <a:spAutoFit/>
          </a:bodyPr>
          <a:lstStyle/>
          <a:p>
            <a:pPr algn="ctr"/>
            <a:r>
              <a:rPr sz="2000" b="1">
                <a:solidFill>
                  <a:srgbClr val="FFFFFF"/>
                </a:solidFill>
                <a:latin typeface="Hiragino Sans"/>
              </a:rPr>
              <a:t>📁  ファイルアプリ（iCloud Drive等）</a:t>
            </a:r>
          </a:p>
        </p:txBody>
      </p:sp>
      <p:sp>
        <p:nvSpPr>
          <p:cNvPr id="22" name="Oval 21"/>
          <p:cNvSpPr/>
          <p:nvPr/>
        </p:nvSpPr>
        <p:spPr>
          <a:xfrm>
            <a:off x="6583680" y="2816352"/>
            <a:ext cx="164592" cy="164592"/>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2697480"/>
            <a:ext cx="4754880" cy="457200"/>
          </a:xfrm>
          <a:prstGeom prst="rect">
            <a:avLst/>
          </a:prstGeom>
          <a:noFill/>
        </p:spPr>
        <p:txBody>
          <a:bodyPr wrap="square" lIns="45720" rIns="45720" tIns="18288" bIns="18288" anchor="ctr">
            <a:spAutoFit/>
          </a:bodyPr>
          <a:lstStyle/>
          <a:p>
            <a:pPr algn="l"/>
            <a:r>
              <a:rPr sz="1400" b="0">
                <a:solidFill>
                  <a:srgbClr val="333333"/>
                </a:solidFill>
                <a:latin typeface="Hiragino Sans"/>
              </a:rPr>
              <a:t>他端末との共有・同期</a:t>
            </a:r>
          </a:p>
        </p:txBody>
      </p:sp>
      <p:sp>
        <p:nvSpPr>
          <p:cNvPr id="24" name="Oval 23"/>
          <p:cNvSpPr/>
          <p:nvPr/>
        </p:nvSpPr>
        <p:spPr>
          <a:xfrm>
            <a:off x="6583680" y="3273552"/>
            <a:ext cx="164592" cy="164592"/>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3154680"/>
            <a:ext cx="4754880" cy="457200"/>
          </a:xfrm>
          <a:prstGeom prst="rect">
            <a:avLst/>
          </a:prstGeom>
          <a:noFill/>
        </p:spPr>
        <p:txBody>
          <a:bodyPr wrap="square" lIns="45720" rIns="45720" tIns="18288" bIns="18288" anchor="ctr">
            <a:spAutoFit/>
          </a:bodyPr>
          <a:lstStyle/>
          <a:p>
            <a:pPr algn="l"/>
            <a:r>
              <a:rPr sz="1400" b="0">
                <a:solidFill>
                  <a:srgbClr val="333333"/>
                </a:solidFill>
                <a:latin typeface="Hiragino Sans"/>
              </a:rPr>
              <a:t>Claudeに添付して連携</a:t>
            </a:r>
          </a:p>
        </p:txBody>
      </p:sp>
      <p:sp>
        <p:nvSpPr>
          <p:cNvPr id="26" name="Oval 25"/>
          <p:cNvSpPr/>
          <p:nvPr/>
        </p:nvSpPr>
        <p:spPr>
          <a:xfrm>
            <a:off x="6583680" y="3730752"/>
            <a:ext cx="164592" cy="164592"/>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3611880"/>
            <a:ext cx="4754880" cy="457200"/>
          </a:xfrm>
          <a:prstGeom prst="rect">
            <a:avLst/>
          </a:prstGeom>
          <a:noFill/>
        </p:spPr>
        <p:txBody>
          <a:bodyPr wrap="square" lIns="45720" rIns="45720" tIns="18288" bIns="18288" anchor="ctr">
            <a:spAutoFit/>
          </a:bodyPr>
          <a:lstStyle/>
          <a:p>
            <a:pPr algn="l"/>
            <a:r>
              <a:rPr sz="1400" b="0">
                <a:solidFill>
                  <a:srgbClr val="333333"/>
                </a:solidFill>
                <a:latin typeface="Hiragino Sans"/>
              </a:rPr>
              <a:t>フォルダで整理・案件別管理</a:t>
            </a:r>
          </a:p>
        </p:txBody>
      </p:sp>
      <p:sp>
        <p:nvSpPr>
          <p:cNvPr id="28" name="TextBox 27"/>
          <p:cNvSpPr txBox="1"/>
          <p:nvPr/>
        </p:nvSpPr>
        <p:spPr>
          <a:xfrm>
            <a:off x="548640" y="5029200"/>
            <a:ext cx="11064240" cy="365760"/>
          </a:xfrm>
          <a:prstGeom prst="rect">
            <a:avLst/>
          </a:prstGeom>
          <a:noFill/>
        </p:spPr>
        <p:txBody>
          <a:bodyPr wrap="square" lIns="45720" rIns="45720" tIns="18288" bIns="18288" anchor="t">
            <a:spAutoFit/>
          </a:bodyPr>
          <a:lstStyle/>
          <a:p>
            <a:pPr algn="l"/>
            <a:r>
              <a:rPr sz="1300" b="1">
                <a:solidFill>
                  <a:srgbClr val="0B1B3F"/>
                </a:solidFill>
                <a:latin typeface="Hiragino Sans"/>
              </a:rPr>
              <a:t>▼  操作の流れ</a:t>
            </a:r>
          </a:p>
        </p:txBody>
      </p:sp>
      <p:sp>
        <p:nvSpPr>
          <p:cNvPr id="29" name="Rounded Rectangle 28"/>
          <p:cNvSpPr/>
          <p:nvPr/>
        </p:nvSpPr>
        <p:spPr>
          <a:xfrm>
            <a:off x="655167" y="5486400"/>
            <a:ext cx="3383280" cy="777240"/>
          </a:xfrm>
          <a:prstGeom prst="roundRect">
            <a:avLst>
              <a:gd name="adj" fmla="val 10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167" y="5486400"/>
            <a:ext cx="3383280" cy="777240"/>
          </a:xfrm>
          <a:prstGeom prst="rect">
            <a:avLst/>
          </a:prstGeom>
          <a:noFill/>
        </p:spPr>
        <p:txBody>
          <a:bodyPr wrap="square" lIns="45720" rIns="45720" tIns="18288" bIns="18288" anchor="ctr">
            <a:spAutoFit/>
          </a:bodyPr>
          <a:lstStyle/>
          <a:p>
            <a:pPr algn="ctr"/>
            <a:r>
              <a:rPr sz="1400" b="1">
                <a:solidFill>
                  <a:srgbClr val="0B1B3F"/>
                </a:solidFill>
                <a:latin typeface="Hiragino Sans"/>
              </a:rPr>
              <a:t>画像をタップ拡大</a:t>
            </a:r>
          </a:p>
        </p:txBody>
      </p:sp>
      <p:sp>
        <p:nvSpPr>
          <p:cNvPr id="31" name="Right Arrow 30"/>
          <p:cNvSpPr/>
          <p:nvPr/>
        </p:nvSpPr>
        <p:spPr>
          <a:xfrm>
            <a:off x="4038447" y="5715000"/>
            <a:ext cx="365760" cy="320040"/>
          </a:xfrm>
          <a:prstGeom prst="rightArrow">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404207" y="5486400"/>
            <a:ext cx="3383280" cy="777240"/>
          </a:xfrm>
          <a:prstGeom prst="roundRect">
            <a:avLst>
              <a:gd name="adj" fmla="val 10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04207" y="5486400"/>
            <a:ext cx="3383280" cy="777240"/>
          </a:xfrm>
          <a:prstGeom prst="rect">
            <a:avLst/>
          </a:prstGeom>
          <a:noFill/>
        </p:spPr>
        <p:txBody>
          <a:bodyPr wrap="square" lIns="45720" rIns="45720" tIns="18288" bIns="18288" anchor="ctr">
            <a:spAutoFit/>
          </a:bodyPr>
          <a:lstStyle/>
          <a:p>
            <a:pPr algn="ctr"/>
            <a:r>
              <a:rPr sz="1400" b="1">
                <a:solidFill>
                  <a:srgbClr val="0B1B3F"/>
                </a:solidFill>
                <a:latin typeface="Hiragino Sans"/>
              </a:rPr>
              <a:t>右上の共有アイコン</a:t>
            </a:r>
          </a:p>
        </p:txBody>
      </p:sp>
      <p:sp>
        <p:nvSpPr>
          <p:cNvPr id="34" name="Right Arrow 33"/>
          <p:cNvSpPr/>
          <p:nvPr/>
        </p:nvSpPr>
        <p:spPr>
          <a:xfrm>
            <a:off x="7787487" y="5715000"/>
            <a:ext cx="365760" cy="320040"/>
          </a:xfrm>
          <a:prstGeom prst="rightArrow">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153247" y="5486400"/>
            <a:ext cx="3383280" cy="777240"/>
          </a:xfrm>
          <a:prstGeom prst="roundRect">
            <a:avLst>
              <a:gd name="adj" fmla="val 10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53247" y="5486400"/>
            <a:ext cx="3383280" cy="777240"/>
          </a:xfrm>
          <a:prstGeom prst="rect">
            <a:avLst/>
          </a:prstGeom>
          <a:noFill/>
        </p:spPr>
        <p:txBody>
          <a:bodyPr wrap="square" lIns="45720" rIns="45720" tIns="18288" bIns="18288" anchor="ctr">
            <a:spAutoFit/>
          </a:bodyPr>
          <a:lstStyle/>
          <a:p>
            <a:pPr algn="ctr"/>
            <a:r>
              <a:rPr sz="1400" b="1">
                <a:solidFill>
                  <a:srgbClr val="0B1B3F"/>
                </a:solidFill>
                <a:latin typeface="Hiragino Sans"/>
              </a:rPr>
              <a:t>「画像を保存」 or 「ファイルに保存」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1｜基本操作</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17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 透過代替テクニック ― 白背景生成＋被写体抜き出し</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GPT Image 2は透過PNG非対応 → iPadのネイティブ機能で補完できる</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66647" y="1783080"/>
            <a:ext cx="10058400" cy="594360"/>
          </a:xfrm>
          <a:prstGeom prst="roundRect">
            <a:avLst>
              <a:gd name="adj" fmla="val 10000"/>
            </a:avLst>
          </a:prstGeom>
          <a:solidFill>
            <a:srgbClr val="E8EEF7"/>
          </a:solidFill>
          <a:ln w="1905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6647" y="1783080"/>
            <a:ext cx="164592" cy="59436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32407" y="1783080"/>
            <a:ext cx="960120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Step 1：プロンプトに「pure white background」を指定して生成</a:t>
            </a:r>
          </a:p>
        </p:txBody>
      </p:sp>
      <p:sp>
        <p:nvSpPr>
          <p:cNvPr id="13" name="Down Arrow 12"/>
          <p:cNvSpPr/>
          <p:nvPr/>
        </p:nvSpPr>
        <p:spPr>
          <a:xfrm>
            <a:off x="5958687" y="2382012"/>
            <a:ext cx="274320" cy="100584"/>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66647" y="2487168"/>
            <a:ext cx="10058400" cy="594360"/>
          </a:xfrm>
          <a:prstGeom prst="roundRect">
            <a:avLst>
              <a:gd name="adj" fmla="val 10000"/>
            </a:avLst>
          </a:prstGeom>
          <a:solidFill>
            <a:srgbClr val="FFFFFF"/>
          </a:solidFill>
          <a:ln w="1905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66647" y="2487168"/>
            <a:ext cx="164592" cy="59436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32407" y="2487168"/>
            <a:ext cx="960120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Step 2：写真アプリに保存</a:t>
            </a:r>
          </a:p>
        </p:txBody>
      </p:sp>
      <p:sp>
        <p:nvSpPr>
          <p:cNvPr id="17" name="Down Arrow 16"/>
          <p:cNvSpPr/>
          <p:nvPr/>
        </p:nvSpPr>
        <p:spPr>
          <a:xfrm>
            <a:off x="5958687" y="3086100"/>
            <a:ext cx="274320" cy="100584"/>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66647" y="3191256"/>
            <a:ext cx="10058400" cy="594360"/>
          </a:xfrm>
          <a:prstGeom prst="roundRect">
            <a:avLst>
              <a:gd name="adj" fmla="val 10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66647" y="3191256"/>
            <a:ext cx="164592"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2407" y="3191256"/>
            <a:ext cx="960120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Step 3：写真アプリで画像を開いて被写体を長押し</a:t>
            </a:r>
          </a:p>
        </p:txBody>
      </p:sp>
      <p:sp>
        <p:nvSpPr>
          <p:cNvPr id="21" name="Down Arrow 20"/>
          <p:cNvSpPr/>
          <p:nvPr/>
        </p:nvSpPr>
        <p:spPr>
          <a:xfrm>
            <a:off x="5958687" y="3790188"/>
            <a:ext cx="274320" cy="100584"/>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66647" y="3895344"/>
            <a:ext cx="10058400" cy="594360"/>
          </a:xfrm>
          <a:prstGeom prst="roundRect">
            <a:avLst>
              <a:gd name="adj" fmla="val 10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6647" y="3895344"/>
            <a:ext cx="164592"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32407" y="3895344"/>
            <a:ext cx="960120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Step 4：被写体だけが浮き上がる（輪郭が光る）</a:t>
            </a:r>
          </a:p>
        </p:txBody>
      </p:sp>
      <p:sp>
        <p:nvSpPr>
          <p:cNvPr id="25" name="Down Arrow 24"/>
          <p:cNvSpPr/>
          <p:nvPr/>
        </p:nvSpPr>
        <p:spPr>
          <a:xfrm>
            <a:off x="5958687" y="4494276"/>
            <a:ext cx="274320" cy="100584"/>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66647" y="4599432"/>
            <a:ext cx="10058400" cy="594360"/>
          </a:xfrm>
          <a:prstGeom prst="roundRect">
            <a:avLst>
              <a:gd name="adj" fmla="val 10000"/>
            </a:avLst>
          </a:prstGeom>
          <a:solidFill>
            <a:srgbClr val="E8EEF7"/>
          </a:solidFill>
          <a:ln w="19050">
            <a:solidFill>
              <a:srgbClr val="0B1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66647" y="4599432"/>
            <a:ext cx="164592" cy="59436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32407" y="4599432"/>
            <a:ext cx="960120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Step 5：「コピー」or「ステッカーを追加」</a:t>
            </a:r>
          </a:p>
        </p:txBody>
      </p:sp>
      <p:sp>
        <p:nvSpPr>
          <p:cNvPr id="29" name="Down Arrow 28"/>
          <p:cNvSpPr/>
          <p:nvPr/>
        </p:nvSpPr>
        <p:spPr>
          <a:xfrm>
            <a:off x="5958687" y="5198364"/>
            <a:ext cx="274320" cy="100584"/>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66647" y="5303520"/>
            <a:ext cx="10058400" cy="594360"/>
          </a:xfrm>
          <a:prstGeom prst="roundRect">
            <a:avLst>
              <a:gd name="adj" fmla="val 10000"/>
            </a:avLst>
          </a:prstGeom>
          <a:solidFill>
            <a:srgbClr val="FFFFFF"/>
          </a:solidFill>
          <a:ln w="19050">
            <a:solidFill>
              <a:srgbClr val="0B1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66647" y="5303520"/>
            <a:ext cx="164592" cy="59436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32407" y="5303520"/>
            <a:ext cx="960120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Step 6：Keynote／Pages／メモなどに貼り付け  →  透過素材として使える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1｜基本操作</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18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プロンプトに入れる「白背景キーワード」</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コピペ用 ― この語を1つ含めるだけで抜きやすさが激変</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828800"/>
            <a:ext cx="11064240" cy="1005840"/>
          </a:xfrm>
          <a:prstGeom prst="roundRect">
            <a:avLst>
              <a:gd name="adj" fmla="val 5000"/>
            </a:avLst>
          </a:prstGeom>
          <a:solidFill>
            <a:srgbClr val="FFFFFF"/>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28800"/>
            <a:ext cx="164592" cy="10058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1993392"/>
            <a:ext cx="5486400" cy="676656"/>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1993392"/>
            <a:ext cx="5349240" cy="676656"/>
          </a:xfrm>
          <a:prstGeom prst="rect">
            <a:avLst/>
          </a:prstGeom>
          <a:noFill/>
        </p:spPr>
        <p:txBody>
          <a:bodyPr wrap="square" lIns="45720" rIns="45720" tIns="18288" bIns="18288" anchor="ctr">
            <a:spAutoFit/>
          </a:bodyPr>
          <a:lstStyle/>
          <a:p>
            <a:pPr algn="l"/>
            <a:r>
              <a:rPr sz="2000" b="1">
                <a:solidFill>
                  <a:srgbClr val="0B1B3F"/>
                </a:solidFill>
                <a:latin typeface="Menlo"/>
              </a:rPr>
              <a:t>pure white background</a:t>
            </a:r>
          </a:p>
        </p:txBody>
      </p:sp>
      <p:sp>
        <p:nvSpPr>
          <p:cNvPr id="14" name="TextBox 13"/>
          <p:cNvSpPr txBox="1"/>
          <p:nvPr/>
        </p:nvSpPr>
        <p:spPr>
          <a:xfrm>
            <a:off x="6583680" y="1828800"/>
            <a:ext cx="4937760" cy="1005840"/>
          </a:xfrm>
          <a:prstGeom prst="rect">
            <a:avLst/>
          </a:prstGeom>
          <a:noFill/>
        </p:spPr>
        <p:txBody>
          <a:bodyPr wrap="square" lIns="45720" rIns="45720" tIns="18288" bIns="18288" anchor="ctr">
            <a:spAutoFit/>
          </a:bodyPr>
          <a:lstStyle/>
          <a:p>
            <a:pPr algn="l"/>
            <a:r>
              <a:rPr sz="1800" b="1">
                <a:solidFill>
                  <a:srgbClr val="333333"/>
                </a:solidFill>
                <a:latin typeface="Hiragino Sans"/>
              </a:rPr>
              <a:t>▶  真っ白な背景</a:t>
            </a:r>
          </a:p>
        </p:txBody>
      </p:sp>
      <p:sp>
        <p:nvSpPr>
          <p:cNvPr id="15" name="Rounded Rectangle 14"/>
          <p:cNvSpPr/>
          <p:nvPr/>
        </p:nvSpPr>
        <p:spPr>
          <a:xfrm>
            <a:off x="548640" y="3017520"/>
            <a:ext cx="11064240" cy="1005840"/>
          </a:xfrm>
          <a:prstGeom prst="roundRect">
            <a:avLst>
              <a:gd name="adj" fmla="val 5000"/>
            </a:avLst>
          </a:prstGeom>
          <a:solidFill>
            <a:srgbClr val="FFFFFF"/>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17520"/>
            <a:ext cx="164592" cy="10058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182112"/>
            <a:ext cx="5486400" cy="676656"/>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182112"/>
            <a:ext cx="5349240" cy="676656"/>
          </a:xfrm>
          <a:prstGeom prst="rect">
            <a:avLst/>
          </a:prstGeom>
          <a:noFill/>
        </p:spPr>
        <p:txBody>
          <a:bodyPr wrap="square" lIns="45720" rIns="45720" tIns="18288" bIns="18288" anchor="ctr">
            <a:spAutoFit/>
          </a:bodyPr>
          <a:lstStyle/>
          <a:p>
            <a:pPr algn="l"/>
            <a:r>
              <a:rPr sz="2000" b="1">
                <a:solidFill>
                  <a:srgbClr val="0B1B3F"/>
                </a:solidFill>
                <a:latin typeface="Menlo"/>
              </a:rPr>
              <a:t>solid white background</a:t>
            </a:r>
          </a:p>
        </p:txBody>
      </p:sp>
      <p:sp>
        <p:nvSpPr>
          <p:cNvPr id="19" name="TextBox 18"/>
          <p:cNvSpPr txBox="1"/>
          <p:nvPr/>
        </p:nvSpPr>
        <p:spPr>
          <a:xfrm>
            <a:off x="6583680" y="3017520"/>
            <a:ext cx="4937760" cy="1005840"/>
          </a:xfrm>
          <a:prstGeom prst="rect">
            <a:avLst/>
          </a:prstGeom>
          <a:noFill/>
        </p:spPr>
        <p:txBody>
          <a:bodyPr wrap="square" lIns="45720" rIns="45720" tIns="18288" bIns="18288" anchor="ctr">
            <a:spAutoFit/>
          </a:bodyPr>
          <a:lstStyle/>
          <a:p>
            <a:pPr algn="l"/>
            <a:r>
              <a:rPr sz="1800" b="1">
                <a:solidFill>
                  <a:srgbClr val="333333"/>
                </a:solidFill>
                <a:latin typeface="Hiragino Sans"/>
              </a:rPr>
              <a:t>▶  均一な白背景</a:t>
            </a:r>
          </a:p>
        </p:txBody>
      </p:sp>
      <p:sp>
        <p:nvSpPr>
          <p:cNvPr id="20" name="Rounded Rectangle 19"/>
          <p:cNvSpPr/>
          <p:nvPr/>
        </p:nvSpPr>
        <p:spPr>
          <a:xfrm>
            <a:off x="548640" y="4206240"/>
            <a:ext cx="11064240" cy="1005840"/>
          </a:xfrm>
          <a:prstGeom prst="roundRect">
            <a:avLst>
              <a:gd name="adj" fmla="val 5000"/>
            </a:avLst>
          </a:prstGeom>
          <a:solidFill>
            <a:srgbClr val="FFFFFF"/>
          </a:solidFill>
          <a:ln w="25400">
            <a:solidFill>
              <a:srgbClr val="0B1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206240"/>
            <a:ext cx="164592" cy="100584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4370832"/>
            <a:ext cx="5486400" cy="676656"/>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370832"/>
            <a:ext cx="5349240" cy="676656"/>
          </a:xfrm>
          <a:prstGeom prst="rect">
            <a:avLst/>
          </a:prstGeom>
          <a:noFill/>
        </p:spPr>
        <p:txBody>
          <a:bodyPr wrap="square" lIns="45720" rIns="45720" tIns="18288" bIns="18288" anchor="ctr">
            <a:spAutoFit/>
          </a:bodyPr>
          <a:lstStyle/>
          <a:p>
            <a:pPr algn="l"/>
            <a:r>
              <a:rPr sz="2000" b="1">
                <a:solidFill>
                  <a:srgbClr val="0B1B3F"/>
                </a:solidFill>
                <a:latin typeface="Menlo"/>
              </a:rPr>
              <a:t>plain background, no scenery</a:t>
            </a:r>
          </a:p>
        </p:txBody>
      </p:sp>
      <p:sp>
        <p:nvSpPr>
          <p:cNvPr id="24" name="TextBox 23"/>
          <p:cNvSpPr txBox="1"/>
          <p:nvPr/>
        </p:nvSpPr>
        <p:spPr>
          <a:xfrm>
            <a:off x="6583680" y="4206240"/>
            <a:ext cx="4937760" cy="1005840"/>
          </a:xfrm>
          <a:prstGeom prst="rect">
            <a:avLst/>
          </a:prstGeom>
          <a:noFill/>
        </p:spPr>
        <p:txBody>
          <a:bodyPr wrap="square" lIns="45720" rIns="45720" tIns="18288" bIns="18288" anchor="ctr">
            <a:spAutoFit/>
          </a:bodyPr>
          <a:lstStyle/>
          <a:p>
            <a:pPr algn="l"/>
            <a:r>
              <a:rPr sz="1800" b="1">
                <a:solidFill>
                  <a:srgbClr val="333333"/>
                </a:solidFill>
                <a:latin typeface="Hiragino Sans"/>
              </a:rPr>
              <a:t>▶  風景なし、無地背景</a:t>
            </a:r>
          </a:p>
        </p:txBody>
      </p:sp>
      <p:sp>
        <p:nvSpPr>
          <p:cNvPr id="25" name="Rectangle 24"/>
          <p:cNvSpPr/>
          <p:nvPr/>
        </p:nvSpPr>
        <p:spPr>
          <a:xfrm>
            <a:off x="548640" y="5852160"/>
            <a:ext cx="1097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5852160"/>
            <a:ext cx="10954512" cy="59436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852160"/>
            <a:ext cx="1060704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メッセージ：単色背景（白・グレー・薄い青）で生成すると、iPad側の被写体抜き出しの精度が大きく上がる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1｜基本操作</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19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iPad被写体抜き出しの手順</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iOS/iPadOSの「Visual Look Up」機能を使う</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48640" y="1783080"/>
            <a:ext cx="777240" cy="77724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800" b="1">
                <a:solidFill>
                  <a:srgbClr val="FFFFFF"/>
                </a:solidFill>
                <a:latin typeface="Hiragino Sans"/>
              </a:rPr>
              <a:t>1</a:t>
            </a:r>
          </a:p>
        </p:txBody>
      </p:sp>
      <p:sp>
        <p:nvSpPr>
          <p:cNvPr id="11" name="Rounded Rectangle 10"/>
          <p:cNvSpPr/>
          <p:nvPr/>
        </p:nvSpPr>
        <p:spPr>
          <a:xfrm>
            <a:off x="1463040" y="1783080"/>
            <a:ext cx="10149840" cy="777240"/>
          </a:xfrm>
          <a:prstGeom prst="roundRect">
            <a:avLst>
              <a:gd name="adj" fmla="val 8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91640" y="1783080"/>
            <a:ext cx="6858000" cy="777240"/>
          </a:xfrm>
          <a:prstGeom prst="rect">
            <a:avLst/>
          </a:prstGeom>
          <a:noFill/>
        </p:spPr>
        <p:txBody>
          <a:bodyPr wrap="square" lIns="45720" rIns="45720" tIns="18288" bIns="18288" anchor="ctr">
            <a:spAutoFit/>
          </a:bodyPr>
          <a:lstStyle/>
          <a:p>
            <a:pPr algn="l"/>
            <a:r>
              <a:rPr sz="1600" b="1">
                <a:solidFill>
                  <a:srgbClr val="0B1B3F"/>
                </a:solidFill>
                <a:latin typeface="Hiragino Sans"/>
              </a:rPr>
              <a:t>写真アプリで画像を開く（全画面表示）</a:t>
            </a:r>
          </a:p>
        </p:txBody>
      </p:sp>
      <p:sp>
        <p:nvSpPr>
          <p:cNvPr id="13" name="Oval 12"/>
          <p:cNvSpPr/>
          <p:nvPr/>
        </p:nvSpPr>
        <p:spPr>
          <a:xfrm>
            <a:off x="548640" y="2651760"/>
            <a:ext cx="777240" cy="77724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800" b="1">
                <a:solidFill>
                  <a:srgbClr val="FFFFFF"/>
                </a:solidFill>
                <a:latin typeface="Hiragino Sans"/>
              </a:rPr>
              <a:t>2</a:t>
            </a:r>
          </a:p>
        </p:txBody>
      </p:sp>
      <p:sp>
        <p:nvSpPr>
          <p:cNvPr id="14" name="Rounded Rectangle 13"/>
          <p:cNvSpPr/>
          <p:nvPr/>
        </p:nvSpPr>
        <p:spPr>
          <a:xfrm>
            <a:off x="1463040" y="2651760"/>
            <a:ext cx="10149840" cy="777240"/>
          </a:xfrm>
          <a:prstGeom prst="roundRect">
            <a:avLst>
              <a:gd name="adj" fmla="val 8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91640" y="2651760"/>
            <a:ext cx="6858000" cy="777240"/>
          </a:xfrm>
          <a:prstGeom prst="rect">
            <a:avLst/>
          </a:prstGeom>
          <a:noFill/>
        </p:spPr>
        <p:txBody>
          <a:bodyPr wrap="square" lIns="45720" rIns="45720" tIns="18288" bIns="18288" anchor="ctr">
            <a:spAutoFit/>
          </a:bodyPr>
          <a:lstStyle/>
          <a:p>
            <a:pPr algn="l"/>
            <a:r>
              <a:rPr sz="1600" b="1">
                <a:solidFill>
                  <a:srgbClr val="0B1B3F"/>
                </a:solidFill>
                <a:latin typeface="Hiragino Sans"/>
              </a:rPr>
              <a:t>被写体を指で長押し（2〜3秒）</a:t>
            </a:r>
          </a:p>
        </p:txBody>
      </p:sp>
      <p:sp>
        <p:nvSpPr>
          <p:cNvPr id="16" name="TextBox 15"/>
          <p:cNvSpPr txBox="1"/>
          <p:nvPr/>
        </p:nvSpPr>
        <p:spPr>
          <a:xfrm>
            <a:off x="8595360" y="2651760"/>
            <a:ext cx="2926080" cy="777240"/>
          </a:xfrm>
          <a:prstGeom prst="rect">
            <a:avLst/>
          </a:prstGeom>
          <a:noFill/>
        </p:spPr>
        <p:txBody>
          <a:bodyPr wrap="square" lIns="45720" rIns="45720" tIns="18288" bIns="18288" anchor="ctr">
            <a:spAutoFit/>
          </a:bodyPr>
          <a:lstStyle/>
          <a:p>
            <a:pPr algn="l"/>
            <a:r>
              <a:rPr sz="1200" b="0">
                <a:solidFill>
                  <a:srgbClr val="333333"/>
                </a:solidFill>
                <a:latin typeface="Hiragino Sans"/>
              </a:rPr>
              <a:t>押しっぱなしでOK</a:t>
            </a:r>
          </a:p>
        </p:txBody>
      </p:sp>
      <p:sp>
        <p:nvSpPr>
          <p:cNvPr id="17" name="Oval 16"/>
          <p:cNvSpPr/>
          <p:nvPr/>
        </p:nvSpPr>
        <p:spPr>
          <a:xfrm>
            <a:off x="548640" y="3520440"/>
            <a:ext cx="777240" cy="77724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800" b="1">
                <a:solidFill>
                  <a:srgbClr val="FFFFFF"/>
                </a:solidFill>
                <a:latin typeface="Hiragino Sans"/>
              </a:rPr>
              <a:t>3</a:t>
            </a:r>
          </a:p>
        </p:txBody>
      </p:sp>
      <p:sp>
        <p:nvSpPr>
          <p:cNvPr id="18" name="Rounded Rectangle 17"/>
          <p:cNvSpPr/>
          <p:nvPr/>
        </p:nvSpPr>
        <p:spPr>
          <a:xfrm>
            <a:off x="1463040" y="3520440"/>
            <a:ext cx="10149840" cy="777240"/>
          </a:xfrm>
          <a:prstGeom prst="roundRect">
            <a:avLst>
              <a:gd name="adj" fmla="val 8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91640" y="3520440"/>
            <a:ext cx="6858000" cy="777240"/>
          </a:xfrm>
          <a:prstGeom prst="rect">
            <a:avLst/>
          </a:prstGeom>
          <a:noFill/>
        </p:spPr>
        <p:txBody>
          <a:bodyPr wrap="square" lIns="45720" rIns="45720" tIns="18288" bIns="18288" anchor="ctr">
            <a:spAutoFit/>
          </a:bodyPr>
          <a:lstStyle/>
          <a:p>
            <a:pPr algn="l"/>
            <a:r>
              <a:rPr sz="1600" b="1">
                <a:solidFill>
                  <a:srgbClr val="0B1B3F"/>
                </a:solidFill>
                <a:latin typeface="Hiragino Sans"/>
              </a:rPr>
              <a:t>輪郭が白く光ったら、指を離す</a:t>
            </a:r>
          </a:p>
        </p:txBody>
      </p:sp>
      <p:sp>
        <p:nvSpPr>
          <p:cNvPr id="20" name="TextBox 19"/>
          <p:cNvSpPr txBox="1"/>
          <p:nvPr/>
        </p:nvSpPr>
        <p:spPr>
          <a:xfrm>
            <a:off x="8595360" y="3520440"/>
            <a:ext cx="2926080" cy="777240"/>
          </a:xfrm>
          <a:prstGeom prst="rect">
            <a:avLst/>
          </a:prstGeom>
          <a:noFill/>
        </p:spPr>
        <p:txBody>
          <a:bodyPr wrap="square" lIns="45720" rIns="45720" tIns="18288" bIns="18288" anchor="ctr">
            <a:spAutoFit/>
          </a:bodyPr>
          <a:lstStyle/>
          <a:p>
            <a:pPr algn="l"/>
            <a:r>
              <a:rPr sz="1200" b="0">
                <a:solidFill>
                  <a:srgbClr val="333333"/>
                </a:solidFill>
                <a:latin typeface="Hiragino Sans"/>
              </a:rPr>
              <a:t>認識成功のサイン</a:t>
            </a:r>
          </a:p>
        </p:txBody>
      </p:sp>
      <p:sp>
        <p:nvSpPr>
          <p:cNvPr id="21" name="Oval 20"/>
          <p:cNvSpPr/>
          <p:nvPr/>
        </p:nvSpPr>
        <p:spPr>
          <a:xfrm>
            <a:off x="548640" y="4389120"/>
            <a:ext cx="777240" cy="77724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800" b="1">
                <a:solidFill>
                  <a:srgbClr val="FFFFFF"/>
                </a:solidFill>
                <a:latin typeface="Hiragino Sans"/>
              </a:rPr>
              <a:t>4</a:t>
            </a:r>
          </a:p>
        </p:txBody>
      </p:sp>
      <p:sp>
        <p:nvSpPr>
          <p:cNvPr id="22" name="Rounded Rectangle 21"/>
          <p:cNvSpPr/>
          <p:nvPr/>
        </p:nvSpPr>
        <p:spPr>
          <a:xfrm>
            <a:off x="1463040" y="4389120"/>
            <a:ext cx="10149840" cy="777240"/>
          </a:xfrm>
          <a:prstGeom prst="roundRect">
            <a:avLst>
              <a:gd name="adj" fmla="val 8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91640" y="4389120"/>
            <a:ext cx="6858000" cy="777240"/>
          </a:xfrm>
          <a:prstGeom prst="rect">
            <a:avLst/>
          </a:prstGeom>
          <a:noFill/>
        </p:spPr>
        <p:txBody>
          <a:bodyPr wrap="square" lIns="45720" rIns="45720" tIns="18288" bIns="18288" anchor="ctr">
            <a:spAutoFit/>
          </a:bodyPr>
          <a:lstStyle/>
          <a:p>
            <a:pPr algn="l"/>
            <a:r>
              <a:rPr sz="1600" b="1">
                <a:solidFill>
                  <a:srgbClr val="0B1B3F"/>
                </a:solidFill>
                <a:latin typeface="Hiragino Sans"/>
              </a:rPr>
              <a:t>メニューから選ぶ</a:t>
            </a:r>
          </a:p>
        </p:txBody>
      </p:sp>
      <p:sp>
        <p:nvSpPr>
          <p:cNvPr id="24" name="TextBox 23"/>
          <p:cNvSpPr txBox="1"/>
          <p:nvPr/>
        </p:nvSpPr>
        <p:spPr>
          <a:xfrm>
            <a:off x="8595360" y="4389120"/>
            <a:ext cx="2926080" cy="777240"/>
          </a:xfrm>
          <a:prstGeom prst="rect">
            <a:avLst/>
          </a:prstGeom>
          <a:noFill/>
        </p:spPr>
        <p:txBody>
          <a:bodyPr wrap="square" lIns="45720" rIns="45720" tIns="18288" bIns="18288" anchor="ctr">
            <a:spAutoFit/>
          </a:bodyPr>
          <a:lstStyle/>
          <a:p>
            <a:pPr algn="l"/>
            <a:r>
              <a:rPr sz="1200" b="0">
                <a:solidFill>
                  <a:srgbClr val="333333"/>
                </a:solidFill>
                <a:latin typeface="Hiragino Sans"/>
              </a:rPr>
              <a:t>「コピー」「ステッカーを追加」「共有」</a:t>
            </a:r>
          </a:p>
        </p:txBody>
      </p:sp>
      <p:sp>
        <p:nvSpPr>
          <p:cNvPr id="25" name="TextBox 24"/>
          <p:cNvSpPr txBox="1"/>
          <p:nvPr/>
        </p:nvSpPr>
        <p:spPr>
          <a:xfrm>
            <a:off x="548640" y="5349240"/>
            <a:ext cx="11064240" cy="365760"/>
          </a:xfrm>
          <a:prstGeom prst="rect">
            <a:avLst/>
          </a:prstGeom>
          <a:noFill/>
        </p:spPr>
        <p:txBody>
          <a:bodyPr wrap="square" lIns="45720" rIns="45720" tIns="18288" bIns="18288" anchor="t">
            <a:spAutoFit/>
          </a:bodyPr>
          <a:lstStyle/>
          <a:p>
            <a:pPr algn="l"/>
            <a:r>
              <a:rPr sz="1400" b="1">
                <a:solidFill>
                  <a:srgbClr val="0B1B3F"/>
                </a:solidFill>
                <a:latin typeface="Hiragino Sans"/>
              </a:rPr>
              <a:t>▼  使い分け</a:t>
            </a:r>
          </a:p>
        </p:txBody>
      </p:sp>
      <p:sp>
        <p:nvSpPr>
          <p:cNvPr id="26" name="Rounded Rectangle 25"/>
          <p:cNvSpPr/>
          <p:nvPr/>
        </p:nvSpPr>
        <p:spPr>
          <a:xfrm>
            <a:off x="548640" y="5760720"/>
            <a:ext cx="5394960" cy="868680"/>
          </a:xfrm>
          <a:prstGeom prst="roundRect">
            <a:avLst>
              <a:gd name="adj" fmla="val 6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760720"/>
            <a:ext cx="137160" cy="8686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760720"/>
            <a:ext cx="5166360" cy="365760"/>
          </a:xfrm>
          <a:prstGeom prst="rect">
            <a:avLst/>
          </a:prstGeom>
          <a:noFill/>
        </p:spPr>
        <p:txBody>
          <a:bodyPr wrap="square" lIns="45720" rIns="45720" tIns="18288" bIns="18288" anchor="ctr">
            <a:spAutoFit/>
          </a:bodyPr>
          <a:lstStyle/>
          <a:p>
            <a:pPr algn="l"/>
            <a:r>
              <a:rPr sz="1300" b="1">
                <a:solidFill>
                  <a:srgbClr val="0B1B3F"/>
                </a:solidFill>
                <a:latin typeface="Hiragino Sans"/>
              </a:rPr>
              <a:t>即貼り付けたい</a:t>
            </a:r>
          </a:p>
        </p:txBody>
      </p:sp>
      <p:sp>
        <p:nvSpPr>
          <p:cNvPr id="29" name="TextBox 28"/>
          <p:cNvSpPr txBox="1"/>
          <p:nvPr/>
        </p:nvSpPr>
        <p:spPr>
          <a:xfrm>
            <a:off x="777240" y="6126480"/>
            <a:ext cx="5166360" cy="457200"/>
          </a:xfrm>
          <a:prstGeom prst="rect">
            <a:avLst/>
          </a:prstGeom>
          <a:noFill/>
        </p:spPr>
        <p:txBody>
          <a:bodyPr wrap="square" lIns="45720" rIns="45720" tIns="18288" bIns="18288" anchor="ctr">
            <a:spAutoFit/>
          </a:bodyPr>
          <a:lstStyle/>
          <a:p>
            <a:pPr algn="l"/>
            <a:r>
              <a:rPr sz="1300" b="0">
                <a:solidFill>
                  <a:srgbClr val="333333"/>
                </a:solidFill>
                <a:latin typeface="Hiragino Sans"/>
              </a:rPr>
              <a:t>「コピー」 → 別アプリで「ペースト」</a:t>
            </a:r>
          </a:p>
        </p:txBody>
      </p:sp>
      <p:sp>
        <p:nvSpPr>
          <p:cNvPr id="30" name="Rounded Rectangle 29"/>
          <p:cNvSpPr/>
          <p:nvPr/>
        </p:nvSpPr>
        <p:spPr>
          <a:xfrm>
            <a:off x="6217920" y="5760720"/>
            <a:ext cx="5394960" cy="868680"/>
          </a:xfrm>
          <a:prstGeom prst="roundRect">
            <a:avLst>
              <a:gd name="adj" fmla="val 6000"/>
            </a:avLst>
          </a:prstGeom>
          <a:solidFill>
            <a:srgbClr val="FFFFFF"/>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5760720"/>
            <a:ext cx="137160" cy="8686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5760720"/>
            <a:ext cx="5166360" cy="365760"/>
          </a:xfrm>
          <a:prstGeom prst="rect">
            <a:avLst/>
          </a:prstGeom>
          <a:noFill/>
        </p:spPr>
        <p:txBody>
          <a:bodyPr wrap="square" lIns="45720" rIns="45720" tIns="18288" bIns="18288" anchor="ctr">
            <a:spAutoFit/>
          </a:bodyPr>
          <a:lstStyle/>
          <a:p>
            <a:pPr algn="l"/>
            <a:r>
              <a:rPr sz="1300" b="1">
                <a:solidFill>
                  <a:srgbClr val="0B1B3F"/>
                </a:solidFill>
                <a:latin typeface="Hiragino Sans"/>
              </a:rPr>
              <a:t>何度も使いたい</a:t>
            </a:r>
          </a:p>
        </p:txBody>
      </p:sp>
      <p:sp>
        <p:nvSpPr>
          <p:cNvPr id="33" name="TextBox 32"/>
          <p:cNvSpPr txBox="1"/>
          <p:nvPr/>
        </p:nvSpPr>
        <p:spPr>
          <a:xfrm>
            <a:off x="6446520" y="6126480"/>
            <a:ext cx="5166360" cy="457200"/>
          </a:xfrm>
          <a:prstGeom prst="rect">
            <a:avLst/>
          </a:prstGeom>
          <a:noFill/>
        </p:spPr>
        <p:txBody>
          <a:bodyPr wrap="square" lIns="45720" rIns="45720" tIns="18288" bIns="18288" anchor="ctr">
            <a:spAutoFit/>
          </a:bodyPr>
          <a:lstStyle/>
          <a:p>
            <a:pPr algn="l"/>
            <a:r>
              <a:rPr sz="1300" b="0">
                <a:solidFill>
                  <a:srgbClr val="333333"/>
                </a:solidFill>
                <a:latin typeface="Hiragino Sans"/>
              </a:rPr>
              <a:t>「ステッカーを追加」 → 各アプリで使い回せる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1｜演習</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20 / 40</a:t>
            </a:r>
          </a:p>
        </p:txBody>
      </p:sp>
      <p:sp>
        <p:nvSpPr>
          <p:cNvPr id="6" name="Rectangle 5"/>
          <p:cNvSpPr/>
          <p:nvPr/>
        </p:nvSpPr>
        <p:spPr>
          <a:xfrm>
            <a:off x="457200" y="594360"/>
            <a:ext cx="164592"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anchor="ctr">
            <a:spAutoFit/>
          </a:bodyPr>
          <a:lstStyle/>
          <a:p>
            <a:pPr algn="l"/>
            <a:r>
              <a:rPr sz="3000" b="1">
                <a:solidFill>
                  <a:srgbClr val="0B1B3F"/>
                </a:solidFill>
                <a:latin typeface="Hiragino Sans"/>
              </a:rPr>
              <a:t>演習①</a:t>
            </a:r>
            <a:r>
              <a:rPr sz="3000" b="0">
                <a:solidFill>
                  <a:srgbClr val="0B1B3F"/>
                </a:solidFill>
                <a:latin typeface="Hiragino Sans"/>
              </a:rPr>
              <a:t>   </a:t>
            </a:r>
            <a:r>
              <a:rPr sz="1800" b="1">
                <a:solidFill>
                  <a:srgbClr val="C8A84B"/>
                </a:solidFill>
                <a:latin typeface="Hiragino Sans"/>
              </a:rPr>
              <a:t>⏱ 10分</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400" b="0">
                <a:solidFill>
                  <a:srgbClr val="3D5A80"/>
                </a:solidFill>
                <a:latin typeface="Hiragino Sans"/>
              </a:rPr>
              <a:t>生成 → 保存 → 被写体抜き出しの一連の流れを体験する</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91640"/>
            <a:ext cx="6400800" cy="411480"/>
          </a:xfrm>
          <a:prstGeom prst="rect">
            <a:avLst/>
          </a:prstGeom>
          <a:noFill/>
        </p:spPr>
        <p:txBody>
          <a:bodyPr wrap="square" lIns="45720" rIns="45720" tIns="18288" bIns="18288" anchor="t">
            <a:spAutoFit/>
          </a:bodyPr>
          <a:lstStyle/>
          <a:p>
            <a:pPr algn="l"/>
            <a:r>
              <a:rPr sz="1600" b="1">
                <a:solidFill>
                  <a:srgbClr val="0B1B3F"/>
                </a:solidFill>
                <a:latin typeface="Hiragino Sans"/>
              </a:rPr>
              <a:t>▼  手順</a:t>
            </a:r>
          </a:p>
        </p:txBody>
      </p:sp>
      <p:sp>
        <p:nvSpPr>
          <p:cNvPr id="11" name="Rectangle 10"/>
          <p:cNvSpPr/>
          <p:nvPr/>
        </p:nvSpPr>
        <p:spPr>
          <a:xfrm>
            <a:off x="548640" y="214884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4884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1</a:t>
            </a:r>
          </a:p>
        </p:txBody>
      </p:sp>
      <p:sp>
        <p:nvSpPr>
          <p:cNvPr id="13" name="Rectangle 12"/>
          <p:cNvSpPr/>
          <p:nvPr/>
        </p:nvSpPr>
        <p:spPr>
          <a:xfrm>
            <a:off x="1143000" y="214884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214884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自分の好きなテーマで人物 or キャラクターを生成（プロンプトに必ず「pure white background」）</a:t>
            </a:r>
          </a:p>
        </p:txBody>
      </p:sp>
      <p:sp>
        <p:nvSpPr>
          <p:cNvPr id="15" name="Rectangle 14"/>
          <p:cNvSpPr/>
          <p:nvPr/>
        </p:nvSpPr>
        <p:spPr>
          <a:xfrm>
            <a:off x="548640" y="278892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78892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2</a:t>
            </a:r>
          </a:p>
        </p:txBody>
      </p:sp>
      <p:sp>
        <p:nvSpPr>
          <p:cNvPr id="17" name="Rectangle 16"/>
          <p:cNvSpPr/>
          <p:nvPr/>
        </p:nvSpPr>
        <p:spPr>
          <a:xfrm>
            <a:off x="1143000" y="278892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278892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生成画像を写真アプリに保存</a:t>
            </a:r>
          </a:p>
        </p:txBody>
      </p:sp>
      <p:sp>
        <p:nvSpPr>
          <p:cNvPr id="19" name="Rectangle 18"/>
          <p:cNvSpPr/>
          <p:nvPr/>
        </p:nvSpPr>
        <p:spPr>
          <a:xfrm>
            <a:off x="548640" y="342900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42900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3</a:t>
            </a:r>
          </a:p>
        </p:txBody>
      </p:sp>
      <p:sp>
        <p:nvSpPr>
          <p:cNvPr id="21" name="Rectangle 20"/>
          <p:cNvSpPr/>
          <p:nvPr/>
        </p:nvSpPr>
        <p:spPr>
          <a:xfrm>
            <a:off x="1143000" y="342900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342900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写真アプリで画像を開いて被写体を長押し → 抜き出し</a:t>
            </a:r>
          </a:p>
        </p:txBody>
      </p:sp>
      <p:sp>
        <p:nvSpPr>
          <p:cNvPr id="23" name="Rectangle 22"/>
          <p:cNvSpPr/>
          <p:nvPr/>
        </p:nvSpPr>
        <p:spPr>
          <a:xfrm>
            <a:off x="548640" y="406908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06908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4</a:t>
            </a:r>
          </a:p>
        </p:txBody>
      </p:sp>
      <p:sp>
        <p:nvSpPr>
          <p:cNvPr id="25" name="Rectangle 24"/>
          <p:cNvSpPr/>
          <p:nvPr/>
        </p:nvSpPr>
        <p:spPr>
          <a:xfrm>
            <a:off x="1143000" y="406908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0160" y="406908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Keynoteで新規スライドを作成し、抜き出した被写体をペースト</a:t>
            </a:r>
          </a:p>
        </p:txBody>
      </p:sp>
      <p:sp>
        <p:nvSpPr>
          <p:cNvPr id="27" name="TextBox 26"/>
          <p:cNvSpPr txBox="1"/>
          <p:nvPr/>
        </p:nvSpPr>
        <p:spPr>
          <a:xfrm>
            <a:off x="7315200" y="1691640"/>
            <a:ext cx="4297680" cy="411480"/>
          </a:xfrm>
          <a:prstGeom prst="rect">
            <a:avLst/>
          </a:prstGeom>
          <a:noFill/>
        </p:spPr>
        <p:txBody>
          <a:bodyPr wrap="square" lIns="45720" rIns="45720" tIns="18288" bIns="18288" anchor="t">
            <a:spAutoFit/>
          </a:bodyPr>
          <a:lstStyle/>
          <a:p>
            <a:pPr algn="l"/>
            <a:r>
              <a:rPr sz="1600" b="1">
                <a:solidFill>
                  <a:srgbClr val="0B1B3F"/>
                </a:solidFill>
                <a:latin typeface="Hiragino Sans"/>
              </a:rPr>
              <a:t>▼  チェックポイント</a:t>
            </a:r>
          </a:p>
        </p:txBody>
      </p:sp>
      <p:sp>
        <p:nvSpPr>
          <p:cNvPr id="28" name="Rounded Rectangle 27"/>
          <p:cNvSpPr/>
          <p:nvPr/>
        </p:nvSpPr>
        <p:spPr>
          <a:xfrm>
            <a:off x="7315200" y="2148840"/>
            <a:ext cx="4297680" cy="4480560"/>
          </a:xfrm>
          <a:prstGeom prst="roundRect">
            <a:avLst>
              <a:gd name="adj" fmla="val 5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98079" y="237744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0" y="2331720"/>
            <a:ext cx="3657600" cy="365760"/>
          </a:xfrm>
          <a:prstGeom prst="rect">
            <a:avLst/>
          </a:prstGeom>
          <a:noFill/>
        </p:spPr>
        <p:txBody>
          <a:bodyPr wrap="square" lIns="45720" rIns="45720" tIns="18288" bIns="18288" anchor="ctr">
            <a:spAutoFit/>
          </a:bodyPr>
          <a:lstStyle/>
          <a:p>
            <a:pPr algn="l"/>
            <a:r>
              <a:rPr sz="1300" b="0">
                <a:solidFill>
                  <a:srgbClr val="0B1B3F"/>
                </a:solidFill>
                <a:latin typeface="Hiragino Sans"/>
              </a:rPr>
              <a:t>1枚生成できた</a:t>
            </a:r>
          </a:p>
        </p:txBody>
      </p:sp>
      <p:sp>
        <p:nvSpPr>
          <p:cNvPr id="31" name="Rectangle 30"/>
          <p:cNvSpPr/>
          <p:nvPr/>
        </p:nvSpPr>
        <p:spPr>
          <a:xfrm>
            <a:off x="7498079" y="292608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0" y="2880360"/>
            <a:ext cx="3657600" cy="365760"/>
          </a:xfrm>
          <a:prstGeom prst="rect">
            <a:avLst/>
          </a:prstGeom>
          <a:noFill/>
        </p:spPr>
        <p:txBody>
          <a:bodyPr wrap="square" lIns="45720" rIns="45720" tIns="18288" bIns="18288" anchor="ctr">
            <a:spAutoFit/>
          </a:bodyPr>
          <a:lstStyle/>
          <a:p>
            <a:pPr algn="l"/>
            <a:r>
              <a:rPr sz="1300" b="0">
                <a:solidFill>
                  <a:srgbClr val="0B1B3F"/>
                </a:solidFill>
                <a:latin typeface="Hiragino Sans"/>
              </a:rPr>
              <a:t>写真アプリに保存できた</a:t>
            </a:r>
          </a:p>
        </p:txBody>
      </p:sp>
      <p:sp>
        <p:nvSpPr>
          <p:cNvPr id="33" name="Rectangle 32"/>
          <p:cNvSpPr/>
          <p:nvPr/>
        </p:nvSpPr>
        <p:spPr>
          <a:xfrm>
            <a:off x="7498079" y="347472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3429000"/>
            <a:ext cx="3657600" cy="365760"/>
          </a:xfrm>
          <a:prstGeom prst="rect">
            <a:avLst/>
          </a:prstGeom>
          <a:noFill/>
        </p:spPr>
        <p:txBody>
          <a:bodyPr wrap="square" lIns="45720" rIns="45720" tIns="18288" bIns="18288" anchor="ctr">
            <a:spAutoFit/>
          </a:bodyPr>
          <a:lstStyle/>
          <a:p>
            <a:pPr algn="l"/>
            <a:r>
              <a:rPr sz="1300" b="0">
                <a:solidFill>
                  <a:srgbClr val="0B1B3F"/>
                </a:solidFill>
                <a:latin typeface="Hiragino Sans"/>
              </a:rPr>
              <a:t>被写体抜き出しでKeynoteに貼り付けられた</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468880"/>
            <a:ext cx="64008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2331720"/>
            <a:ext cx="9144000" cy="457200"/>
          </a:xfrm>
          <a:prstGeom prst="rect">
            <a:avLst/>
          </a:prstGeom>
          <a:noFill/>
        </p:spPr>
        <p:txBody>
          <a:bodyPr wrap="square" lIns="45720" rIns="45720" tIns="18288" bIns="18288" anchor="ctr">
            <a:spAutoFit/>
          </a:bodyPr>
          <a:lstStyle/>
          <a:p>
            <a:pPr algn="l"/>
            <a:r>
              <a:rPr sz="1800" b="1">
                <a:solidFill>
                  <a:srgbClr val="C8A84B"/>
                </a:solidFill>
                <a:latin typeface="Hiragino Sans"/>
              </a:rPr>
              <a:t>PART 2</a:t>
            </a:r>
          </a:p>
        </p:txBody>
      </p:sp>
      <p:sp>
        <p:nvSpPr>
          <p:cNvPr id="5" name="TextBox 4"/>
          <p:cNvSpPr txBox="1"/>
          <p:nvPr/>
        </p:nvSpPr>
        <p:spPr>
          <a:xfrm>
            <a:off x="731520" y="2834640"/>
            <a:ext cx="10698480" cy="1828800"/>
          </a:xfrm>
          <a:prstGeom prst="rect">
            <a:avLst/>
          </a:prstGeom>
          <a:noFill/>
        </p:spPr>
        <p:txBody>
          <a:bodyPr wrap="square" lIns="45720" rIns="45720" tIns="18288" bIns="18288" anchor="t">
            <a:spAutoFit/>
          </a:bodyPr>
          <a:lstStyle/>
          <a:p>
            <a:pPr algn="l"/>
            <a:r>
              <a:rPr sz="5400" b="1">
                <a:solidFill>
                  <a:srgbClr val="FFFFFF"/>
                </a:solidFill>
                <a:latin typeface="Hiragino Sans"/>
              </a:rPr>
              <a:t>プロンプト工房 ― Projectに</a:t>
            </a:r>
          </a:p>
          <a:p>
            <a:pPr algn="l"/>
            <a:r>
              <a:rPr sz="5400" b="1">
                <a:solidFill>
                  <a:srgbClr val="FFFFFF"/>
                </a:solidFill>
                <a:latin typeface="Hiragino Sans"/>
              </a:rPr>
              <a:t>プロンプトを書かせる</a:t>
            </a:r>
          </a:p>
        </p:txBody>
      </p:sp>
      <p:sp>
        <p:nvSpPr>
          <p:cNvPr id="6" name="TextBox 5"/>
          <p:cNvSpPr txBox="1"/>
          <p:nvPr/>
        </p:nvSpPr>
        <p:spPr>
          <a:xfrm>
            <a:off x="731520" y="6035040"/>
            <a:ext cx="10698480" cy="365760"/>
          </a:xfrm>
          <a:prstGeom prst="rect">
            <a:avLst/>
          </a:prstGeom>
          <a:noFill/>
        </p:spPr>
        <p:txBody>
          <a:bodyPr wrap="square" lIns="45720" rIns="45720" tIns="18288" bIns="18288" anchor="t">
            <a:spAutoFit/>
          </a:bodyPr>
          <a:lstStyle/>
          <a:p>
            <a:pPr algn="l"/>
            <a:r>
              <a:rPr sz="1300" b="0">
                <a:solidFill>
                  <a:srgbClr val="E8EEF7"/>
                </a:solidFill>
                <a:latin typeface="Hiragino Sans"/>
              </a:rPr>
              <a:t>Vol.16 AIデザイン作成</a:t>
            </a:r>
          </a:p>
        </p:txBody>
      </p:sp>
      <p:sp>
        <p:nvSpPr>
          <p:cNvPr id="7" name="TextBox 6"/>
          <p:cNvSpPr txBox="1"/>
          <p:nvPr/>
        </p:nvSpPr>
        <p:spPr>
          <a:xfrm>
            <a:off x="11247120" y="6492240"/>
            <a:ext cx="868680" cy="274320"/>
          </a:xfrm>
          <a:prstGeom prst="rect">
            <a:avLst/>
          </a:prstGeom>
          <a:noFill/>
        </p:spPr>
        <p:txBody>
          <a:bodyPr wrap="square" lIns="45720" rIns="45720" tIns="18288" bIns="18288" anchor="t">
            <a:spAutoFit/>
          </a:bodyPr>
          <a:lstStyle/>
          <a:p>
            <a:pPr algn="r"/>
            <a:r>
              <a:rPr sz="1000" b="0">
                <a:solidFill>
                  <a:srgbClr val="E8EEF7"/>
                </a:solidFill>
                <a:latin typeface="Hiragino Sans"/>
              </a:rPr>
              <a:t>21 / 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2｜プロンプト工房</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22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なぜ「自分で書かない」のがベストか</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良いプロンプトには10要素が必要 → 毎回思い出すのは無理</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91640"/>
            <a:ext cx="11064240" cy="365760"/>
          </a:xfrm>
          <a:prstGeom prst="rect">
            <a:avLst/>
          </a:prstGeom>
          <a:noFill/>
        </p:spPr>
        <p:txBody>
          <a:bodyPr wrap="square" lIns="45720" rIns="45720" tIns="18288" bIns="18288" anchor="t">
            <a:spAutoFit/>
          </a:bodyPr>
          <a:lstStyle/>
          <a:p>
            <a:pPr algn="l"/>
            <a:r>
              <a:rPr sz="1400" b="1">
                <a:solidFill>
                  <a:srgbClr val="0B1B3F"/>
                </a:solidFill>
                <a:latin typeface="Hiragino Sans"/>
              </a:rPr>
              <a:t>▼  良いプロンプトに必要な10要素</a:t>
            </a:r>
          </a:p>
        </p:txBody>
      </p:sp>
      <p:sp>
        <p:nvSpPr>
          <p:cNvPr id="11" name="Rounded Rectangle 10"/>
          <p:cNvSpPr/>
          <p:nvPr/>
        </p:nvSpPr>
        <p:spPr>
          <a:xfrm>
            <a:off x="548640" y="2148840"/>
            <a:ext cx="2103120" cy="502920"/>
          </a:xfrm>
          <a:prstGeom prst="roundRect">
            <a:avLst>
              <a:gd name="adj" fmla="val 30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48840"/>
            <a:ext cx="2103120" cy="502920"/>
          </a:xfrm>
          <a:prstGeom prst="rect">
            <a:avLst/>
          </a:prstGeom>
          <a:noFill/>
        </p:spPr>
        <p:txBody>
          <a:bodyPr wrap="square" lIns="45720" rIns="45720" tIns="18288" bIns="18288" anchor="ctr">
            <a:spAutoFit/>
          </a:bodyPr>
          <a:lstStyle/>
          <a:p>
            <a:pPr algn="ctr"/>
            <a:r>
              <a:rPr sz="1200" b="1">
                <a:solidFill>
                  <a:srgbClr val="FFFFFF"/>
                </a:solidFill>
                <a:latin typeface="Hiragino Sans"/>
              </a:rPr>
              <a:t>用途</a:t>
            </a:r>
          </a:p>
        </p:txBody>
      </p:sp>
      <p:sp>
        <p:nvSpPr>
          <p:cNvPr id="13" name="Rounded Rectangle 12"/>
          <p:cNvSpPr/>
          <p:nvPr/>
        </p:nvSpPr>
        <p:spPr>
          <a:xfrm>
            <a:off x="2743200" y="2148840"/>
            <a:ext cx="2103120" cy="502920"/>
          </a:xfrm>
          <a:prstGeom prst="roundRect">
            <a:avLst>
              <a:gd name="adj" fmla="val 30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0" y="2148840"/>
            <a:ext cx="2103120" cy="502920"/>
          </a:xfrm>
          <a:prstGeom prst="rect">
            <a:avLst/>
          </a:prstGeom>
          <a:noFill/>
        </p:spPr>
        <p:txBody>
          <a:bodyPr wrap="square" lIns="45720" rIns="45720" tIns="18288" bIns="18288" anchor="ctr">
            <a:spAutoFit/>
          </a:bodyPr>
          <a:lstStyle/>
          <a:p>
            <a:pPr algn="ctr"/>
            <a:r>
              <a:rPr sz="1200" b="1">
                <a:solidFill>
                  <a:srgbClr val="FFFFFF"/>
                </a:solidFill>
                <a:latin typeface="Hiragino Sans"/>
              </a:rPr>
              <a:t>背景・場面</a:t>
            </a:r>
          </a:p>
        </p:txBody>
      </p:sp>
      <p:sp>
        <p:nvSpPr>
          <p:cNvPr id="15" name="Rounded Rectangle 14"/>
          <p:cNvSpPr/>
          <p:nvPr/>
        </p:nvSpPr>
        <p:spPr>
          <a:xfrm>
            <a:off x="4937760" y="2148840"/>
            <a:ext cx="2103120" cy="502920"/>
          </a:xfrm>
          <a:prstGeom prst="roundRect">
            <a:avLst>
              <a:gd name="adj" fmla="val 30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2148840"/>
            <a:ext cx="2103120" cy="502920"/>
          </a:xfrm>
          <a:prstGeom prst="rect">
            <a:avLst/>
          </a:prstGeom>
          <a:noFill/>
        </p:spPr>
        <p:txBody>
          <a:bodyPr wrap="square" lIns="45720" rIns="45720" tIns="18288" bIns="18288" anchor="ctr">
            <a:spAutoFit/>
          </a:bodyPr>
          <a:lstStyle/>
          <a:p>
            <a:pPr algn="ctr"/>
            <a:r>
              <a:rPr sz="1200" b="1">
                <a:solidFill>
                  <a:srgbClr val="FFFFFF"/>
                </a:solidFill>
                <a:latin typeface="Hiragino Sans"/>
              </a:rPr>
              <a:t>被写体</a:t>
            </a:r>
          </a:p>
        </p:txBody>
      </p:sp>
      <p:sp>
        <p:nvSpPr>
          <p:cNvPr id="17" name="Rounded Rectangle 16"/>
          <p:cNvSpPr/>
          <p:nvPr/>
        </p:nvSpPr>
        <p:spPr>
          <a:xfrm>
            <a:off x="7132320" y="2148840"/>
            <a:ext cx="2103120" cy="502920"/>
          </a:xfrm>
          <a:prstGeom prst="roundRect">
            <a:avLst>
              <a:gd name="adj" fmla="val 30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0" y="2148840"/>
            <a:ext cx="2103120" cy="502920"/>
          </a:xfrm>
          <a:prstGeom prst="rect">
            <a:avLst/>
          </a:prstGeom>
          <a:noFill/>
        </p:spPr>
        <p:txBody>
          <a:bodyPr wrap="square" lIns="45720" rIns="45720" tIns="18288" bIns="18288" anchor="ctr">
            <a:spAutoFit/>
          </a:bodyPr>
          <a:lstStyle/>
          <a:p>
            <a:pPr algn="ctr"/>
            <a:r>
              <a:rPr sz="1200" b="1">
                <a:solidFill>
                  <a:srgbClr val="FFFFFF"/>
                </a:solidFill>
                <a:latin typeface="Hiragino Sans"/>
              </a:rPr>
              <a:t>スタイル</a:t>
            </a:r>
          </a:p>
        </p:txBody>
      </p:sp>
      <p:sp>
        <p:nvSpPr>
          <p:cNvPr id="19" name="Rounded Rectangle 18"/>
          <p:cNvSpPr/>
          <p:nvPr/>
        </p:nvSpPr>
        <p:spPr>
          <a:xfrm>
            <a:off x="9326880" y="2148840"/>
            <a:ext cx="2103120" cy="502920"/>
          </a:xfrm>
          <a:prstGeom prst="roundRect">
            <a:avLst>
              <a:gd name="adj" fmla="val 30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2148840"/>
            <a:ext cx="2103120" cy="502920"/>
          </a:xfrm>
          <a:prstGeom prst="rect">
            <a:avLst/>
          </a:prstGeom>
          <a:noFill/>
        </p:spPr>
        <p:txBody>
          <a:bodyPr wrap="square" lIns="45720" rIns="45720" tIns="18288" bIns="18288" anchor="ctr">
            <a:spAutoFit/>
          </a:bodyPr>
          <a:lstStyle/>
          <a:p>
            <a:pPr algn="ctr"/>
            <a:r>
              <a:rPr sz="1200" b="1">
                <a:solidFill>
                  <a:srgbClr val="FFFFFF"/>
                </a:solidFill>
                <a:latin typeface="Hiragino Sans"/>
              </a:rPr>
              <a:t>色味・カラーパレット</a:t>
            </a:r>
          </a:p>
        </p:txBody>
      </p:sp>
      <p:sp>
        <p:nvSpPr>
          <p:cNvPr id="21" name="Rounded Rectangle 20"/>
          <p:cNvSpPr/>
          <p:nvPr/>
        </p:nvSpPr>
        <p:spPr>
          <a:xfrm>
            <a:off x="548640" y="2761488"/>
            <a:ext cx="2103120" cy="502920"/>
          </a:xfrm>
          <a:prstGeom prst="roundRect">
            <a:avLst>
              <a:gd name="adj" fmla="val 30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761488"/>
            <a:ext cx="2103120" cy="502920"/>
          </a:xfrm>
          <a:prstGeom prst="rect">
            <a:avLst/>
          </a:prstGeom>
          <a:noFill/>
        </p:spPr>
        <p:txBody>
          <a:bodyPr wrap="square" lIns="45720" rIns="45720" tIns="18288" bIns="18288" anchor="ctr">
            <a:spAutoFit/>
          </a:bodyPr>
          <a:lstStyle/>
          <a:p>
            <a:pPr algn="ctr"/>
            <a:r>
              <a:rPr sz="1200" b="1">
                <a:solidFill>
                  <a:srgbClr val="FFFFFF"/>
                </a:solidFill>
                <a:latin typeface="Hiragino Sans"/>
              </a:rPr>
              <a:t>構図・カメラアングル</a:t>
            </a:r>
          </a:p>
        </p:txBody>
      </p:sp>
      <p:sp>
        <p:nvSpPr>
          <p:cNvPr id="23" name="Rounded Rectangle 22"/>
          <p:cNvSpPr/>
          <p:nvPr/>
        </p:nvSpPr>
        <p:spPr>
          <a:xfrm>
            <a:off x="2743200" y="2761488"/>
            <a:ext cx="2103120" cy="502920"/>
          </a:xfrm>
          <a:prstGeom prst="roundRect">
            <a:avLst>
              <a:gd name="adj" fmla="val 30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0" y="2761488"/>
            <a:ext cx="2103120" cy="502920"/>
          </a:xfrm>
          <a:prstGeom prst="rect">
            <a:avLst/>
          </a:prstGeom>
          <a:noFill/>
        </p:spPr>
        <p:txBody>
          <a:bodyPr wrap="square" lIns="45720" rIns="45720" tIns="18288" bIns="18288" anchor="ctr">
            <a:spAutoFit/>
          </a:bodyPr>
          <a:lstStyle/>
          <a:p>
            <a:pPr algn="ctr"/>
            <a:r>
              <a:rPr sz="1200" b="1">
                <a:solidFill>
                  <a:srgbClr val="FFFFFF"/>
                </a:solidFill>
                <a:latin typeface="Hiragino Sans"/>
              </a:rPr>
              <a:t>ライティング</a:t>
            </a:r>
          </a:p>
        </p:txBody>
      </p:sp>
      <p:sp>
        <p:nvSpPr>
          <p:cNvPr id="25" name="Rounded Rectangle 24"/>
          <p:cNvSpPr/>
          <p:nvPr/>
        </p:nvSpPr>
        <p:spPr>
          <a:xfrm>
            <a:off x="4937760" y="2761488"/>
            <a:ext cx="2103120" cy="502920"/>
          </a:xfrm>
          <a:prstGeom prst="roundRect">
            <a:avLst>
              <a:gd name="adj" fmla="val 30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0" y="2761488"/>
            <a:ext cx="2103120" cy="502920"/>
          </a:xfrm>
          <a:prstGeom prst="rect">
            <a:avLst/>
          </a:prstGeom>
          <a:noFill/>
        </p:spPr>
        <p:txBody>
          <a:bodyPr wrap="square" lIns="45720" rIns="45720" tIns="18288" bIns="18288" anchor="ctr">
            <a:spAutoFit/>
          </a:bodyPr>
          <a:lstStyle/>
          <a:p>
            <a:pPr algn="ctr"/>
            <a:r>
              <a:rPr sz="1200" b="1">
                <a:solidFill>
                  <a:srgbClr val="FFFFFF"/>
                </a:solidFill>
                <a:latin typeface="Hiragino Sans"/>
              </a:rPr>
              <a:t>画面内の文字</a:t>
            </a:r>
          </a:p>
        </p:txBody>
      </p:sp>
      <p:sp>
        <p:nvSpPr>
          <p:cNvPr id="27" name="Rounded Rectangle 26"/>
          <p:cNvSpPr/>
          <p:nvPr/>
        </p:nvSpPr>
        <p:spPr>
          <a:xfrm>
            <a:off x="7132320" y="2761488"/>
            <a:ext cx="2103120" cy="502920"/>
          </a:xfrm>
          <a:prstGeom prst="roundRect">
            <a:avLst>
              <a:gd name="adj" fmla="val 30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0" y="2761488"/>
            <a:ext cx="2103120" cy="502920"/>
          </a:xfrm>
          <a:prstGeom prst="rect">
            <a:avLst/>
          </a:prstGeom>
          <a:noFill/>
        </p:spPr>
        <p:txBody>
          <a:bodyPr wrap="square" lIns="45720" rIns="45720" tIns="18288" bIns="18288" anchor="ctr">
            <a:spAutoFit/>
          </a:bodyPr>
          <a:lstStyle/>
          <a:p>
            <a:pPr algn="ctr"/>
            <a:r>
              <a:rPr sz="1200" b="1">
                <a:solidFill>
                  <a:srgbClr val="FFFFFF"/>
                </a:solidFill>
                <a:latin typeface="Hiragino Sans"/>
              </a:rPr>
              <a:t>アスペクト比</a:t>
            </a:r>
          </a:p>
        </p:txBody>
      </p:sp>
      <p:sp>
        <p:nvSpPr>
          <p:cNvPr id="29" name="Rounded Rectangle 28"/>
          <p:cNvSpPr/>
          <p:nvPr/>
        </p:nvSpPr>
        <p:spPr>
          <a:xfrm>
            <a:off x="9326880" y="2761488"/>
            <a:ext cx="2103120" cy="502920"/>
          </a:xfrm>
          <a:prstGeom prst="roundRect">
            <a:avLst>
              <a:gd name="adj" fmla="val 30000"/>
            </a:avLst>
          </a:prstGeom>
          <a:solidFill>
            <a:srgbClr val="142A5C"/>
          </a:solidFill>
          <a:ln w="127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0" y="2761488"/>
            <a:ext cx="2103120" cy="502920"/>
          </a:xfrm>
          <a:prstGeom prst="rect">
            <a:avLst/>
          </a:prstGeom>
          <a:noFill/>
        </p:spPr>
        <p:txBody>
          <a:bodyPr wrap="square" lIns="45720" rIns="45720" tIns="18288" bIns="18288" anchor="ctr">
            <a:spAutoFit/>
          </a:bodyPr>
          <a:lstStyle/>
          <a:p>
            <a:pPr algn="ctr"/>
            <a:r>
              <a:rPr sz="1200" b="1">
                <a:solidFill>
                  <a:srgbClr val="FFFFFF"/>
                </a:solidFill>
                <a:latin typeface="Hiragino Sans"/>
              </a:rPr>
              <a:t>制約</a:t>
            </a:r>
          </a:p>
        </p:txBody>
      </p:sp>
      <p:sp>
        <p:nvSpPr>
          <p:cNvPr id="31" name="Rounded Rectangle 30"/>
          <p:cNvSpPr/>
          <p:nvPr/>
        </p:nvSpPr>
        <p:spPr>
          <a:xfrm>
            <a:off x="548640" y="3703320"/>
            <a:ext cx="5440680" cy="2606040"/>
          </a:xfrm>
          <a:prstGeom prst="roundRect">
            <a:avLst>
              <a:gd name="adj" fmla="val 5000"/>
            </a:avLst>
          </a:prstGeom>
          <a:solidFill>
            <a:srgbClr val="FFFFFF"/>
          </a:solidFill>
          <a:ln w="1905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3703320"/>
            <a:ext cx="5440680" cy="50292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703320"/>
            <a:ext cx="5440680" cy="502920"/>
          </a:xfrm>
          <a:prstGeom prst="rect">
            <a:avLst/>
          </a:prstGeom>
          <a:noFill/>
        </p:spPr>
        <p:txBody>
          <a:bodyPr wrap="square" lIns="45720" rIns="45720" tIns="18288" bIns="18288" anchor="ctr">
            <a:spAutoFit/>
          </a:bodyPr>
          <a:lstStyle/>
          <a:p>
            <a:pPr algn="ctr"/>
            <a:r>
              <a:rPr sz="1600" b="1">
                <a:solidFill>
                  <a:srgbClr val="FFFFFF"/>
                </a:solidFill>
                <a:latin typeface="Hiragino Sans"/>
              </a:rPr>
              <a:t>Before：自分で書く</a:t>
            </a:r>
          </a:p>
        </p:txBody>
      </p:sp>
      <p:sp>
        <p:nvSpPr>
          <p:cNvPr id="34" name="TextBox 33"/>
          <p:cNvSpPr txBox="1"/>
          <p:nvPr/>
        </p:nvSpPr>
        <p:spPr>
          <a:xfrm>
            <a:off x="868680" y="4343400"/>
            <a:ext cx="5029200" cy="457200"/>
          </a:xfrm>
          <a:prstGeom prst="rect">
            <a:avLst/>
          </a:prstGeom>
          <a:noFill/>
        </p:spPr>
        <p:txBody>
          <a:bodyPr wrap="square" lIns="45720" rIns="45720" tIns="18288" bIns="18288" anchor="ctr">
            <a:spAutoFit/>
          </a:bodyPr>
          <a:lstStyle/>
          <a:p>
            <a:pPr algn="l"/>
            <a:r>
              <a:rPr sz="1400" b="0">
                <a:solidFill>
                  <a:srgbClr val="333333"/>
                </a:solidFill>
                <a:latin typeface="Hiragino Sans"/>
              </a:rPr>
              <a:t>✕  コツを毎回思い出す</a:t>
            </a:r>
          </a:p>
        </p:txBody>
      </p:sp>
      <p:sp>
        <p:nvSpPr>
          <p:cNvPr id="35" name="TextBox 34"/>
          <p:cNvSpPr txBox="1"/>
          <p:nvPr/>
        </p:nvSpPr>
        <p:spPr>
          <a:xfrm>
            <a:off x="868680" y="4937760"/>
            <a:ext cx="5029200" cy="457200"/>
          </a:xfrm>
          <a:prstGeom prst="rect">
            <a:avLst/>
          </a:prstGeom>
          <a:noFill/>
        </p:spPr>
        <p:txBody>
          <a:bodyPr wrap="square" lIns="45720" rIns="45720" tIns="18288" bIns="18288" anchor="ctr">
            <a:spAutoFit/>
          </a:bodyPr>
          <a:lstStyle/>
          <a:p>
            <a:pPr algn="l"/>
            <a:r>
              <a:rPr sz="1400" b="0">
                <a:solidFill>
                  <a:srgbClr val="333333"/>
                </a:solidFill>
                <a:latin typeface="Hiragino Sans"/>
              </a:rPr>
              <a:t>✕  10項目を書き並べる</a:t>
            </a:r>
          </a:p>
        </p:txBody>
      </p:sp>
      <p:sp>
        <p:nvSpPr>
          <p:cNvPr id="36" name="TextBox 35"/>
          <p:cNvSpPr txBox="1"/>
          <p:nvPr/>
        </p:nvSpPr>
        <p:spPr>
          <a:xfrm>
            <a:off x="868680" y="5532120"/>
            <a:ext cx="5029200" cy="457200"/>
          </a:xfrm>
          <a:prstGeom prst="rect">
            <a:avLst/>
          </a:prstGeom>
          <a:noFill/>
        </p:spPr>
        <p:txBody>
          <a:bodyPr wrap="square" lIns="45720" rIns="45720" tIns="18288" bIns="18288" anchor="ctr">
            <a:spAutoFit/>
          </a:bodyPr>
          <a:lstStyle/>
          <a:p>
            <a:pPr algn="l"/>
            <a:r>
              <a:rPr sz="1400" b="0">
                <a:solidFill>
                  <a:srgbClr val="333333"/>
                </a:solidFill>
                <a:latin typeface="Hiragino Sans"/>
              </a:rPr>
              <a:t>✕  結果：質が安定しない</a:t>
            </a:r>
          </a:p>
        </p:txBody>
      </p:sp>
      <p:sp>
        <p:nvSpPr>
          <p:cNvPr id="37" name="Rounded Rectangle 36"/>
          <p:cNvSpPr/>
          <p:nvPr/>
        </p:nvSpPr>
        <p:spPr>
          <a:xfrm>
            <a:off x="6172200" y="3703320"/>
            <a:ext cx="5440680" cy="2606040"/>
          </a:xfrm>
          <a:prstGeom prst="roundRect">
            <a:avLst>
              <a:gd name="adj" fmla="val 5000"/>
            </a:avLst>
          </a:prstGeom>
          <a:solidFill>
            <a:srgbClr val="FFFFFF"/>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72200" y="3703320"/>
            <a:ext cx="5440680" cy="5029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72200" y="3703320"/>
            <a:ext cx="5440680" cy="502920"/>
          </a:xfrm>
          <a:prstGeom prst="rect">
            <a:avLst/>
          </a:prstGeom>
          <a:noFill/>
        </p:spPr>
        <p:txBody>
          <a:bodyPr wrap="square" lIns="45720" rIns="45720" tIns="18288" bIns="18288" anchor="ctr">
            <a:spAutoFit/>
          </a:bodyPr>
          <a:lstStyle/>
          <a:p>
            <a:pPr algn="ctr"/>
            <a:r>
              <a:rPr sz="1600" b="1">
                <a:solidFill>
                  <a:srgbClr val="FFFFFF"/>
                </a:solidFill>
                <a:latin typeface="Hiragino Sans"/>
              </a:rPr>
              <a:t>After：Projectに書かせる</a:t>
            </a:r>
          </a:p>
        </p:txBody>
      </p:sp>
      <p:sp>
        <p:nvSpPr>
          <p:cNvPr id="40" name="TextBox 39"/>
          <p:cNvSpPr txBox="1"/>
          <p:nvPr/>
        </p:nvSpPr>
        <p:spPr>
          <a:xfrm>
            <a:off x="6492240" y="4343400"/>
            <a:ext cx="5029200" cy="457200"/>
          </a:xfrm>
          <a:prstGeom prst="rect">
            <a:avLst/>
          </a:prstGeom>
          <a:noFill/>
        </p:spPr>
        <p:txBody>
          <a:bodyPr wrap="square" lIns="45720" rIns="45720" tIns="18288" bIns="18288" anchor="ctr">
            <a:spAutoFit/>
          </a:bodyPr>
          <a:lstStyle/>
          <a:p>
            <a:pPr algn="l"/>
            <a:r>
              <a:rPr sz="1400" b="0">
                <a:solidFill>
                  <a:srgbClr val="0B1B3F"/>
                </a:solidFill>
                <a:latin typeface="Hiragino Sans"/>
              </a:rPr>
              <a:t>✓  「○○作りたい」と話すだけ</a:t>
            </a:r>
          </a:p>
        </p:txBody>
      </p:sp>
      <p:sp>
        <p:nvSpPr>
          <p:cNvPr id="41" name="TextBox 40"/>
          <p:cNvSpPr txBox="1"/>
          <p:nvPr/>
        </p:nvSpPr>
        <p:spPr>
          <a:xfrm>
            <a:off x="6492240" y="4937760"/>
            <a:ext cx="5029200" cy="457200"/>
          </a:xfrm>
          <a:prstGeom prst="rect">
            <a:avLst/>
          </a:prstGeom>
          <a:noFill/>
        </p:spPr>
        <p:txBody>
          <a:bodyPr wrap="square" lIns="45720" rIns="45720" tIns="18288" bIns="18288" anchor="ctr">
            <a:spAutoFit/>
          </a:bodyPr>
          <a:lstStyle/>
          <a:p>
            <a:pPr algn="l"/>
            <a:r>
              <a:rPr sz="1400" b="0">
                <a:solidFill>
                  <a:srgbClr val="0B1B3F"/>
                </a:solidFill>
                <a:latin typeface="Hiragino Sans"/>
              </a:rPr>
              <a:t>✓  Projectが質問してくれる</a:t>
            </a:r>
          </a:p>
        </p:txBody>
      </p:sp>
      <p:sp>
        <p:nvSpPr>
          <p:cNvPr id="42" name="TextBox 41"/>
          <p:cNvSpPr txBox="1"/>
          <p:nvPr/>
        </p:nvSpPr>
        <p:spPr>
          <a:xfrm>
            <a:off x="6492240" y="5532120"/>
            <a:ext cx="5029200" cy="457200"/>
          </a:xfrm>
          <a:prstGeom prst="rect">
            <a:avLst/>
          </a:prstGeom>
          <a:noFill/>
        </p:spPr>
        <p:txBody>
          <a:bodyPr wrap="square" lIns="45720" rIns="45720" tIns="18288" bIns="18288" anchor="ctr">
            <a:spAutoFit/>
          </a:bodyPr>
          <a:lstStyle/>
          <a:p>
            <a:pPr algn="l"/>
            <a:r>
              <a:rPr sz="1400" b="0">
                <a:solidFill>
                  <a:srgbClr val="0B1B3F"/>
                </a:solidFill>
                <a:latin typeface="Hiragino Sans"/>
              </a:rPr>
              <a:t>✓  完成プロンプトをコピーするだけ</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2｜プロンプト工房</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23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ChatGPT Projectsの基本</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Projectには3つの設定枠がある</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828800"/>
            <a:ext cx="11064240" cy="4023360"/>
          </a:xfrm>
          <a:prstGeom prst="roundRect">
            <a:avLst>
              <a:gd name="adj" fmla="val 4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28800"/>
            <a:ext cx="110642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28800"/>
            <a:ext cx="11064240" cy="548640"/>
          </a:xfrm>
          <a:prstGeom prst="rect">
            <a:avLst/>
          </a:prstGeom>
          <a:noFill/>
        </p:spPr>
        <p:txBody>
          <a:bodyPr wrap="square" lIns="45720" rIns="45720" tIns="18288" bIns="18288" anchor="ctr">
            <a:spAutoFit/>
          </a:bodyPr>
          <a:lstStyle/>
          <a:p>
            <a:pPr algn="ctr"/>
            <a:r>
              <a:rPr sz="1800" b="1">
                <a:solidFill>
                  <a:srgbClr val="FFFFFF"/>
                </a:solidFill>
                <a:latin typeface="Hiragino Sans"/>
              </a:rPr>
              <a:t>📂  Project</a:t>
            </a:r>
          </a:p>
        </p:txBody>
      </p:sp>
      <p:sp>
        <p:nvSpPr>
          <p:cNvPr id="13" name="Rounded Rectangle 12"/>
          <p:cNvSpPr/>
          <p:nvPr/>
        </p:nvSpPr>
        <p:spPr>
          <a:xfrm>
            <a:off x="822960" y="2606040"/>
            <a:ext cx="3383280" cy="2697480"/>
          </a:xfrm>
          <a:prstGeom prst="roundRect">
            <a:avLst>
              <a:gd name="adj" fmla="val 5000"/>
            </a:avLst>
          </a:prstGeom>
          <a:solidFill>
            <a:srgbClr val="E8EEF7"/>
          </a:solidFill>
          <a:ln w="1905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240280" y="2788920"/>
            <a:ext cx="548640" cy="54864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Hiragino Sans"/>
              </a:rPr>
              <a:t>1</a:t>
            </a:r>
          </a:p>
        </p:txBody>
      </p:sp>
      <p:sp>
        <p:nvSpPr>
          <p:cNvPr id="15" name="TextBox 14"/>
          <p:cNvSpPr txBox="1"/>
          <p:nvPr/>
        </p:nvSpPr>
        <p:spPr>
          <a:xfrm>
            <a:off x="822960" y="3474720"/>
            <a:ext cx="3383280" cy="777240"/>
          </a:xfrm>
          <a:prstGeom prst="rect">
            <a:avLst/>
          </a:prstGeom>
          <a:noFill/>
        </p:spPr>
        <p:txBody>
          <a:bodyPr wrap="square" lIns="45720" rIns="45720" tIns="18288" bIns="18288" anchor="ctr">
            <a:spAutoFit/>
          </a:bodyPr>
          <a:lstStyle/>
          <a:p>
            <a:pPr algn="ctr"/>
            <a:r>
              <a:rPr sz="1600" b="1">
                <a:solidFill>
                  <a:srgbClr val="0B1B3F"/>
                </a:solidFill>
                <a:latin typeface="Hiragino Sans"/>
              </a:rPr>
              <a:t>システムプロンプト</a:t>
            </a:r>
          </a:p>
          <a:p>
            <a:pPr algn="ctr"/>
            <a:r>
              <a:rPr sz="1600" b="1">
                <a:solidFill>
                  <a:srgbClr val="0B1B3F"/>
                </a:solidFill>
                <a:latin typeface="Hiragino Sans"/>
              </a:rPr>
              <a:t>（指示）</a:t>
            </a:r>
          </a:p>
        </p:txBody>
      </p:sp>
      <p:sp>
        <p:nvSpPr>
          <p:cNvPr id="16" name="TextBox 15"/>
          <p:cNvSpPr txBox="1"/>
          <p:nvPr/>
        </p:nvSpPr>
        <p:spPr>
          <a:xfrm>
            <a:off x="960120" y="4389120"/>
            <a:ext cx="3108960" cy="822960"/>
          </a:xfrm>
          <a:prstGeom prst="rect">
            <a:avLst/>
          </a:prstGeom>
          <a:noFill/>
        </p:spPr>
        <p:txBody>
          <a:bodyPr wrap="square" lIns="45720" rIns="45720" tIns="18288" bIns="18288" anchor="t">
            <a:spAutoFit/>
          </a:bodyPr>
          <a:lstStyle/>
          <a:p>
            <a:pPr algn="ctr"/>
            <a:r>
              <a:rPr sz="1200" b="0">
                <a:solidFill>
                  <a:srgbClr val="333333"/>
                </a:solidFill>
                <a:latin typeface="Hiragino Sans"/>
              </a:rPr>
              <a:t>このProjectでChatGPTがどう振る舞うか</a:t>
            </a:r>
          </a:p>
        </p:txBody>
      </p:sp>
      <p:sp>
        <p:nvSpPr>
          <p:cNvPr id="17" name="Rounded Rectangle 16"/>
          <p:cNvSpPr/>
          <p:nvPr/>
        </p:nvSpPr>
        <p:spPr>
          <a:xfrm>
            <a:off x="4389120" y="2606040"/>
            <a:ext cx="3383280" cy="2697480"/>
          </a:xfrm>
          <a:prstGeom prst="roundRect">
            <a:avLst>
              <a:gd name="adj" fmla="val 5000"/>
            </a:avLst>
          </a:prstGeom>
          <a:solidFill>
            <a:srgbClr val="E8EEF7"/>
          </a:solidFill>
          <a:ln w="1905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806440" y="2788920"/>
            <a:ext cx="548640" cy="54864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Hiragino Sans"/>
              </a:rPr>
              <a:t>2</a:t>
            </a:r>
          </a:p>
        </p:txBody>
      </p:sp>
      <p:sp>
        <p:nvSpPr>
          <p:cNvPr id="19" name="TextBox 18"/>
          <p:cNvSpPr txBox="1"/>
          <p:nvPr/>
        </p:nvSpPr>
        <p:spPr>
          <a:xfrm>
            <a:off x="4389120" y="3474720"/>
            <a:ext cx="3383280" cy="777240"/>
          </a:xfrm>
          <a:prstGeom prst="rect">
            <a:avLst/>
          </a:prstGeom>
          <a:noFill/>
        </p:spPr>
        <p:txBody>
          <a:bodyPr wrap="square" lIns="45720" rIns="45720" tIns="18288" bIns="18288" anchor="ctr">
            <a:spAutoFit/>
          </a:bodyPr>
          <a:lstStyle/>
          <a:p>
            <a:pPr algn="ctr"/>
            <a:r>
              <a:rPr sz="1600" b="1">
                <a:solidFill>
                  <a:srgbClr val="0B1B3F"/>
                </a:solidFill>
                <a:latin typeface="Hiragino Sans"/>
              </a:rPr>
              <a:t>知識ベース</a:t>
            </a:r>
          </a:p>
          <a:p>
            <a:pPr algn="ctr"/>
            <a:r>
              <a:rPr sz="1600" b="1">
                <a:solidFill>
                  <a:srgbClr val="0B1B3F"/>
                </a:solidFill>
                <a:latin typeface="Hiragino Sans"/>
              </a:rPr>
              <a:t>（ファイル）</a:t>
            </a:r>
          </a:p>
        </p:txBody>
      </p:sp>
      <p:sp>
        <p:nvSpPr>
          <p:cNvPr id="20" name="TextBox 19"/>
          <p:cNvSpPr txBox="1"/>
          <p:nvPr/>
        </p:nvSpPr>
        <p:spPr>
          <a:xfrm>
            <a:off x="4526280" y="4389120"/>
            <a:ext cx="3108960" cy="822960"/>
          </a:xfrm>
          <a:prstGeom prst="rect">
            <a:avLst/>
          </a:prstGeom>
          <a:noFill/>
        </p:spPr>
        <p:txBody>
          <a:bodyPr wrap="square" lIns="45720" rIns="45720" tIns="18288" bIns="18288" anchor="t">
            <a:spAutoFit/>
          </a:bodyPr>
          <a:lstStyle/>
          <a:p>
            <a:pPr algn="ctr"/>
            <a:r>
              <a:rPr sz="1200" b="0">
                <a:solidFill>
                  <a:srgbClr val="333333"/>
                </a:solidFill>
                <a:latin typeface="Hiragino Sans"/>
              </a:rPr>
              <a:t>このProject内のチャットで参照される資料</a:t>
            </a:r>
          </a:p>
        </p:txBody>
      </p:sp>
      <p:sp>
        <p:nvSpPr>
          <p:cNvPr id="21" name="Rounded Rectangle 20"/>
          <p:cNvSpPr/>
          <p:nvPr/>
        </p:nvSpPr>
        <p:spPr>
          <a:xfrm>
            <a:off x="7955280" y="2606040"/>
            <a:ext cx="3383280" cy="2697480"/>
          </a:xfrm>
          <a:prstGeom prst="roundRect">
            <a:avLst>
              <a:gd name="adj" fmla="val 5000"/>
            </a:avLst>
          </a:prstGeom>
          <a:solidFill>
            <a:srgbClr val="E8EEF7"/>
          </a:solidFill>
          <a:ln w="1905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72600" y="2788920"/>
            <a:ext cx="548640" cy="54864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Hiragino Sans"/>
              </a:rPr>
              <a:t>3</a:t>
            </a:r>
          </a:p>
        </p:txBody>
      </p:sp>
      <p:sp>
        <p:nvSpPr>
          <p:cNvPr id="23" name="TextBox 22"/>
          <p:cNvSpPr txBox="1"/>
          <p:nvPr/>
        </p:nvSpPr>
        <p:spPr>
          <a:xfrm>
            <a:off x="7955280" y="3474720"/>
            <a:ext cx="3383280" cy="777240"/>
          </a:xfrm>
          <a:prstGeom prst="rect">
            <a:avLst/>
          </a:prstGeom>
          <a:noFill/>
        </p:spPr>
        <p:txBody>
          <a:bodyPr wrap="square" lIns="45720" rIns="45720" tIns="18288" bIns="18288" anchor="ctr">
            <a:spAutoFit/>
          </a:bodyPr>
          <a:lstStyle/>
          <a:p>
            <a:pPr algn="ctr"/>
            <a:r>
              <a:rPr sz="1600" b="1">
                <a:solidFill>
                  <a:srgbClr val="0B1B3F"/>
                </a:solidFill>
                <a:latin typeface="Hiragino Sans"/>
              </a:rPr>
              <a:t>会話履歴</a:t>
            </a:r>
          </a:p>
        </p:txBody>
      </p:sp>
      <p:sp>
        <p:nvSpPr>
          <p:cNvPr id="24" name="TextBox 23"/>
          <p:cNvSpPr txBox="1"/>
          <p:nvPr/>
        </p:nvSpPr>
        <p:spPr>
          <a:xfrm>
            <a:off x="8092440" y="4389120"/>
            <a:ext cx="3108960" cy="822960"/>
          </a:xfrm>
          <a:prstGeom prst="rect">
            <a:avLst/>
          </a:prstGeom>
          <a:noFill/>
        </p:spPr>
        <p:txBody>
          <a:bodyPr wrap="square" lIns="45720" rIns="45720" tIns="18288" bIns="18288" anchor="t">
            <a:spAutoFit/>
          </a:bodyPr>
          <a:lstStyle/>
          <a:p>
            <a:pPr algn="ctr"/>
            <a:r>
              <a:rPr sz="1200" b="0">
                <a:solidFill>
                  <a:srgbClr val="333333"/>
                </a:solidFill>
                <a:latin typeface="Hiragino Sans"/>
              </a:rPr>
              <a:t>このProject内の会話だけがまとまる</a:t>
            </a:r>
          </a:p>
        </p:txBody>
      </p:sp>
      <p:sp>
        <p:nvSpPr>
          <p:cNvPr id="25" name="Rectangle 24"/>
          <p:cNvSpPr/>
          <p:nvPr/>
        </p:nvSpPr>
        <p:spPr>
          <a:xfrm>
            <a:off x="548640" y="6080760"/>
            <a:ext cx="1097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6080760"/>
            <a:ext cx="10954512" cy="59436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6080760"/>
            <a:ext cx="1060704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メッセージ：一度設定すれば、毎回コツを伝え直す必要がない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2｜プロンプト工房</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24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Project ― プラン別のファイル数上限</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プロンプト工房は配布物①の1ファイルだけ ＝ 無料プランでも問題なし</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1371600" y="1874519"/>
          <a:ext cx="9418320" cy="1828800"/>
        </p:xfrm>
        <a:graphic>
          <a:graphicData uri="http://schemas.openxmlformats.org/drawingml/2006/table">
            <a:tbl>
              <a:tblPr firstRow="1" bandRow="1">
                <a:tableStyleId>{5C22544A-7EE6-4342-B048-85BDC9FD1C3A}</a:tableStyleId>
              </a:tblPr>
              <a:tblGrid>
                <a:gridCol w="4709160"/>
                <a:gridCol w="4709160"/>
              </a:tblGrid>
              <a:tr h="457200">
                <a:tc>
                  <a:txBody>
                    <a:bodyPr/>
                    <a:lstStyle/>
                    <a:p>
                      <a:pPr algn="ctr"/>
                      <a:r>
                        <a:rPr sz="1500" b="1">
                          <a:solidFill>
                            <a:srgbClr val="FFFFFF"/>
                          </a:solidFill>
                          <a:latin typeface="Hiragino Sans"/>
                        </a:rPr>
                        <a:t>プラン</a:t>
                      </a:r>
                    </a:p>
                  </a:txBody>
                  <a:tcPr marL="73152" marR="73152" marT="45720" marB="45720" anchor="ctr">
                    <a:solidFill>
                      <a:srgbClr val="142A5C"/>
                    </a:solidFill>
                  </a:tcPr>
                </a:tc>
                <a:tc>
                  <a:txBody>
                    <a:bodyPr/>
                    <a:lstStyle/>
                    <a:p>
                      <a:pPr algn="ctr"/>
                      <a:r>
                        <a:rPr sz="1500" b="1">
                          <a:solidFill>
                            <a:srgbClr val="FFFFFF"/>
                          </a:solidFill>
                          <a:latin typeface="Hiragino Sans"/>
                        </a:rPr>
                        <a:t>Project内のファイルアップロード上限</a:t>
                      </a:r>
                    </a:p>
                  </a:txBody>
                  <a:tcPr marL="73152" marR="73152" marT="45720" marB="45720" anchor="ctr">
                    <a:solidFill>
                      <a:srgbClr val="142A5C"/>
                    </a:solidFill>
                  </a:tcPr>
                </a:tc>
              </a:tr>
              <a:tr h="457200">
                <a:tc>
                  <a:txBody>
                    <a:bodyPr wrap="square"/>
                    <a:lstStyle/>
                    <a:p>
                      <a:pPr algn="ctr"/>
                      <a:r>
                        <a:rPr sz="1500" b="1">
                          <a:solidFill>
                            <a:srgbClr val="0B1B3F"/>
                          </a:solidFill>
                          <a:latin typeface="Hiragino Sans"/>
                        </a:rPr>
                        <a:t>Free</a:t>
                      </a:r>
                    </a:p>
                  </a:txBody>
                  <a:tcPr marL="91440" marR="91440" marT="45720" marB="45720" anchor="ctr">
                    <a:solidFill>
                      <a:srgbClr val="E8EEF7"/>
                    </a:solidFill>
                  </a:tcPr>
                </a:tc>
                <a:tc>
                  <a:txBody>
                    <a:bodyPr wrap="square"/>
                    <a:lstStyle/>
                    <a:p>
                      <a:pPr algn="ctr"/>
                      <a:r>
                        <a:rPr sz="1500" b="0">
                          <a:solidFill>
                            <a:srgbClr val="333333"/>
                          </a:solidFill>
                          <a:latin typeface="Hiragino Sans"/>
                        </a:rPr>
                        <a:t> 5  ファイル</a:t>
                      </a:r>
                    </a:p>
                  </a:txBody>
                  <a:tcPr marL="91440" marR="91440" marT="45720" marB="45720" anchor="ctr">
                    <a:solidFill>
                      <a:srgbClr val="E8EEF7"/>
                    </a:solidFill>
                  </a:tcPr>
                </a:tc>
              </a:tr>
              <a:tr h="457200">
                <a:tc>
                  <a:txBody>
                    <a:bodyPr wrap="square"/>
                    <a:lstStyle/>
                    <a:p>
                      <a:pPr algn="ctr"/>
                      <a:r>
                        <a:rPr sz="1500" b="1">
                          <a:solidFill>
                            <a:srgbClr val="0B1B3F"/>
                          </a:solidFill>
                          <a:latin typeface="Hiragino Sans"/>
                        </a:rPr>
                        <a:t>Plus</a:t>
                      </a:r>
                    </a:p>
                  </a:txBody>
                  <a:tcPr marL="91440" marR="91440" marT="45720" marB="45720" anchor="ctr">
                    <a:solidFill>
                      <a:srgbClr val="FFFFFF"/>
                    </a:solidFill>
                  </a:tcPr>
                </a:tc>
                <a:tc>
                  <a:txBody>
                    <a:bodyPr wrap="square"/>
                    <a:lstStyle/>
                    <a:p>
                      <a:pPr algn="ctr"/>
                      <a:r>
                        <a:rPr sz="1500" b="0">
                          <a:solidFill>
                            <a:srgbClr val="333333"/>
                          </a:solidFill>
                          <a:latin typeface="Hiragino Sans"/>
                        </a:rPr>
                        <a:t>25  ファイル</a:t>
                      </a:r>
                    </a:p>
                  </a:txBody>
                  <a:tcPr marL="91440" marR="91440" marT="45720" marB="45720" anchor="ctr">
                    <a:solidFill>
                      <a:srgbClr val="FFFFFF"/>
                    </a:solidFill>
                  </a:tcPr>
                </a:tc>
              </a:tr>
              <a:tr h="457200">
                <a:tc>
                  <a:txBody>
                    <a:bodyPr wrap="square"/>
                    <a:lstStyle/>
                    <a:p>
                      <a:pPr algn="ctr"/>
                      <a:r>
                        <a:rPr sz="1500" b="1">
                          <a:solidFill>
                            <a:srgbClr val="0B1B3F"/>
                          </a:solidFill>
                          <a:latin typeface="Hiragino Sans"/>
                        </a:rPr>
                        <a:t>Pro / Business / Enterprise</a:t>
                      </a:r>
                    </a:p>
                  </a:txBody>
                  <a:tcPr marL="91440" marR="91440" marT="45720" marB="45720" anchor="ctr">
                    <a:solidFill>
                      <a:srgbClr val="E8EEF7"/>
                    </a:solidFill>
                  </a:tcPr>
                </a:tc>
                <a:tc>
                  <a:txBody>
                    <a:bodyPr wrap="square"/>
                    <a:lstStyle/>
                    <a:p>
                      <a:pPr algn="ctr"/>
                      <a:r>
                        <a:rPr sz="1500" b="0">
                          <a:solidFill>
                            <a:srgbClr val="333333"/>
                          </a:solidFill>
                          <a:latin typeface="Hiragino Sans"/>
                        </a:rPr>
                        <a:t>40  ファイル</a:t>
                      </a:r>
                    </a:p>
                  </a:txBody>
                  <a:tcPr marL="91440" marR="91440" marT="45720" marB="45720" anchor="ctr">
                    <a:solidFill>
                      <a:srgbClr val="E8EEF7"/>
                    </a:solidFill>
                  </a:tcPr>
                </a:tc>
              </a:tr>
            </a:tbl>
          </a:graphicData>
        </a:graphic>
      </p:graphicFrame>
      <p:sp>
        <p:nvSpPr>
          <p:cNvPr id="11" name="Rounded Rectangle 10"/>
          <p:cNvSpPr/>
          <p:nvPr/>
        </p:nvSpPr>
        <p:spPr>
          <a:xfrm>
            <a:off x="2286000" y="4114800"/>
            <a:ext cx="7589520" cy="1463040"/>
          </a:xfrm>
          <a:prstGeom prst="roundRect">
            <a:avLst>
              <a:gd name="adj" fmla="val 5000"/>
            </a:avLst>
          </a:prstGeom>
          <a:solidFill>
            <a:srgbClr val="142A5C"/>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4160520"/>
            <a:ext cx="7589520" cy="457200"/>
          </a:xfrm>
          <a:prstGeom prst="rect">
            <a:avLst/>
          </a:prstGeom>
          <a:noFill/>
        </p:spPr>
        <p:txBody>
          <a:bodyPr wrap="square" lIns="45720" rIns="45720" tIns="18288" bIns="18288" anchor="ctr">
            <a:spAutoFit/>
          </a:bodyPr>
          <a:lstStyle/>
          <a:p>
            <a:pPr algn="ctr"/>
            <a:r>
              <a:rPr sz="1400" b="1">
                <a:solidFill>
                  <a:srgbClr val="E8EEF7"/>
                </a:solidFill>
                <a:latin typeface="Hiragino Sans"/>
              </a:rPr>
              <a:t>🗂  プロンプト工房に必要なファイル数</a:t>
            </a:r>
          </a:p>
        </p:txBody>
      </p:sp>
      <p:sp>
        <p:nvSpPr>
          <p:cNvPr id="13" name="TextBox 12"/>
          <p:cNvSpPr txBox="1"/>
          <p:nvPr/>
        </p:nvSpPr>
        <p:spPr>
          <a:xfrm>
            <a:off x="2286000" y="4617720"/>
            <a:ext cx="7589520" cy="868680"/>
          </a:xfrm>
          <a:prstGeom prst="rect">
            <a:avLst/>
          </a:prstGeom>
          <a:noFill/>
        </p:spPr>
        <p:txBody>
          <a:bodyPr wrap="square" lIns="45720" rIns="45720" tIns="18288" bIns="18288" anchor="ctr">
            <a:spAutoFit/>
          </a:bodyPr>
          <a:lstStyle/>
          <a:p>
            <a:pPr algn="ctr"/>
            <a:r>
              <a:rPr sz="4200" b="1">
                <a:solidFill>
                  <a:srgbClr val="FFFFFF"/>
                </a:solidFill>
                <a:latin typeface="Hiragino Sans"/>
              </a:rPr>
              <a:t>1 ファイル（配布物①）</a:t>
            </a:r>
          </a:p>
        </p:txBody>
      </p:sp>
      <p:sp>
        <p:nvSpPr>
          <p:cNvPr id="14" name="Rectangle 13"/>
          <p:cNvSpPr/>
          <p:nvPr/>
        </p:nvSpPr>
        <p:spPr>
          <a:xfrm>
            <a:off x="548640" y="5852160"/>
            <a:ext cx="1097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5852160"/>
            <a:ext cx="10954512" cy="59436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5852160"/>
            <a:ext cx="1060704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メッセージ：プロンプト工房は配布物①の1ファイルだけで動く ＝ 無料プランでも問題なし</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2｜プロンプト工房</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25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プロンプト工房Projectを作る ― Step 1〜2</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①新規Project作成 → ②システムプロンプト設定</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83080"/>
            <a:ext cx="11064240" cy="2194560"/>
          </a:xfrm>
          <a:prstGeom prst="roundRect">
            <a:avLst>
              <a:gd name="adj" fmla="val 5000"/>
            </a:avLst>
          </a:prstGeom>
          <a:solidFill>
            <a:srgbClr val="FFFFFF"/>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83080"/>
            <a:ext cx="1828800" cy="21945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83080"/>
            <a:ext cx="182880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Step 1</a:t>
            </a:r>
          </a:p>
        </p:txBody>
      </p:sp>
      <p:sp>
        <p:nvSpPr>
          <p:cNvPr id="13" name="TextBox 12"/>
          <p:cNvSpPr txBox="1"/>
          <p:nvPr/>
        </p:nvSpPr>
        <p:spPr>
          <a:xfrm>
            <a:off x="548640" y="2286000"/>
            <a:ext cx="1828800" cy="1691640"/>
          </a:xfrm>
          <a:prstGeom prst="rect">
            <a:avLst/>
          </a:prstGeom>
          <a:noFill/>
        </p:spPr>
        <p:txBody>
          <a:bodyPr wrap="square" lIns="45720" rIns="45720" tIns="18288" bIns="18288" anchor="ctr">
            <a:spAutoFit/>
          </a:bodyPr>
          <a:lstStyle/>
          <a:p>
            <a:pPr algn="ctr"/>
            <a:r>
              <a:rPr sz="1800" b="1">
                <a:solidFill>
                  <a:srgbClr val="FFFFFF"/>
                </a:solidFill>
                <a:latin typeface="Hiragino Sans"/>
              </a:rPr>
              <a:t>新規Projectを</a:t>
            </a:r>
          </a:p>
          <a:p>
            <a:pPr algn="ctr"/>
            <a:r>
              <a:rPr sz="1800" b="1">
                <a:solidFill>
                  <a:srgbClr val="FFFFFF"/>
                </a:solidFill>
                <a:latin typeface="Hiragino Sans"/>
              </a:rPr>
              <a:t>作成</a:t>
            </a:r>
          </a:p>
        </p:txBody>
      </p:sp>
      <p:sp>
        <p:nvSpPr>
          <p:cNvPr id="14" name="TextBox 13"/>
          <p:cNvSpPr txBox="1"/>
          <p:nvPr/>
        </p:nvSpPr>
        <p:spPr>
          <a:xfrm>
            <a:off x="2606040" y="1920240"/>
            <a:ext cx="8686800" cy="548640"/>
          </a:xfrm>
          <a:prstGeom prst="rect">
            <a:avLst/>
          </a:prstGeom>
          <a:noFill/>
        </p:spPr>
        <p:txBody>
          <a:bodyPr wrap="square" lIns="45720" rIns="45720" tIns="18288" bIns="18288" anchor="ctr">
            <a:spAutoFit/>
          </a:bodyPr>
          <a:lstStyle/>
          <a:p>
            <a:pPr algn="l"/>
            <a:r>
              <a:rPr sz="1400" b="0">
                <a:solidFill>
                  <a:srgbClr val="333333"/>
                </a:solidFill>
                <a:latin typeface="Hiragino Sans"/>
              </a:rPr>
              <a:t>●  ChatGPTのサイドバーから「Projects」セクションを開く</a:t>
            </a:r>
          </a:p>
        </p:txBody>
      </p:sp>
      <p:sp>
        <p:nvSpPr>
          <p:cNvPr id="15" name="TextBox 14"/>
          <p:cNvSpPr txBox="1"/>
          <p:nvPr/>
        </p:nvSpPr>
        <p:spPr>
          <a:xfrm>
            <a:off x="2606040" y="2514600"/>
            <a:ext cx="8686800" cy="548640"/>
          </a:xfrm>
          <a:prstGeom prst="rect">
            <a:avLst/>
          </a:prstGeom>
          <a:noFill/>
        </p:spPr>
        <p:txBody>
          <a:bodyPr wrap="square" lIns="45720" rIns="45720" tIns="18288" bIns="18288" anchor="ctr">
            <a:spAutoFit/>
          </a:bodyPr>
          <a:lstStyle/>
          <a:p>
            <a:pPr algn="l"/>
            <a:r>
              <a:rPr sz="1400" b="0">
                <a:solidFill>
                  <a:srgbClr val="333333"/>
                </a:solidFill>
                <a:latin typeface="Hiragino Sans"/>
              </a:rPr>
              <a:t>●  「+ New Project」（or「+ 新規プロジェクト」）をタップ</a:t>
            </a:r>
          </a:p>
        </p:txBody>
      </p:sp>
      <p:sp>
        <p:nvSpPr>
          <p:cNvPr id="16" name="TextBox 15"/>
          <p:cNvSpPr txBox="1"/>
          <p:nvPr/>
        </p:nvSpPr>
        <p:spPr>
          <a:xfrm>
            <a:off x="2606040" y="3108960"/>
            <a:ext cx="8686800" cy="548640"/>
          </a:xfrm>
          <a:prstGeom prst="rect">
            <a:avLst/>
          </a:prstGeom>
          <a:noFill/>
        </p:spPr>
        <p:txBody>
          <a:bodyPr wrap="square" lIns="45720" rIns="45720" tIns="18288" bIns="18288" anchor="ctr">
            <a:spAutoFit/>
          </a:bodyPr>
          <a:lstStyle/>
          <a:p>
            <a:pPr algn="l"/>
            <a:r>
              <a:rPr sz="1400" b="0">
                <a:solidFill>
                  <a:srgbClr val="333333"/>
                </a:solidFill>
                <a:latin typeface="Hiragino Sans"/>
              </a:rPr>
              <a:t>●  Project名を入力（例：「プロンプト工房」）</a:t>
            </a:r>
          </a:p>
        </p:txBody>
      </p:sp>
      <p:sp>
        <p:nvSpPr>
          <p:cNvPr id="17" name="Rounded Rectangle 16"/>
          <p:cNvSpPr/>
          <p:nvPr/>
        </p:nvSpPr>
        <p:spPr>
          <a:xfrm>
            <a:off x="548640" y="4114800"/>
            <a:ext cx="11064240" cy="2286000"/>
          </a:xfrm>
          <a:prstGeom prst="roundRect">
            <a:avLst>
              <a:gd name="adj" fmla="val 5000"/>
            </a:avLst>
          </a:prstGeom>
          <a:solidFill>
            <a:srgbClr val="FFFFFF"/>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114800"/>
            <a:ext cx="1828800" cy="228600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114800"/>
            <a:ext cx="182880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Step 2</a:t>
            </a:r>
          </a:p>
        </p:txBody>
      </p:sp>
      <p:sp>
        <p:nvSpPr>
          <p:cNvPr id="20" name="TextBox 19"/>
          <p:cNvSpPr txBox="1"/>
          <p:nvPr/>
        </p:nvSpPr>
        <p:spPr>
          <a:xfrm>
            <a:off x="548640" y="4617720"/>
            <a:ext cx="1828800" cy="1783080"/>
          </a:xfrm>
          <a:prstGeom prst="rect">
            <a:avLst/>
          </a:prstGeom>
          <a:noFill/>
        </p:spPr>
        <p:txBody>
          <a:bodyPr wrap="square" lIns="45720" rIns="45720" tIns="18288" bIns="18288" anchor="ctr">
            <a:spAutoFit/>
          </a:bodyPr>
          <a:lstStyle/>
          <a:p>
            <a:pPr algn="ctr"/>
            <a:r>
              <a:rPr sz="1600" b="1">
                <a:solidFill>
                  <a:srgbClr val="FFFFFF"/>
                </a:solidFill>
                <a:latin typeface="Hiragino Sans"/>
              </a:rPr>
              <a:t>システム</a:t>
            </a:r>
          </a:p>
          <a:p>
            <a:pPr algn="ctr"/>
            <a:r>
              <a:rPr sz="1600" b="1">
                <a:solidFill>
                  <a:srgbClr val="FFFFFF"/>
                </a:solidFill>
                <a:latin typeface="Hiragino Sans"/>
              </a:rPr>
              <a:t>プロンプト</a:t>
            </a:r>
          </a:p>
          <a:p>
            <a:pPr algn="ctr"/>
            <a:r>
              <a:rPr sz="1600" b="1">
                <a:solidFill>
                  <a:srgbClr val="FFFFFF"/>
                </a:solidFill>
                <a:latin typeface="Hiragino Sans"/>
              </a:rPr>
              <a:t>を設定</a:t>
            </a:r>
          </a:p>
        </p:txBody>
      </p:sp>
      <p:sp>
        <p:nvSpPr>
          <p:cNvPr id="21" name="TextBox 20"/>
          <p:cNvSpPr txBox="1"/>
          <p:nvPr/>
        </p:nvSpPr>
        <p:spPr>
          <a:xfrm>
            <a:off x="2606040" y="4297680"/>
            <a:ext cx="8686800" cy="594360"/>
          </a:xfrm>
          <a:prstGeom prst="rect">
            <a:avLst/>
          </a:prstGeom>
          <a:noFill/>
        </p:spPr>
        <p:txBody>
          <a:bodyPr wrap="square" lIns="45720" rIns="45720" tIns="18288" bIns="18288" anchor="ctr">
            <a:spAutoFit/>
          </a:bodyPr>
          <a:lstStyle/>
          <a:p>
            <a:pPr algn="l"/>
            <a:r>
              <a:rPr sz="1400" b="0">
                <a:solidFill>
                  <a:srgbClr val="333333"/>
                </a:solidFill>
                <a:latin typeface="Hiragino Sans"/>
              </a:rPr>
              <a:t>●  「Instructions」（or「指示」）欄を開く</a:t>
            </a:r>
          </a:p>
        </p:txBody>
      </p:sp>
      <p:sp>
        <p:nvSpPr>
          <p:cNvPr id="22" name="Rectangle 21"/>
          <p:cNvSpPr/>
          <p:nvPr/>
        </p:nvSpPr>
        <p:spPr>
          <a:xfrm>
            <a:off x="2606040" y="4983480"/>
            <a:ext cx="8686800" cy="50292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0" y="4937760"/>
            <a:ext cx="859536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  配布物②のテキストを全文コピーして貼り付け</a:t>
            </a:r>
          </a:p>
        </p:txBody>
      </p:sp>
      <p:sp>
        <p:nvSpPr>
          <p:cNvPr id="24" name="TextBox 23"/>
          <p:cNvSpPr txBox="1"/>
          <p:nvPr/>
        </p:nvSpPr>
        <p:spPr>
          <a:xfrm>
            <a:off x="2606040" y="5577840"/>
            <a:ext cx="8686800" cy="594360"/>
          </a:xfrm>
          <a:prstGeom prst="rect">
            <a:avLst/>
          </a:prstGeom>
          <a:noFill/>
        </p:spPr>
        <p:txBody>
          <a:bodyPr wrap="square" lIns="45720" rIns="45720" tIns="18288" bIns="18288" anchor="ctr">
            <a:spAutoFit/>
          </a:bodyPr>
          <a:lstStyle/>
          <a:p>
            <a:pPr algn="l"/>
            <a:r>
              <a:rPr sz="1400" b="0">
                <a:solidFill>
                  <a:srgbClr val="333333"/>
                </a:solidFill>
                <a:latin typeface="Hiragino Sans"/>
              </a:rPr>
              <a:t>●  保存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2｜プロンプト工房</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26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プロンプト工房Projectを作る ― Step 3〜4</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③知識ベースをアップロード → ④動作確認</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83080"/>
            <a:ext cx="11064240" cy="2194560"/>
          </a:xfrm>
          <a:prstGeom prst="roundRect">
            <a:avLst>
              <a:gd name="adj" fmla="val 5000"/>
            </a:avLst>
          </a:prstGeom>
          <a:solidFill>
            <a:srgbClr val="FFFFFF"/>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83080"/>
            <a:ext cx="1828800" cy="21945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83080"/>
            <a:ext cx="182880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Step 3</a:t>
            </a:r>
          </a:p>
        </p:txBody>
      </p:sp>
      <p:sp>
        <p:nvSpPr>
          <p:cNvPr id="13" name="TextBox 12"/>
          <p:cNvSpPr txBox="1"/>
          <p:nvPr/>
        </p:nvSpPr>
        <p:spPr>
          <a:xfrm>
            <a:off x="548640" y="2286000"/>
            <a:ext cx="1828800" cy="1691640"/>
          </a:xfrm>
          <a:prstGeom prst="rect">
            <a:avLst/>
          </a:prstGeom>
          <a:noFill/>
        </p:spPr>
        <p:txBody>
          <a:bodyPr wrap="square" lIns="45720" rIns="45720" tIns="18288" bIns="18288" anchor="ctr">
            <a:spAutoFit/>
          </a:bodyPr>
          <a:lstStyle/>
          <a:p>
            <a:pPr algn="ctr"/>
            <a:r>
              <a:rPr sz="1400" b="1">
                <a:solidFill>
                  <a:srgbClr val="FFFFFF"/>
                </a:solidFill>
                <a:latin typeface="Hiragino Sans"/>
              </a:rPr>
              <a:t>知識ベース</a:t>
            </a:r>
          </a:p>
          <a:p>
            <a:pPr algn="ctr"/>
            <a:r>
              <a:rPr sz="1400" b="1">
                <a:solidFill>
                  <a:srgbClr val="FFFFFF"/>
                </a:solidFill>
                <a:latin typeface="Hiragino Sans"/>
              </a:rPr>
              <a:t>（配布物①）</a:t>
            </a:r>
          </a:p>
          <a:p>
            <a:pPr algn="ctr"/>
            <a:r>
              <a:rPr sz="1400" b="1">
                <a:solidFill>
                  <a:srgbClr val="FFFFFF"/>
                </a:solidFill>
                <a:latin typeface="Hiragino Sans"/>
              </a:rPr>
              <a:t>をアップロード</a:t>
            </a:r>
          </a:p>
        </p:txBody>
      </p:sp>
      <p:sp>
        <p:nvSpPr>
          <p:cNvPr id="14" name="TextBox 13"/>
          <p:cNvSpPr txBox="1"/>
          <p:nvPr/>
        </p:nvSpPr>
        <p:spPr>
          <a:xfrm>
            <a:off x="2606040" y="1920240"/>
            <a:ext cx="8686800" cy="594360"/>
          </a:xfrm>
          <a:prstGeom prst="rect">
            <a:avLst/>
          </a:prstGeom>
          <a:noFill/>
        </p:spPr>
        <p:txBody>
          <a:bodyPr wrap="square" lIns="45720" rIns="45720" tIns="18288" bIns="18288" anchor="ctr">
            <a:spAutoFit/>
          </a:bodyPr>
          <a:lstStyle/>
          <a:p>
            <a:pPr algn="l"/>
            <a:r>
              <a:rPr sz="1400" b="0">
                <a:solidFill>
                  <a:srgbClr val="333333"/>
                </a:solidFill>
                <a:latin typeface="Hiragino Sans"/>
              </a:rPr>
              <a:t>●  「Files」（or「ファイル」）欄を開く</a:t>
            </a:r>
          </a:p>
        </p:txBody>
      </p:sp>
      <p:sp>
        <p:nvSpPr>
          <p:cNvPr id="15" name="Rectangle 14"/>
          <p:cNvSpPr/>
          <p:nvPr/>
        </p:nvSpPr>
        <p:spPr>
          <a:xfrm>
            <a:off x="2606040" y="2560320"/>
            <a:ext cx="8686800" cy="50292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2514600"/>
            <a:ext cx="859536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  配布物①のPDFをアップロード</a:t>
            </a:r>
          </a:p>
        </p:txBody>
      </p:sp>
      <p:sp>
        <p:nvSpPr>
          <p:cNvPr id="17" name="TextBox 16"/>
          <p:cNvSpPr txBox="1"/>
          <p:nvPr/>
        </p:nvSpPr>
        <p:spPr>
          <a:xfrm>
            <a:off x="2606040" y="3108960"/>
            <a:ext cx="8686800" cy="594360"/>
          </a:xfrm>
          <a:prstGeom prst="rect">
            <a:avLst/>
          </a:prstGeom>
          <a:noFill/>
        </p:spPr>
        <p:txBody>
          <a:bodyPr wrap="square" lIns="45720" rIns="45720" tIns="18288" bIns="18288" anchor="ctr">
            <a:spAutoFit/>
          </a:bodyPr>
          <a:lstStyle/>
          <a:p>
            <a:pPr algn="l"/>
            <a:r>
              <a:rPr sz="1400" b="0">
                <a:solidFill>
                  <a:srgbClr val="333333"/>
                </a:solidFill>
                <a:latin typeface="Hiragino Sans"/>
              </a:rPr>
              <a:t>●  アップロード完了を確認</a:t>
            </a:r>
          </a:p>
        </p:txBody>
      </p:sp>
      <p:sp>
        <p:nvSpPr>
          <p:cNvPr id="18" name="Rounded Rectangle 17"/>
          <p:cNvSpPr/>
          <p:nvPr/>
        </p:nvSpPr>
        <p:spPr>
          <a:xfrm>
            <a:off x="548640" y="4114800"/>
            <a:ext cx="11064240" cy="2286000"/>
          </a:xfrm>
          <a:prstGeom prst="roundRect">
            <a:avLst>
              <a:gd name="adj" fmla="val 5000"/>
            </a:avLst>
          </a:prstGeom>
          <a:solidFill>
            <a:srgbClr val="FFFFFF"/>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114800"/>
            <a:ext cx="1828800" cy="228600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114800"/>
            <a:ext cx="182880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Step 4</a:t>
            </a:r>
          </a:p>
        </p:txBody>
      </p:sp>
      <p:sp>
        <p:nvSpPr>
          <p:cNvPr id="21" name="TextBox 20"/>
          <p:cNvSpPr txBox="1"/>
          <p:nvPr/>
        </p:nvSpPr>
        <p:spPr>
          <a:xfrm>
            <a:off x="548640" y="4617720"/>
            <a:ext cx="1828800" cy="1783080"/>
          </a:xfrm>
          <a:prstGeom prst="rect">
            <a:avLst/>
          </a:prstGeom>
          <a:noFill/>
        </p:spPr>
        <p:txBody>
          <a:bodyPr wrap="square" lIns="45720" rIns="45720" tIns="18288" bIns="18288" anchor="ctr">
            <a:spAutoFit/>
          </a:bodyPr>
          <a:lstStyle/>
          <a:p>
            <a:pPr algn="ctr"/>
            <a:r>
              <a:rPr sz="2000" b="1">
                <a:solidFill>
                  <a:srgbClr val="FFFFFF"/>
                </a:solidFill>
                <a:latin typeface="Hiragino Sans"/>
              </a:rPr>
              <a:t>動作確認</a:t>
            </a:r>
          </a:p>
        </p:txBody>
      </p:sp>
      <p:sp>
        <p:nvSpPr>
          <p:cNvPr id="22" name="TextBox 21"/>
          <p:cNvSpPr txBox="1"/>
          <p:nvPr/>
        </p:nvSpPr>
        <p:spPr>
          <a:xfrm>
            <a:off x="2606040" y="4297680"/>
            <a:ext cx="8686800" cy="594360"/>
          </a:xfrm>
          <a:prstGeom prst="rect">
            <a:avLst/>
          </a:prstGeom>
          <a:noFill/>
        </p:spPr>
        <p:txBody>
          <a:bodyPr wrap="square" lIns="45720" rIns="45720" tIns="18288" bIns="18288" anchor="ctr">
            <a:spAutoFit/>
          </a:bodyPr>
          <a:lstStyle/>
          <a:p>
            <a:pPr algn="l"/>
            <a:r>
              <a:rPr sz="1400" b="0">
                <a:solidFill>
                  <a:srgbClr val="333333"/>
                </a:solidFill>
                <a:latin typeface="Hiragino Sans"/>
              </a:rPr>
              <a:t>●  このProject内で新規チャットを開始</a:t>
            </a:r>
          </a:p>
        </p:txBody>
      </p:sp>
      <p:sp>
        <p:nvSpPr>
          <p:cNvPr id="23" name="TextBox 22"/>
          <p:cNvSpPr txBox="1"/>
          <p:nvPr/>
        </p:nvSpPr>
        <p:spPr>
          <a:xfrm>
            <a:off x="2606040" y="4937760"/>
            <a:ext cx="8686800" cy="594360"/>
          </a:xfrm>
          <a:prstGeom prst="rect">
            <a:avLst/>
          </a:prstGeom>
          <a:noFill/>
        </p:spPr>
        <p:txBody>
          <a:bodyPr wrap="square" lIns="45720" rIns="45720" tIns="18288" bIns="18288" anchor="ctr">
            <a:spAutoFit/>
          </a:bodyPr>
          <a:lstStyle/>
          <a:p>
            <a:pPr algn="l"/>
            <a:r>
              <a:rPr sz="1400" b="0">
                <a:solidFill>
                  <a:srgbClr val="333333"/>
                </a:solidFill>
                <a:latin typeface="Hiragino Sans"/>
              </a:rPr>
              <a:t>●  「画像を作りたいです」と話しかける</a:t>
            </a:r>
          </a:p>
        </p:txBody>
      </p:sp>
      <p:sp>
        <p:nvSpPr>
          <p:cNvPr id="24" name="Rectangle 23"/>
          <p:cNvSpPr/>
          <p:nvPr/>
        </p:nvSpPr>
        <p:spPr>
          <a:xfrm>
            <a:off x="2606040" y="5623560"/>
            <a:ext cx="8686800" cy="50292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0" y="5577840"/>
            <a:ext cx="859536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  Projectがヒアリング質問を返してくれれば成功</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2｜プロンプト工房</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27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使い方フロー</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工房は『プロンプトを作る場所』。画像生成は別チャットで行う</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755648"/>
            <a:ext cx="1828800" cy="73152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55648"/>
            <a:ext cx="1828800" cy="731520"/>
          </a:xfrm>
          <a:prstGeom prst="rect">
            <a:avLst/>
          </a:prstGeom>
          <a:noFill/>
        </p:spPr>
        <p:txBody>
          <a:bodyPr wrap="square" lIns="45720" rIns="45720" tIns="18288" bIns="18288" anchor="ctr">
            <a:spAutoFit/>
          </a:bodyPr>
          <a:lstStyle/>
          <a:p>
            <a:pPr algn="ctr"/>
            <a:r>
              <a:rPr sz="1500" b="1">
                <a:solidFill>
                  <a:srgbClr val="FFFFFF"/>
                </a:solidFill>
                <a:latin typeface="Hiragino Sans"/>
              </a:rPr>
              <a:t>あなた</a:t>
            </a:r>
          </a:p>
        </p:txBody>
      </p:sp>
      <p:sp>
        <p:nvSpPr>
          <p:cNvPr id="12" name="Rounded Rectangle 11"/>
          <p:cNvSpPr/>
          <p:nvPr/>
        </p:nvSpPr>
        <p:spPr>
          <a:xfrm>
            <a:off x="2606040" y="1755648"/>
            <a:ext cx="9006840" cy="731520"/>
          </a:xfrm>
          <a:prstGeom prst="roundRect">
            <a:avLst>
              <a:gd name="adj" fmla="val 6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8920" y="1755648"/>
            <a:ext cx="8686800" cy="731520"/>
          </a:xfrm>
          <a:prstGeom prst="rect">
            <a:avLst/>
          </a:prstGeom>
          <a:noFill/>
        </p:spPr>
        <p:txBody>
          <a:bodyPr wrap="square" lIns="45720" rIns="45720" tIns="18288" bIns="18288" anchor="ctr">
            <a:spAutoFit/>
          </a:bodyPr>
          <a:lstStyle/>
          <a:p>
            <a:pPr algn="l"/>
            <a:r>
              <a:rPr sz="1300" b="0">
                <a:solidFill>
                  <a:srgbClr val="0B1B3F"/>
                </a:solidFill>
                <a:latin typeface="Hiragino Sans"/>
              </a:rPr>
              <a:t>「セミナーの表紙画像を作りたい。</a:t>
            </a:r>
          </a:p>
          <a:p>
            <a:pPr algn="l"/>
            <a:r>
              <a:rPr sz="1300" b="0">
                <a:solidFill>
                  <a:srgbClr val="0B1B3F"/>
                </a:solidFill>
                <a:latin typeface="Hiragino Sans"/>
              </a:rPr>
              <a:t>テーマはAI活用」</a:t>
            </a:r>
          </a:p>
        </p:txBody>
      </p:sp>
      <p:sp>
        <p:nvSpPr>
          <p:cNvPr id="14" name="Down Arrow 13"/>
          <p:cNvSpPr/>
          <p:nvPr/>
        </p:nvSpPr>
        <p:spPr>
          <a:xfrm>
            <a:off x="1417320" y="2468880"/>
            <a:ext cx="274320" cy="164592"/>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624328"/>
            <a:ext cx="1828800" cy="7315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624328"/>
            <a:ext cx="1828800" cy="731520"/>
          </a:xfrm>
          <a:prstGeom prst="rect">
            <a:avLst/>
          </a:prstGeom>
          <a:noFill/>
        </p:spPr>
        <p:txBody>
          <a:bodyPr wrap="square" lIns="45720" rIns="45720" tIns="18288" bIns="18288" anchor="ctr">
            <a:spAutoFit/>
          </a:bodyPr>
          <a:lstStyle/>
          <a:p>
            <a:pPr algn="ctr"/>
            <a:r>
              <a:rPr sz="1500" b="1">
                <a:solidFill>
                  <a:srgbClr val="FFFFFF"/>
                </a:solidFill>
                <a:latin typeface="Hiragino Sans"/>
              </a:rPr>
              <a:t>工房</a:t>
            </a:r>
          </a:p>
        </p:txBody>
      </p:sp>
      <p:sp>
        <p:nvSpPr>
          <p:cNvPr id="17" name="Rounded Rectangle 16"/>
          <p:cNvSpPr/>
          <p:nvPr/>
        </p:nvSpPr>
        <p:spPr>
          <a:xfrm>
            <a:off x="2606040" y="2624328"/>
            <a:ext cx="9006840" cy="731520"/>
          </a:xfrm>
          <a:prstGeom prst="roundRect">
            <a:avLst>
              <a:gd name="adj" fmla="val 6000"/>
            </a:avLst>
          </a:prstGeom>
          <a:solidFill>
            <a:srgbClr val="FFFFFF"/>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88920" y="2624328"/>
            <a:ext cx="8686800" cy="731520"/>
          </a:xfrm>
          <a:prstGeom prst="rect">
            <a:avLst/>
          </a:prstGeom>
          <a:noFill/>
        </p:spPr>
        <p:txBody>
          <a:bodyPr wrap="square" lIns="45720" rIns="45720" tIns="18288" bIns="18288" anchor="ctr">
            <a:spAutoFit/>
          </a:bodyPr>
          <a:lstStyle/>
          <a:p>
            <a:pPr algn="l"/>
            <a:r>
              <a:rPr sz="1300" b="0">
                <a:solidFill>
                  <a:srgbClr val="0B1B3F"/>
                </a:solidFill>
                <a:latin typeface="Hiragino Sans"/>
              </a:rPr>
              <a:t>「対象は誰向け？」「写真風 or イラスト風？」</a:t>
            </a:r>
          </a:p>
          <a:p>
            <a:pPr algn="l"/>
            <a:r>
              <a:rPr sz="1300" b="0">
                <a:solidFill>
                  <a:srgbClr val="0B1B3F"/>
                </a:solidFill>
                <a:latin typeface="Hiragino Sans"/>
              </a:rPr>
              <a:t>「色味の希望は？」「文字を入れる？」</a:t>
            </a:r>
          </a:p>
        </p:txBody>
      </p:sp>
      <p:sp>
        <p:nvSpPr>
          <p:cNvPr id="19" name="Down Arrow 18"/>
          <p:cNvSpPr/>
          <p:nvPr/>
        </p:nvSpPr>
        <p:spPr>
          <a:xfrm>
            <a:off x="1417320" y="3337560"/>
            <a:ext cx="274320" cy="164592"/>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493008"/>
            <a:ext cx="1828800" cy="73152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493008"/>
            <a:ext cx="1828800" cy="731520"/>
          </a:xfrm>
          <a:prstGeom prst="rect">
            <a:avLst/>
          </a:prstGeom>
          <a:noFill/>
        </p:spPr>
        <p:txBody>
          <a:bodyPr wrap="square" lIns="45720" rIns="45720" tIns="18288" bIns="18288" anchor="ctr">
            <a:spAutoFit/>
          </a:bodyPr>
          <a:lstStyle/>
          <a:p>
            <a:pPr algn="ctr"/>
            <a:r>
              <a:rPr sz="1500" b="1">
                <a:solidFill>
                  <a:srgbClr val="FFFFFF"/>
                </a:solidFill>
                <a:latin typeface="Hiragino Sans"/>
              </a:rPr>
              <a:t>あなた</a:t>
            </a:r>
          </a:p>
        </p:txBody>
      </p:sp>
      <p:sp>
        <p:nvSpPr>
          <p:cNvPr id="22" name="Rounded Rectangle 21"/>
          <p:cNvSpPr/>
          <p:nvPr/>
        </p:nvSpPr>
        <p:spPr>
          <a:xfrm>
            <a:off x="2606040" y="3493008"/>
            <a:ext cx="9006840" cy="731520"/>
          </a:xfrm>
          <a:prstGeom prst="roundRect">
            <a:avLst>
              <a:gd name="adj" fmla="val 6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88920" y="3493008"/>
            <a:ext cx="8686800" cy="731520"/>
          </a:xfrm>
          <a:prstGeom prst="rect">
            <a:avLst/>
          </a:prstGeom>
          <a:noFill/>
        </p:spPr>
        <p:txBody>
          <a:bodyPr wrap="square" lIns="45720" rIns="45720" tIns="18288" bIns="18288" anchor="ctr">
            <a:spAutoFit/>
          </a:bodyPr>
          <a:lstStyle/>
          <a:p>
            <a:pPr algn="l"/>
            <a:r>
              <a:rPr sz="1300" b="0">
                <a:solidFill>
                  <a:srgbClr val="0B1B3F"/>
                </a:solidFill>
                <a:latin typeface="Hiragino Sans"/>
              </a:rPr>
              <a:t>（質問に答える）</a:t>
            </a:r>
          </a:p>
        </p:txBody>
      </p:sp>
      <p:sp>
        <p:nvSpPr>
          <p:cNvPr id="24" name="Down Arrow 23"/>
          <p:cNvSpPr/>
          <p:nvPr/>
        </p:nvSpPr>
        <p:spPr>
          <a:xfrm>
            <a:off x="1417320" y="4206240"/>
            <a:ext cx="274320" cy="164592"/>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361688"/>
            <a:ext cx="1828800" cy="7315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361688"/>
            <a:ext cx="1828800" cy="731520"/>
          </a:xfrm>
          <a:prstGeom prst="rect">
            <a:avLst/>
          </a:prstGeom>
          <a:noFill/>
        </p:spPr>
        <p:txBody>
          <a:bodyPr wrap="square" lIns="45720" rIns="45720" tIns="18288" bIns="18288" anchor="ctr">
            <a:spAutoFit/>
          </a:bodyPr>
          <a:lstStyle/>
          <a:p>
            <a:pPr algn="ctr"/>
            <a:r>
              <a:rPr sz="1500" b="1">
                <a:solidFill>
                  <a:srgbClr val="FFFFFF"/>
                </a:solidFill>
                <a:latin typeface="Hiragino Sans"/>
              </a:rPr>
              <a:t>工房</a:t>
            </a:r>
          </a:p>
        </p:txBody>
      </p:sp>
      <p:sp>
        <p:nvSpPr>
          <p:cNvPr id="27" name="Rounded Rectangle 26"/>
          <p:cNvSpPr/>
          <p:nvPr/>
        </p:nvSpPr>
        <p:spPr>
          <a:xfrm>
            <a:off x="2606040" y="4361688"/>
            <a:ext cx="9006840" cy="731520"/>
          </a:xfrm>
          <a:prstGeom prst="roundRect">
            <a:avLst>
              <a:gd name="adj" fmla="val 6000"/>
            </a:avLst>
          </a:prstGeom>
          <a:solidFill>
            <a:srgbClr val="FFFFFF"/>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88920" y="4361688"/>
            <a:ext cx="8686800" cy="731520"/>
          </a:xfrm>
          <a:prstGeom prst="rect">
            <a:avLst/>
          </a:prstGeom>
          <a:noFill/>
        </p:spPr>
        <p:txBody>
          <a:bodyPr wrap="square" lIns="45720" rIns="45720" tIns="18288" bIns="18288" anchor="ctr">
            <a:spAutoFit/>
          </a:bodyPr>
          <a:lstStyle/>
          <a:p>
            <a:pPr algn="l"/>
            <a:r>
              <a:rPr sz="1300" b="0">
                <a:solidFill>
                  <a:srgbClr val="0B1B3F"/>
                </a:solidFill>
                <a:latin typeface="Hiragino Sans"/>
              </a:rPr>
              <a:t>「以下のプロンプトをImages機能に貼ってください」 → 完成プロンプトをコピー</a:t>
            </a:r>
          </a:p>
        </p:txBody>
      </p:sp>
      <p:sp>
        <p:nvSpPr>
          <p:cNvPr id="29" name="Down Arrow 28"/>
          <p:cNvSpPr/>
          <p:nvPr/>
        </p:nvSpPr>
        <p:spPr>
          <a:xfrm>
            <a:off x="1417320" y="5074920"/>
            <a:ext cx="274320" cy="164592"/>
          </a:xfrm>
          <a:prstGeom prst="downArrow">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5230368"/>
            <a:ext cx="1828800" cy="7315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230368"/>
            <a:ext cx="1828800" cy="731520"/>
          </a:xfrm>
          <a:prstGeom prst="rect">
            <a:avLst/>
          </a:prstGeom>
          <a:noFill/>
        </p:spPr>
        <p:txBody>
          <a:bodyPr wrap="square" lIns="45720" rIns="45720" tIns="18288" bIns="18288" anchor="ctr">
            <a:spAutoFit/>
          </a:bodyPr>
          <a:lstStyle/>
          <a:p>
            <a:pPr algn="ctr"/>
            <a:r>
              <a:rPr sz="1500" b="1">
                <a:solidFill>
                  <a:srgbClr val="FFFFFF"/>
                </a:solidFill>
                <a:latin typeface="Hiragino Sans"/>
              </a:rPr>
              <a:t>画像生成</a:t>
            </a:r>
          </a:p>
        </p:txBody>
      </p:sp>
      <p:sp>
        <p:nvSpPr>
          <p:cNvPr id="32" name="Rounded Rectangle 31"/>
          <p:cNvSpPr/>
          <p:nvPr/>
        </p:nvSpPr>
        <p:spPr>
          <a:xfrm>
            <a:off x="2606040" y="5230368"/>
            <a:ext cx="9006840" cy="731520"/>
          </a:xfrm>
          <a:prstGeom prst="roundRect">
            <a:avLst>
              <a:gd name="adj" fmla="val 6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5230368"/>
            <a:ext cx="8686800" cy="731520"/>
          </a:xfrm>
          <a:prstGeom prst="rect">
            <a:avLst/>
          </a:prstGeom>
          <a:noFill/>
        </p:spPr>
        <p:txBody>
          <a:bodyPr wrap="square" lIns="45720" rIns="45720" tIns="18288" bIns="18288" anchor="ctr">
            <a:spAutoFit/>
          </a:bodyPr>
          <a:lstStyle/>
          <a:p>
            <a:pPr algn="l"/>
            <a:r>
              <a:rPr sz="1300" b="0">
                <a:solidFill>
                  <a:srgbClr val="0B1B3F"/>
                </a:solidFill>
                <a:latin typeface="Hiragino Sans"/>
              </a:rPr>
              <a:t>新規チャット（Project外）に貼り付けて画像生成</a:t>
            </a:r>
          </a:p>
        </p:txBody>
      </p:sp>
      <p:sp>
        <p:nvSpPr>
          <p:cNvPr id="34" name="Rectangle 33"/>
          <p:cNvSpPr/>
          <p:nvPr/>
        </p:nvSpPr>
        <p:spPr>
          <a:xfrm>
            <a:off x="548640" y="6263640"/>
            <a:ext cx="1097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6263640"/>
            <a:ext cx="10954512" cy="59436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 y="6263640"/>
            <a:ext cx="1060704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メッセージ：工房は『プロンプトを作る場所』。画像生成は新規チャット（or別Project）で行う</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2｜演習</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28 / 40</a:t>
            </a:r>
          </a:p>
        </p:txBody>
      </p:sp>
      <p:sp>
        <p:nvSpPr>
          <p:cNvPr id="6" name="Rectangle 5"/>
          <p:cNvSpPr/>
          <p:nvPr/>
        </p:nvSpPr>
        <p:spPr>
          <a:xfrm>
            <a:off x="457200" y="594360"/>
            <a:ext cx="164592"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anchor="ctr">
            <a:spAutoFit/>
          </a:bodyPr>
          <a:lstStyle/>
          <a:p>
            <a:pPr algn="l"/>
            <a:r>
              <a:rPr sz="3000" b="1">
                <a:solidFill>
                  <a:srgbClr val="0B1B3F"/>
                </a:solidFill>
                <a:latin typeface="Hiragino Sans"/>
              </a:rPr>
              <a:t>演習②</a:t>
            </a:r>
            <a:r>
              <a:rPr sz="3000" b="0">
                <a:solidFill>
                  <a:srgbClr val="0B1B3F"/>
                </a:solidFill>
                <a:latin typeface="Hiragino Sans"/>
              </a:rPr>
              <a:t>   </a:t>
            </a:r>
            <a:r>
              <a:rPr sz="1800" b="1">
                <a:solidFill>
                  <a:srgbClr val="C8A84B"/>
                </a:solidFill>
                <a:latin typeface="Hiragino Sans"/>
              </a:rPr>
              <a:t>⏱ 7分</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400" b="0">
                <a:solidFill>
                  <a:srgbClr val="3D5A80"/>
                </a:solidFill>
                <a:latin typeface="Hiragino Sans"/>
              </a:rPr>
              <a:t>プロンプト工房を実際に使って画像を生成する</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91640"/>
            <a:ext cx="6400800" cy="411480"/>
          </a:xfrm>
          <a:prstGeom prst="rect">
            <a:avLst/>
          </a:prstGeom>
          <a:noFill/>
        </p:spPr>
        <p:txBody>
          <a:bodyPr wrap="square" lIns="45720" rIns="45720" tIns="18288" bIns="18288" anchor="t">
            <a:spAutoFit/>
          </a:bodyPr>
          <a:lstStyle/>
          <a:p>
            <a:pPr algn="l"/>
            <a:r>
              <a:rPr sz="1600" b="1">
                <a:solidFill>
                  <a:srgbClr val="0B1B3F"/>
                </a:solidFill>
                <a:latin typeface="Hiragino Sans"/>
              </a:rPr>
              <a:t>▼  手順</a:t>
            </a:r>
          </a:p>
        </p:txBody>
      </p:sp>
      <p:sp>
        <p:nvSpPr>
          <p:cNvPr id="11" name="Rectangle 10"/>
          <p:cNvSpPr/>
          <p:nvPr/>
        </p:nvSpPr>
        <p:spPr>
          <a:xfrm>
            <a:off x="548640" y="214884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4884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1</a:t>
            </a:r>
          </a:p>
        </p:txBody>
      </p:sp>
      <p:sp>
        <p:nvSpPr>
          <p:cNvPr id="13" name="Rectangle 12"/>
          <p:cNvSpPr/>
          <p:nvPr/>
        </p:nvSpPr>
        <p:spPr>
          <a:xfrm>
            <a:off x="1143000" y="214884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214884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作ったプロンプト工房Projectを開く</a:t>
            </a:r>
          </a:p>
        </p:txBody>
      </p:sp>
      <p:sp>
        <p:nvSpPr>
          <p:cNvPr id="15" name="Rectangle 14"/>
          <p:cNvSpPr/>
          <p:nvPr/>
        </p:nvSpPr>
        <p:spPr>
          <a:xfrm>
            <a:off x="548640" y="278892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78892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2</a:t>
            </a:r>
          </a:p>
        </p:txBody>
      </p:sp>
      <p:sp>
        <p:nvSpPr>
          <p:cNvPr id="17" name="Rectangle 16"/>
          <p:cNvSpPr/>
          <p:nvPr/>
        </p:nvSpPr>
        <p:spPr>
          <a:xfrm>
            <a:off x="1143000" y="278892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278892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自分が作りたい画像を抽象的に伝える（例：「次回セミナーの表紙、何かいい感じのを」）</a:t>
            </a:r>
          </a:p>
        </p:txBody>
      </p:sp>
      <p:sp>
        <p:nvSpPr>
          <p:cNvPr id="19" name="Rectangle 18"/>
          <p:cNvSpPr/>
          <p:nvPr/>
        </p:nvSpPr>
        <p:spPr>
          <a:xfrm>
            <a:off x="548640" y="342900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42900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3</a:t>
            </a:r>
          </a:p>
        </p:txBody>
      </p:sp>
      <p:sp>
        <p:nvSpPr>
          <p:cNvPr id="21" name="Rectangle 20"/>
          <p:cNvSpPr/>
          <p:nvPr/>
        </p:nvSpPr>
        <p:spPr>
          <a:xfrm>
            <a:off x="1143000" y="342900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342900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ヒアリングに答える</a:t>
            </a:r>
          </a:p>
        </p:txBody>
      </p:sp>
      <p:sp>
        <p:nvSpPr>
          <p:cNvPr id="23" name="Rectangle 22"/>
          <p:cNvSpPr/>
          <p:nvPr/>
        </p:nvSpPr>
        <p:spPr>
          <a:xfrm>
            <a:off x="548640" y="406908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06908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4</a:t>
            </a:r>
          </a:p>
        </p:txBody>
      </p:sp>
      <p:sp>
        <p:nvSpPr>
          <p:cNvPr id="25" name="Rectangle 24"/>
          <p:cNvSpPr/>
          <p:nvPr/>
        </p:nvSpPr>
        <p:spPr>
          <a:xfrm>
            <a:off x="1143000" y="406908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0160" y="406908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出てきたプロンプトをコピー</a:t>
            </a:r>
          </a:p>
        </p:txBody>
      </p:sp>
      <p:sp>
        <p:nvSpPr>
          <p:cNvPr id="27" name="Rectangle 26"/>
          <p:cNvSpPr/>
          <p:nvPr/>
        </p:nvSpPr>
        <p:spPr>
          <a:xfrm>
            <a:off x="548640" y="470916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70916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5</a:t>
            </a:r>
          </a:p>
        </p:txBody>
      </p:sp>
      <p:sp>
        <p:nvSpPr>
          <p:cNvPr id="29" name="Rectangle 28"/>
          <p:cNvSpPr/>
          <p:nvPr/>
        </p:nvSpPr>
        <p:spPr>
          <a:xfrm>
            <a:off x="1143000" y="470916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80160" y="470916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新規チャットでImages機能に貼り付けて画像生成</a:t>
            </a:r>
          </a:p>
        </p:txBody>
      </p:sp>
      <p:sp>
        <p:nvSpPr>
          <p:cNvPr id="31" name="TextBox 30"/>
          <p:cNvSpPr txBox="1"/>
          <p:nvPr/>
        </p:nvSpPr>
        <p:spPr>
          <a:xfrm>
            <a:off x="7315200" y="1691640"/>
            <a:ext cx="4297680" cy="411480"/>
          </a:xfrm>
          <a:prstGeom prst="rect">
            <a:avLst/>
          </a:prstGeom>
          <a:noFill/>
        </p:spPr>
        <p:txBody>
          <a:bodyPr wrap="square" lIns="45720" rIns="45720" tIns="18288" bIns="18288" anchor="t">
            <a:spAutoFit/>
          </a:bodyPr>
          <a:lstStyle/>
          <a:p>
            <a:pPr algn="l"/>
            <a:r>
              <a:rPr sz="1600" b="1">
                <a:solidFill>
                  <a:srgbClr val="0B1B3F"/>
                </a:solidFill>
                <a:latin typeface="Hiragino Sans"/>
              </a:rPr>
              <a:t>▼  チェックポイント</a:t>
            </a:r>
          </a:p>
        </p:txBody>
      </p:sp>
      <p:sp>
        <p:nvSpPr>
          <p:cNvPr id="32" name="Rounded Rectangle 31"/>
          <p:cNvSpPr/>
          <p:nvPr/>
        </p:nvSpPr>
        <p:spPr>
          <a:xfrm>
            <a:off x="7315200" y="2148840"/>
            <a:ext cx="4297680" cy="4480560"/>
          </a:xfrm>
          <a:prstGeom prst="roundRect">
            <a:avLst>
              <a:gd name="adj" fmla="val 5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79" y="237744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3657600" cy="365760"/>
          </a:xfrm>
          <a:prstGeom prst="rect">
            <a:avLst/>
          </a:prstGeom>
          <a:noFill/>
        </p:spPr>
        <p:txBody>
          <a:bodyPr wrap="square" lIns="45720" rIns="45720" tIns="18288" bIns="18288" anchor="ctr">
            <a:spAutoFit/>
          </a:bodyPr>
          <a:lstStyle/>
          <a:p>
            <a:pPr algn="l"/>
            <a:r>
              <a:rPr sz="1300" b="0">
                <a:solidFill>
                  <a:srgbClr val="0B1B3F"/>
                </a:solidFill>
                <a:latin typeface="Hiragino Sans"/>
              </a:rPr>
              <a:t>プロンプト工房Projectが作れた</a:t>
            </a:r>
          </a:p>
        </p:txBody>
      </p:sp>
      <p:sp>
        <p:nvSpPr>
          <p:cNvPr id="35" name="Rectangle 34"/>
          <p:cNvSpPr/>
          <p:nvPr/>
        </p:nvSpPr>
        <p:spPr>
          <a:xfrm>
            <a:off x="7498079" y="292608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2880360"/>
            <a:ext cx="3657600" cy="365760"/>
          </a:xfrm>
          <a:prstGeom prst="rect">
            <a:avLst/>
          </a:prstGeom>
          <a:noFill/>
        </p:spPr>
        <p:txBody>
          <a:bodyPr wrap="square" lIns="45720" rIns="45720" tIns="18288" bIns="18288" anchor="ctr">
            <a:spAutoFit/>
          </a:bodyPr>
          <a:lstStyle/>
          <a:p>
            <a:pPr algn="l"/>
            <a:r>
              <a:rPr sz="1300" b="0">
                <a:solidFill>
                  <a:srgbClr val="0B1B3F"/>
                </a:solidFill>
                <a:latin typeface="Hiragino Sans"/>
              </a:rPr>
              <a:t>ヒアリングを経てプロンプトが返ってきた</a:t>
            </a:r>
          </a:p>
        </p:txBody>
      </p:sp>
      <p:sp>
        <p:nvSpPr>
          <p:cNvPr id="37" name="Rectangle 36"/>
          <p:cNvSpPr/>
          <p:nvPr/>
        </p:nvSpPr>
        <p:spPr>
          <a:xfrm>
            <a:off x="7498079" y="347472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0" y="3429000"/>
            <a:ext cx="3657600" cy="365760"/>
          </a:xfrm>
          <a:prstGeom prst="rect">
            <a:avLst/>
          </a:prstGeom>
          <a:noFill/>
        </p:spPr>
        <p:txBody>
          <a:bodyPr wrap="square" lIns="45720" rIns="45720" tIns="18288" bIns="18288" anchor="ctr">
            <a:spAutoFit/>
          </a:bodyPr>
          <a:lstStyle/>
          <a:p>
            <a:pPr algn="l"/>
            <a:r>
              <a:rPr sz="1300" b="0">
                <a:solidFill>
                  <a:srgbClr val="0B1B3F"/>
                </a:solidFill>
                <a:latin typeface="Hiragino Sans"/>
              </a:rPr>
              <a:t>そのプロンプトで画像が生成できた</a:t>
            </a:r>
          </a:p>
        </p:txBody>
      </p:sp>
      <p:sp>
        <p:nvSpPr>
          <p:cNvPr id="39" name="Rectangle 38"/>
          <p:cNvSpPr/>
          <p:nvPr/>
        </p:nvSpPr>
        <p:spPr>
          <a:xfrm>
            <a:off x="7498079" y="402336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63840" y="3977640"/>
            <a:ext cx="3657600" cy="365760"/>
          </a:xfrm>
          <a:prstGeom prst="rect">
            <a:avLst/>
          </a:prstGeom>
          <a:noFill/>
        </p:spPr>
        <p:txBody>
          <a:bodyPr wrap="square" lIns="45720" rIns="45720" tIns="18288" bIns="18288" anchor="ctr">
            <a:spAutoFit/>
          </a:bodyPr>
          <a:lstStyle/>
          <a:p>
            <a:pPr algn="l"/>
            <a:r>
              <a:rPr sz="1300" b="0">
                <a:solidFill>
                  <a:srgbClr val="0B1B3F"/>
                </a:solidFill>
                <a:latin typeface="Hiragino Sans"/>
              </a:rPr>
              <a:t>生成画像が想定したテイストに近い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468880"/>
            <a:ext cx="64008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2331720"/>
            <a:ext cx="9144000" cy="457200"/>
          </a:xfrm>
          <a:prstGeom prst="rect">
            <a:avLst/>
          </a:prstGeom>
          <a:noFill/>
        </p:spPr>
        <p:txBody>
          <a:bodyPr wrap="square" lIns="45720" rIns="45720" tIns="18288" bIns="18288" anchor="ctr">
            <a:spAutoFit/>
          </a:bodyPr>
          <a:lstStyle/>
          <a:p>
            <a:pPr algn="l"/>
            <a:r>
              <a:rPr sz="1800" b="1">
                <a:solidFill>
                  <a:srgbClr val="C8A84B"/>
                </a:solidFill>
                <a:latin typeface="Hiragino Sans"/>
              </a:rPr>
              <a:t>PART 3</a:t>
            </a:r>
          </a:p>
        </p:txBody>
      </p:sp>
      <p:sp>
        <p:nvSpPr>
          <p:cNvPr id="5" name="TextBox 4"/>
          <p:cNvSpPr txBox="1"/>
          <p:nvPr/>
        </p:nvSpPr>
        <p:spPr>
          <a:xfrm>
            <a:off x="731520" y="2834640"/>
            <a:ext cx="10698480" cy="1828800"/>
          </a:xfrm>
          <a:prstGeom prst="rect">
            <a:avLst/>
          </a:prstGeom>
          <a:noFill/>
        </p:spPr>
        <p:txBody>
          <a:bodyPr wrap="square" lIns="45720" rIns="45720" tIns="18288" bIns="18288" anchor="t">
            <a:spAutoFit/>
          </a:bodyPr>
          <a:lstStyle/>
          <a:p>
            <a:pPr algn="l"/>
            <a:r>
              <a:rPr sz="5400" b="1">
                <a:solidFill>
                  <a:srgbClr val="FFFFFF"/>
                </a:solidFill>
                <a:latin typeface="Hiragino Sans"/>
              </a:rPr>
              <a:t>同一テイストの複数枚</a:t>
            </a:r>
          </a:p>
          <a:p>
            <a:pPr algn="l"/>
            <a:r>
              <a:rPr sz="5400" b="1">
                <a:solidFill>
                  <a:srgbClr val="FFFFFF"/>
                </a:solidFill>
                <a:latin typeface="Hiragino Sans"/>
              </a:rPr>
              <a:t>＆ 生成後の編集</a:t>
            </a:r>
          </a:p>
        </p:txBody>
      </p:sp>
      <p:sp>
        <p:nvSpPr>
          <p:cNvPr id="6" name="TextBox 5"/>
          <p:cNvSpPr txBox="1"/>
          <p:nvPr/>
        </p:nvSpPr>
        <p:spPr>
          <a:xfrm>
            <a:off x="731520" y="6035040"/>
            <a:ext cx="10698480" cy="365760"/>
          </a:xfrm>
          <a:prstGeom prst="rect">
            <a:avLst/>
          </a:prstGeom>
          <a:noFill/>
        </p:spPr>
        <p:txBody>
          <a:bodyPr wrap="square" lIns="45720" rIns="45720" tIns="18288" bIns="18288" anchor="t">
            <a:spAutoFit/>
          </a:bodyPr>
          <a:lstStyle/>
          <a:p>
            <a:pPr algn="l"/>
            <a:r>
              <a:rPr sz="1300" b="0">
                <a:solidFill>
                  <a:srgbClr val="E8EEF7"/>
                </a:solidFill>
                <a:latin typeface="Hiragino Sans"/>
              </a:rPr>
              <a:t>Vol.16 AIデザイン作成</a:t>
            </a:r>
          </a:p>
        </p:txBody>
      </p:sp>
      <p:sp>
        <p:nvSpPr>
          <p:cNvPr id="7" name="TextBox 6"/>
          <p:cNvSpPr txBox="1"/>
          <p:nvPr/>
        </p:nvSpPr>
        <p:spPr>
          <a:xfrm>
            <a:off x="11247120" y="6492240"/>
            <a:ext cx="868680" cy="274320"/>
          </a:xfrm>
          <a:prstGeom prst="rect">
            <a:avLst/>
          </a:prstGeom>
          <a:noFill/>
        </p:spPr>
        <p:txBody>
          <a:bodyPr wrap="square" lIns="45720" rIns="45720" tIns="18288" bIns="18288" anchor="t">
            <a:spAutoFit/>
          </a:bodyPr>
          <a:lstStyle/>
          <a:p>
            <a:pPr algn="r"/>
            <a:r>
              <a:rPr sz="1000" b="0">
                <a:solidFill>
                  <a:srgbClr val="E8EEF7"/>
                </a:solidFill>
                <a:latin typeface="Hiragino Sans"/>
              </a:rPr>
              <a:t>29 / 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3｜複数枚＆編集</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30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同一テイストで複数枚を揃える ― 3つの方法</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おすすめは『C → A』の組み合わせ</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5439" y="1783080"/>
            <a:ext cx="3657600" cy="4023360"/>
          </a:xfrm>
          <a:prstGeom prst="roundRect">
            <a:avLst>
              <a:gd name="adj" fmla="val 5000"/>
            </a:avLst>
          </a:prstGeom>
          <a:solidFill>
            <a:srgbClr val="FFFFFF"/>
          </a:solidFill>
          <a:ln w="3175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5439" y="1783080"/>
            <a:ext cx="3657600" cy="77724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8319" y="1783080"/>
            <a:ext cx="640080" cy="777240"/>
          </a:xfrm>
          <a:prstGeom prst="rect">
            <a:avLst/>
          </a:prstGeom>
          <a:noFill/>
        </p:spPr>
        <p:txBody>
          <a:bodyPr wrap="square" lIns="45720" rIns="45720" tIns="18288" bIns="18288" anchor="ctr">
            <a:spAutoFit/>
          </a:bodyPr>
          <a:lstStyle/>
          <a:p>
            <a:pPr algn="ctr"/>
            <a:r>
              <a:rPr sz="3600" b="1">
                <a:solidFill>
                  <a:srgbClr val="FFFFFF"/>
                </a:solidFill>
                <a:latin typeface="Hiragino Sans"/>
              </a:rPr>
              <a:t>A</a:t>
            </a:r>
          </a:p>
        </p:txBody>
      </p:sp>
      <p:sp>
        <p:nvSpPr>
          <p:cNvPr id="13" name="TextBox 12"/>
          <p:cNvSpPr txBox="1"/>
          <p:nvPr/>
        </p:nvSpPr>
        <p:spPr>
          <a:xfrm>
            <a:off x="1459839" y="1783080"/>
            <a:ext cx="2651760" cy="777240"/>
          </a:xfrm>
          <a:prstGeom prst="rect">
            <a:avLst/>
          </a:prstGeom>
          <a:noFill/>
        </p:spPr>
        <p:txBody>
          <a:bodyPr wrap="square" lIns="45720" rIns="45720" tIns="18288" bIns="18288" anchor="ctr">
            <a:spAutoFit/>
          </a:bodyPr>
          <a:lstStyle/>
          <a:p>
            <a:pPr algn="l"/>
            <a:r>
              <a:rPr sz="1400" b="1">
                <a:solidFill>
                  <a:srgbClr val="FFFFFF"/>
                </a:solidFill>
                <a:latin typeface="Hiragino Sans"/>
              </a:rPr>
              <a:t>同じ会話内で連続生成</a:t>
            </a:r>
          </a:p>
        </p:txBody>
      </p:sp>
      <p:sp>
        <p:nvSpPr>
          <p:cNvPr id="14" name="TextBox 13"/>
          <p:cNvSpPr txBox="1"/>
          <p:nvPr/>
        </p:nvSpPr>
        <p:spPr>
          <a:xfrm>
            <a:off x="728319" y="2697480"/>
            <a:ext cx="3291840" cy="365760"/>
          </a:xfrm>
          <a:prstGeom prst="rect">
            <a:avLst/>
          </a:prstGeom>
          <a:noFill/>
        </p:spPr>
        <p:txBody>
          <a:bodyPr wrap="square" lIns="45720" rIns="45720" tIns="18288" bIns="18288" anchor="t">
            <a:spAutoFit/>
          </a:bodyPr>
          <a:lstStyle/>
          <a:p>
            <a:pPr algn="l"/>
            <a:r>
              <a:rPr sz="1200" b="1">
                <a:solidFill>
                  <a:srgbClr val="3D5A80"/>
                </a:solidFill>
                <a:latin typeface="Hiragino Sans"/>
              </a:rPr>
              <a:t>▶ やり方</a:t>
            </a:r>
          </a:p>
        </p:txBody>
      </p:sp>
      <p:sp>
        <p:nvSpPr>
          <p:cNvPr id="15" name="TextBox 14"/>
          <p:cNvSpPr txBox="1"/>
          <p:nvPr/>
        </p:nvSpPr>
        <p:spPr>
          <a:xfrm>
            <a:off x="728319" y="3063240"/>
            <a:ext cx="3291840" cy="1097280"/>
          </a:xfrm>
          <a:prstGeom prst="rect">
            <a:avLst/>
          </a:prstGeom>
          <a:noFill/>
        </p:spPr>
        <p:txBody>
          <a:bodyPr wrap="square" lIns="45720" rIns="45720" tIns="18288" bIns="18288" anchor="t">
            <a:spAutoFit/>
          </a:bodyPr>
          <a:lstStyle/>
          <a:p>
            <a:pPr algn="l"/>
            <a:r>
              <a:rPr sz="1300" b="0">
                <a:solidFill>
                  <a:srgbClr val="333333"/>
                </a:solidFill>
                <a:latin typeface="Hiragino Sans"/>
              </a:rPr>
              <a:t>1枚目を作った同じチャットで</a:t>
            </a:r>
          </a:p>
          <a:p>
            <a:pPr algn="l"/>
            <a:r>
              <a:rPr sz="1300" b="0">
                <a:solidFill>
                  <a:srgbClr val="333333"/>
                </a:solidFill>
                <a:latin typeface="Hiragino Sans"/>
              </a:rPr>
              <a:t>「同じテイストで○○も作って」</a:t>
            </a:r>
          </a:p>
        </p:txBody>
      </p:sp>
      <p:sp>
        <p:nvSpPr>
          <p:cNvPr id="16" name="TextBox 15"/>
          <p:cNvSpPr txBox="1"/>
          <p:nvPr/>
        </p:nvSpPr>
        <p:spPr>
          <a:xfrm>
            <a:off x="728319" y="4251960"/>
            <a:ext cx="3291840" cy="365760"/>
          </a:xfrm>
          <a:prstGeom prst="rect">
            <a:avLst/>
          </a:prstGeom>
          <a:noFill/>
        </p:spPr>
        <p:txBody>
          <a:bodyPr wrap="square" lIns="45720" rIns="45720" tIns="18288" bIns="18288" anchor="t">
            <a:spAutoFit/>
          </a:bodyPr>
          <a:lstStyle/>
          <a:p>
            <a:pPr algn="l"/>
            <a:r>
              <a:rPr sz="1200" b="1">
                <a:solidFill>
                  <a:srgbClr val="3D5A80"/>
                </a:solidFill>
                <a:latin typeface="Hiragino Sans"/>
              </a:rPr>
              <a:t>▶ 特徴</a:t>
            </a:r>
          </a:p>
        </p:txBody>
      </p:sp>
      <p:sp>
        <p:nvSpPr>
          <p:cNvPr id="17" name="TextBox 16"/>
          <p:cNvSpPr txBox="1"/>
          <p:nvPr/>
        </p:nvSpPr>
        <p:spPr>
          <a:xfrm>
            <a:off x="728319" y="4617720"/>
            <a:ext cx="3291840" cy="1097280"/>
          </a:xfrm>
          <a:prstGeom prst="rect">
            <a:avLst/>
          </a:prstGeom>
          <a:noFill/>
        </p:spPr>
        <p:txBody>
          <a:bodyPr wrap="square" lIns="45720" rIns="45720" tIns="18288" bIns="18288" anchor="t">
            <a:spAutoFit/>
          </a:bodyPr>
          <a:lstStyle/>
          <a:p>
            <a:pPr algn="l"/>
            <a:r>
              <a:rPr sz="1300" b="0">
                <a:solidFill>
                  <a:srgbClr val="0B1B3F"/>
                </a:solidFill>
                <a:latin typeface="Hiragino Sans"/>
              </a:rPr>
              <a:t>直前の生成結果を参考にしてくれる</a:t>
            </a:r>
          </a:p>
        </p:txBody>
      </p:sp>
      <p:sp>
        <p:nvSpPr>
          <p:cNvPr id="18" name="Rounded Rectangle 17"/>
          <p:cNvSpPr/>
          <p:nvPr/>
        </p:nvSpPr>
        <p:spPr>
          <a:xfrm>
            <a:off x="4267047" y="1783080"/>
            <a:ext cx="3657600" cy="4023360"/>
          </a:xfrm>
          <a:prstGeom prst="roundRect">
            <a:avLst>
              <a:gd name="adj" fmla="val 5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67047" y="1783080"/>
            <a:ext cx="3657600"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49927" y="1783080"/>
            <a:ext cx="640080" cy="777240"/>
          </a:xfrm>
          <a:prstGeom prst="rect">
            <a:avLst/>
          </a:prstGeom>
          <a:noFill/>
        </p:spPr>
        <p:txBody>
          <a:bodyPr wrap="square" lIns="45720" rIns="45720" tIns="18288" bIns="18288" anchor="ctr">
            <a:spAutoFit/>
          </a:bodyPr>
          <a:lstStyle/>
          <a:p>
            <a:pPr algn="ctr"/>
            <a:r>
              <a:rPr sz="3600" b="1">
                <a:solidFill>
                  <a:srgbClr val="FFFFFF"/>
                </a:solidFill>
                <a:latin typeface="Hiragino Sans"/>
              </a:rPr>
              <a:t>B</a:t>
            </a:r>
          </a:p>
        </p:txBody>
      </p:sp>
      <p:sp>
        <p:nvSpPr>
          <p:cNvPr id="21" name="TextBox 20"/>
          <p:cNvSpPr txBox="1"/>
          <p:nvPr/>
        </p:nvSpPr>
        <p:spPr>
          <a:xfrm>
            <a:off x="5181447" y="1783080"/>
            <a:ext cx="2651760" cy="777240"/>
          </a:xfrm>
          <a:prstGeom prst="rect">
            <a:avLst/>
          </a:prstGeom>
          <a:noFill/>
        </p:spPr>
        <p:txBody>
          <a:bodyPr wrap="square" lIns="45720" rIns="45720" tIns="18288" bIns="18288" anchor="ctr">
            <a:spAutoFit/>
          </a:bodyPr>
          <a:lstStyle/>
          <a:p>
            <a:pPr algn="l"/>
            <a:r>
              <a:rPr sz="1400" b="1">
                <a:solidFill>
                  <a:srgbClr val="FFFFFF"/>
                </a:solidFill>
                <a:latin typeface="Hiragino Sans"/>
              </a:rPr>
              <a:t>1枚目を「参考画像」として添付</a:t>
            </a:r>
          </a:p>
        </p:txBody>
      </p:sp>
      <p:sp>
        <p:nvSpPr>
          <p:cNvPr id="22" name="TextBox 21"/>
          <p:cNvSpPr txBox="1"/>
          <p:nvPr/>
        </p:nvSpPr>
        <p:spPr>
          <a:xfrm>
            <a:off x="4449927" y="2697480"/>
            <a:ext cx="3291840" cy="365760"/>
          </a:xfrm>
          <a:prstGeom prst="rect">
            <a:avLst/>
          </a:prstGeom>
          <a:noFill/>
        </p:spPr>
        <p:txBody>
          <a:bodyPr wrap="square" lIns="45720" rIns="45720" tIns="18288" bIns="18288" anchor="t">
            <a:spAutoFit/>
          </a:bodyPr>
          <a:lstStyle/>
          <a:p>
            <a:pPr algn="l"/>
            <a:r>
              <a:rPr sz="1200" b="1">
                <a:solidFill>
                  <a:srgbClr val="3D5A80"/>
                </a:solidFill>
                <a:latin typeface="Hiragino Sans"/>
              </a:rPr>
              <a:t>▶ やり方</a:t>
            </a:r>
          </a:p>
        </p:txBody>
      </p:sp>
      <p:sp>
        <p:nvSpPr>
          <p:cNvPr id="23" name="TextBox 22"/>
          <p:cNvSpPr txBox="1"/>
          <p:nvPr/>
        </p:nvSpPr>
        <p:spPr>
          <a:xfrm>
            <a:off x="4449927" y="3063240"/>
            <a:ext cx="3291840" cy="1097280"/>
          </a:xfrm>
          <a:prstGeom prst="rect">
            <a:avLst/>
          </a:prstGeom>
          <a:noFill/>
        </p:spPr>
        <p:txBody>
          <a:bodyPr wrap="square" lIns="45720" rIns="45720" tIns="18288" bIns="18288" anchor="t">
            <a:spAutoFit/>
          </a:bodyPr>
          <a:lstStyle/>
          <a:p>
            <a:pPr algn="l"/>
            <a:r>
              <a:rPr sz="1300" b="0">
                <a:solidFill>
                  <a:srgbClr val="333333"/>
                </a:solidFill>
                <a:latin typeface="Hiragino Sans"/>
              </a:rPr>
              <a:t>新しいチャットで参考画像を添付して</a:t>
            </a:r>
          </a:p>
          <a:p>
            <a:pPr algn="l"/>
            <a:r>
              <a:rPr sz="1300" b="0">
                <a:solidFill>
                  <a:srgbClr val="333333"/>
                </a:solidFill>
                <a:latin typeface="Hiragino Sans"/>
              </a:rPr>
              <a:t>「同じスタイルで○○を作って」</a:t>
            </a:r>
          </a:p>
        </p:txBody>
      </p:sp>
      <p:sp>
        <p:nvSpPr>
          <p:cNvPr id="24" name="TextBox 23"/>
          <p:cNvSpPr txBox="1"/>
          <p:nvPr/>
        </p:nvSpPr>
        <p:spPr>
          <a:xfrm>
            <a:off x="4449927" y="4251960"/>
            <a:ext cx="3291840" cy="365760"/>
          </a:xfrm>
          <a:prstGeom prst="rect">
            <a:avLst/>
          </a:prstGeom>
          <a:noFill/>
        </p:spPr>
        <p:txBody>
          <a:bodyPr wrap="square" lIns="45720" rIns="45720" tIns="18288" bIns="18288" anchor="t">
            <a:spAutoFit/>
          </a:bodyPr>
          <a:lstStyle/>
          <a:p>
            <a:pPr algn="l"/>
            <a:r>
              <a:rPr sz="1200" b="1">
                <a:solidFill>
                  <a:srgbClr val="3D5A80"/>
                </a:solidFill>
                <a:latin typeface="Hiragino Sans"/>
              </a:rPr>
              <a:t>▶ 特徴</a:t>
            </a:r>
          </a:p>
        </p:txBody>
      </p:sp>
      <p:sp>
        <p:nvSpPr>
          <p:cNvPr id="25" name="TextBox 24"/>
          <p:cNvSpPr txBox="1"/>
          <p:nvPr/>
        </p:nvSpPr>
        <p:spPr>
          <a:xfrm>
            <a:off x="4449927" y="4617720"/>
            <a:ext cx="3291840" cy="1097280"/>
          </a:xfrm>
          <a:prstGeom prst="rect">
            <a:avLst/>
          </a:prstGeom>
          <a:noFill/>
        </p:spPr>
        <p:txBody>
          <a:bodyPr wrap="square" lIns="45720" rIns="45720" tIns="18288" bIns="18288" anchor="t">
            <a:spAutoFit/>
          </a:bodyPr>
          <a:lstStyle/>
          <a:p>
            <a:pPr algn="l"/>
            <a:r>
              <a:rPr sz="1300" b="0">
                <a:solidFill>
                  <a:srgbClr val="0B1B3F"/>
                </a:solidFill>
                <a:latin typeface="Hiragino Sans"/>
              </a:rPr>
              <a:t>別の会話でも明示的に指定可</a:t>
            </a:r>
          </a:p>
        </p:txBody>
      </p:sp>
      <p:sp>
        <p:nvSpPr>
          <p:cNvPr id="26" name="Rounded Rectangle 25"/>
          <p:cNvSpPr/>
          <p:nvPr/>
        </p:nvSpPr>
        <p:spPr>
          <a:xfrm>
            <a:off x="7988655" y="1783080"/>
            <a:ext cx="3657600" cy="4023360"/>
          </a:xfrm>
          <a:prstGeom prst="roundRect">
            <a:avLst>
              <a:gd name="adj" fmla="val 5000"/>
            </a:avLst>
          </a:prstGeom>
          <a:solidFill>
            <a:srgbClr val="FFFFFF"/>
          </a:solidFill>
          <a:ln w="31750">
            <a:solidFill>
              <a:srgbClr val="0B1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88655" y="1783080"/>
            <a:ext cx="3657600" cy="77724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71535" y="1783080"/>
            <a:ext cx="640080" cy="777240"/>
          </a:xfrm>
          <a:prstGeom prst="rect">
            <a:avLst/>
          </a:prstGeom>
          <a:noFill/>
        </p:spPr>
        <p:txBody>
          <a:bodyPr wrap="square" lIns="45720" rIns="45720" tIns="18288" bIns="18288" anchor="ctr">
            <a:spAutoFit/>
          </a:bodyPr>
          <a:lstStyle/>
          <a:p>
            <a:pPr algn="ctr"/>
            <a:r>
              <a:rPr sz="3600" b="1">
                <a:solidFill>
                  <a:srgbClr val="FFFFFF"/>
                </a:solidFill>
                <a:latin typeface="Hiragino Sans"/>
              </a:rPr>
              <a:t>C</a:t>
            </a:r>
          </a:p>
        </p:txBody>
      </p:sp>
      <p:sp>
        <p:nvSpPr>
          <p:cNvPr id="29" name="TextBox 28"/>
          <p:cNvSpPr txBox="1"/>
          <p:nvPr/>
        </p:nvSpPr>
        <p:spPr>
          <a:xfrm>
            <a:off x="8903055" y="1783080"/>
            <a:ext cx="2651760" cy="777240"/>
          </a:xfrm>
          <a:prstGeom prst="rect">
            <a:avLst/>
          </a:prstGeom>
          <a:noFill/>
        </p:spPr>
        <p:txBody>
          <a:bodyPr wrap="square" lIns="45720" rIns="45720" tIns="18288" bIns="18288" anchor="ctr">
            <a:spAutoFit/>
          </a:bodyPr>
          <a:lstStyle/>
          <a:p>
            <a:pPr algn="l"/>
            <a:r>
              <a:rPr sz="1400" b="1">
                <a:solidFill>
                  <a:srgbClr val="FFFFFF"/>
                </a:solidFill>
                <a:latin typeface="Hiragino Sans"/>
              </a:rPr>
              <a:t>プロンプト工房に相談</a:t>
            </a:r>
          </a:p>
        </p:txBody>
      </p:sp>
      <p:sp>
        <p:nvSpPr>
          <p:cNvPr id="30" name="TextBox 29"/>
          <p:cNvSpPr txBox="1"/>
          <p:nvPr/>
        </p:nvSpPr>
        <p:spPr>
          <a:xfrm>
            <a:off x="8171535" y="2697480"/>
            <a:ext cx="3291840" cy="365760"/>
          </a:xfrm>
          <a:prstGeom prst="rect">
            <a:avLst/>
          </a:prstGeom>
          <a:noFill/>
        </p:spPr>
        <p:txBody>
          <a:bodyPr wrap="square" lIns="45720" rIns="45720" tIns="18288" bIns="18288" anchor="t">
            <a:spAutoFit/>
          </a:bodyPr>
          <a:lstStyle/>
          <a:p>
            <a:pPr algn="l"/>
            <a:r>
              <a:rPr sz="1200" b="1">
                <a:solidFill>
                  <a:srgbClr val="3D5A80"/>
                </a:solidFill>
                <a:latin typeface="Hiragino Sans"/>
              </a:rPr>
              <a:t>▶ やり方</a:t>
            </a:r>
          </a:p>
        </p:txBody>
      </p:sp>
      <p:sp>
        <p:nvSpPr>
          <p:cNvPr id="31" name="TextBox 30"/>
          <p:cNvSpPr txBox="1"/>
          <p:nvPr/>
        </p:nvSpPr>
        <p:spPr>
          <a:xfrm>
            <a:off x="8171535" y="3063240"/>
            <a:ext cx="3291840" cy="1097280"/>
          </a:xfrm>
          <a:prstGeom prst="rect">
            <a:avLst/>
          </a:prstGeom>
          <a:noFill/>
        </p:spPr>
        <p:txBody>
          <a:bodyPr wrap="square" lIns="45720" rIns="45720" tIns="18288" bIns="18288" anchor="t">
            <a:spAutoFit/>
          </a:bodyPr>
          <a:lstStyle/>
          <a:p>
            <a:pPr algn="l"/>
            <a:r>
              <a:rPr sz="1300" b="0">
                <a:solidFill>
                  <a:srgbClr val="333333"/>
                </a:solidFill>
                <a:latin typeface="Hiragino Sans"/>
              </a:rPr>
              <a:t>工房に</a:t>
            </a:r>
          </a:p>
          <a:p>
            <a:pPr algn="l"/>
            <a:r>
              <a:rPr sz="1300" b="0">
                <a:solidFill>
                  <a:srgbClr val="333333"/>
                </a:solidFill>
                <a:latin typeface="Hiragino Sans"/>
              </a:rPr>
              <a:t>「先ほどのテーマで挿絵も2枚追加で」</a:t>
            </a:r>
          </a:p>
        </p:txBody>
      </p:sp>
      <p:sp>
        <p:nvSpPr>
          <p:cNvPr id="32" name="TextBox 31"/>
          <p:cNvSpPr txBox="1"/>
          <p:nvPr/>
        </p:nvSpPr>
        <p:spPr>
          <a:xfrm>
            <a:off x="8171535" y="4251960"/>
            <a:ext cx="3291840" cy="365760"/>
          </a:xfrm>
          <a:prstGeom prst="rect">
            <a:avLst/>
          </a:prstGeom>
          <a:noFill/>
        </p:spPr>
        <p:txBody>
          <a:bodyPr wrap="square" lIns="45720" rIns="45720" tIns="18288" bIns="18288" anchor="t">
            <a:spAutoFit/>
          </a:bodyPr>
          <a:lstStyle/>
          <a:p>
            <a:pPr algn="l"/>
            <a:r>
              <a:rPr sz="1200" b="1">
                <a:solidFill>
                  <a:srgbClr val="3D5A80"/>
                </a:solidFill>
                <a:latin typeface="Hiragino Sans"/>
              </a:rPr>
              <a:t>▶ 特徴</a:t>
            </a:r>
          </a:p>
        </p:txBody>
      </p:sp>
      <p:sp>
        <p:nvSpPr>
          <p:cNvPr id="33" name="TextBox 32"/>
          <p:cNvSpPr txBox="1"/>
          <p:nvPr/>
        </p:nvSpPr>
        <p:spPr>
          <a:xfrm>
            <a:off x="8171535" y="4617720"/>
            <a:ext cx="3291840" cy="1097280"/>
          </a:xfrm>
          <a:prstGeom prst="rect">
            <a:avLst/>
          </a:prstGeom>
          <a:noFill/>
        </p:spPr>
        <p:txBody>
          <a:bodyPr wrap="square" lIns="45720" rIns="45720" tIns="18288" bIns="18288" anchor="t">
            <a:spAutoFit/>
          </a:bodyPr>
          <a:lstStyle/>
          <a:p>
            <a:pPr algn="l"/>
            <a:r>
              <a:rPr sz="1300" b="0">
                <a:solidFill>
                  <a:srgbClr val="0B1B3F"/>
                </a:solidFill>
                <a:latin typeface="Hiragino Sans"/>
              </a:rPr>
              <a:t>共通要素を固定したバリエーションが返る</a:t>
            </a:r>
          </a:p>
        </p:txBody>
      </p:sp>
      <p:sp>
        <p:nvSpPr>
          <p:cNvPr id="34" name="Rounded Rectangle 33"/>
          <p:cNvSpPr/>
          <p:nvPr/>
        </p:nvSpPr>
        <p:spPr>
          <a:xfrm>
            <a:off x="548640" y="5943600"/>
            <a:ext cx="11064240" cy="685800"/>
          </a:xfrm>
          <a:prstGeom prst="roundRect">
            <a:avLst>
              <a:gd name="adj" fmla="val 10000"/>
            </a:avLst>
          </a:prstGeom>
          <a:solidFill>
            <a:srgbClr val="142A5C"/>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943600"/>
            <a:ext cx="11064240" cy="685800"/>
          </a:xfrm>
          <a:prstGeom prst="rect">
            <a:avLst/>
          </a:prstGeom>
          <a:noFill/>
        </p:spPr>
        <p:txBody>
          <a:bodyPr wrap="square" lIns="45720" rIns="45720" tIns="18288" bIns="18288" anchor="ctr">
            <a:spAutoFit/>
          </a:bodyPr>
          <a:lstStyle/>
          <a:p>
            <a:pPr algn="ctr"/>
            <a:r>
              <a:rPr sz="1600" b="1">
                <a:solidFill>
                  <a:srgbClr val="FFFFFF"/>
                </a:solidFill>
                <a:latin typeface="Hiragino Sans"/>
              </a:rPr>
              <a:t>★  おすすめ：方法 C  →  出てきたプロンプトを 方法 A で使う  ＝  最も安定する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3｜複数枚＆編集</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31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生成後の編集 ― よく使う指示パターン</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1回の指示で多くを変えず、小さく繰り返す</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914400" y="1783080"/>
          <a:ext cx="10332720" cy="2971800"/>
        </p:xfrm>
        <a:graphic>
          <a:graphicData uri="http://schemas.openxmlformats.org/drawingml/2006/table">
            <a:tbl>
              <a:tblPr firstRow="1" bandRow="1">
                <a:tableStyleId>{5C22544A-7EE6-4342-B048-85BDC9FD1C3A}</a:tableStyleId>
              </a:tblPr>
              <a:tblGrid>
                <a:gridCol w="3200400"/>
                <a:gridCol w="7132320"/>
              </a:tblGrid>
              <a:tr h="457200">
                <a:tc>
                  <a:txBody>
                    <a:bodyPr/>
                    <a:lstStyle/>
                    <a:p>
                      <a:pPr algn="ctr"/>
                      <a:r>
                        <a:rPr sz="1500" b="1">
                          <a:solidFill>
                            <a:srgbClr val="FFFFFF"/>
                          </a:solidFill>
                          <a:latin typeface="Hiragino Sans"/>
                        </a:rPr>
                        <a:t>目的</a:t>
                      </a:r>
                    </a:p>
                  </a:txBody>
                  <a:tcPr marL="73152" marR="73152" marT="45720" marB="45720" anchor="ctr">
                    <a:solidFill>
                      <a:srgbClr val="142A5C"/>
                    </a:solidFill>
                  </a:tcPr>
                </a:tc>
                <a:tc>
                  <a:txBody>
                    <a:bodyPr/>
                    <a:lstStyle/>
                    <a:p>
                      <a:pPr algn="ctr"/>
                      <a:r>
                        <a:rPr sz="1500" b="1">
                          <a:solidFill>
                            <a:srgbClr val="FFFFFF"/>
                          </a:solidFill>
                          <a:latin typeface="Hiragino Sans"/>
                        </a:rPr>
                        <a:t>指示の例</a:t>
                      </a:r>
                    </a:p>
                  </a:txBody>
                  <a:tcPr marL="73152" marR="73152" marT="45720" marB="45720" anchor="ctr">
                    <a:solidFill>
                      <a:srgbClr val="142A5C"/>
                    </a:solidFill>
                  </a:tcPr>
                </a:tc>
              </a:tr>
              <a:tr h="502920">
                <a:tc>
                  <a:txBody>
                    <a:bodyPr wrap="square"/>
                    <a:lstStyle/>
                    <a:p>
                      <a:pPr algn="l"/>
                      <a:r>
                        <a:rPr sz="1400" b="1">
                          <a:solidFill>
                            <a:srgbClr val="0B1B3F"/>
                          </a:solidFill>
                          <a:latin typeface="Hiragino Sans"/>
                        </a:rPr>
                        <a:t>色を変える</a:t>
                      </a:r>
                    </a:p>
                  </a:txBody>
                  <a:tcPr marL="91440" marR="91440" marT="45720" marB="45720" anchor="ctr">
                    <a:solidFill>
                      <a:srgbClr val="E8EEF7"/>
                    </a:solidFill>
                  </a:tcPr>
                </a:tc>
                <a:tc>
                  <a:txBody>
                    <a:bodyPr wrap="square"/>
                    <a:lstStyle/>
                    <a:p>
                      <a:pPr algn="l"/>
                      <a:r>
                        <a:rPr sz="1400" b="0">
                          <a:solidFill>
                            <a:srgbClr val="333333"/>
                          </a:solidFill>
                          <a:latin typeface="Hiragino Sans"/>
                        </a:rPr>
                        <a:t>「背景の色を青系に変えて」</a:t>
                      </a:r>
                    </a:p>
                  </a:txBody>
                  <a:tcPr marL="91440" marR="91440" marT="45720" marB="45720" anchor="ctr">
                    <a:solidFill>
                      <a:srgbClr val="E8EEF7"/>
                    </a:solidFill>
                  </a:tcPr>
                </a:tc>
              </a:tr>
              <a:tr h="502920">
                <a:tc>
                  <a:txBody>
                    <a:bodyPr wrap="square"/>
                    <a:lstStyle/>
                    <a:p>
                      <a:pPr algn="l"/>
                      <a:r>
                        <a:rPr sz="1400" b="1">
                          <a:solidFill>
                            <a:srgbClr val="0B1B3F"/>
                          </a:solidFill>
                          <a:latin typeface="Hiragino Sans"/>
                        </a:rPr>
                        <a:t>要素を追加</a:t>
                      </a:r>
                    </a:p>
                  </a:txBody>
                  <a:tcPr marL="91440" marR="91440" marT="45720" marB="45720" anchor="ctr">
                    <a:solidFill>
                      <a:srgbClr val="FFFFFF"/>
                    </a:solidFill>
                  </a:tcPr>
                </a:tc>
                <a:tc>
                  <a:txBody>
                    <a:bodyPr wrap="square"/>
                    <a:lstStyle/>
                    <a:p>
                      <a:pPr algn="l"/>
                      <a:r>
                        <a:rPr sz="1400" b="0">
                          <a:solidFill>
                            <a:srgbClr val="333333"/>
                          </a:solidFill>
                          <a:latin typeface="Hiragino Sans"/>
                        </a:rPr>
                        <a:t>「左上にカップを追加して」</a:t>
                      </a:r>
                    </a:p>
                  </a:txBody>
                  <a:tcPr marL="91440" marR="91440" marT="45720" marB="45720" anchor="ctr">
                    <a:solidFill>
                      <a:srgbClr val="FFFFFF"/>
                    </a:solidFill>
                  </a:tcPr>
                </a:tc>
              </a:tr>
              <a:tr h="502920">
                <a:tc>
                  <a:txBody>
                    <a:bodyPr wrap="square"/>
                    <a:lstStyle/>
                    <a:p>
                      <a:pPr algn="l"/>
                      <a:r>
                        <a:rPr sz="1400" b="1">
                          <a:solidFill>
                            <a:srgbClr val="0B1B3F"/>
                          </a:solidFill>
                          <a:latin typeface="Hiragino Sans"/>
                        </a:rPr>
                        <a:t>要素を削除</a:t>
                      </a:r>
                    </a:p>
                  </a:txBody>
                  <a:tcPr marL="91440" marR="91440" marT="45720" marB="45720" anchor="ctr">
                    <a:solidFill>
                      <a:srgbClr val="E8EEF7"/>
                    </a:solidFill>
                  </a:tcPr>
                </a:tc>
                <a:tc>
                  <a:txBody>
                    <a:bodyPr wrap="square"/>
                    <a:lstStyle/>
                    <a:p>
                      <a:pPr algn="l"/>
                      <a:r>
                        <a:rPr sz="1400" b="0">
                          <a:solidFill>
                            <a:srgbClr val="333333"/>
                          </a:solidFill>
                          <a:latin typeface="Hiragino Sans"/>
                        </a:rPr>
                        <a:t>「右側の人物を消して」</a:t>
                      </a:r>
                    </a:p>
                  </a:txBody>
                  <a:tcPr marL="91440" marR="91440" marT="45720" marB="45720" anchor="ctr">
                    <a:solidFill>
                      <a:srgbClr val="E8EEF7"/>
                    </a:solidFill>
                  </a:tcPr>
                </a:tc>
              </a:tr>
              <a:tr h="502920">
                <a:tc>
                  <a:txBody>
                    <a:bodyPr wrap="square"/>
                    <a:lstStyle/>
                    <a:p>
                      <a:pPr algn="l"/>
                      <a:r>
                        <a:rPr sz="1400" b="1">
                          <a:solidFill>
                            <a:srgbClr val="0B1B3F"/>
                          </a:solidFill>
                          <a:latin typeface="Hiragino Sans"/>
                        </a:rPr>
                        <a:t>スタイル変換</a:t>
                      </a:r>
                    </a:p>
                  </a:txBody>
                  <a:tcPr marL="91440" marR="91440" marT="45720" marB="45720" anchor="ctr">
                    <a:solidFill>
                      <a:srgbClr val="FFFFFF"/>
                    </a:solidFill>
                  </a:tcPr>
                </a:tc>
                <a:tc>
                  <a:txBody>
                    <a:bodyPr wrap="square"/>
                    <a:lstStyle/>
                    <a:p>
                      <a:pPr algn="l"/>
                      <a:r>
                        <a:rPr sz="1400" b="0">
                          <a:solidFill>
                            <a:srgbClr val="333333"/>
                          </a:solidFill>
                          <a:latin typeface="Hiragino Sans"/>
                        </a:rPr>
                        <a:t>「同じ構図で水彩画風にして」</a:t>
                      </a:r>
                    </a:p>
                  </a:txBody>
                  <a:tcPr marL="91440" marR="91440" marT="45720" marB="45720" anchor="ctr">
                    <a:solidFill>
                      <a:srgbClr val="FFFFFF"/>
                    </a:solidFill>
                  </a:tcPr>
                </a:tc>
              </a:tr>
              <a:tr h="502920">
                <a:tc>
                  <a:txBody>
                    <a:bodyPr wrap="square"/>
                    <a:lstStyle/>
                    <a:p>
                      <a:pPr algn="l"/>
                      <a:r>
                        <a:rPr sz="1400" b="1">
                          <a:solidFill>
                            <a:srgbClr val="0B1B3F"/>
                          </a:solidFill>
                          <a:latin typeface="Hiragino Sans"/>
                        </a:rPr>
                        <a:t>文字を変える</a:t>
                      </a:r>
                    </a:p>
                  </a:txBody>
                  <a:tcPr marL="91440" marR="91440" marT="45720" marB="45720" anchor="ctr">
                    <a:solidFill>
                      <a:srgbClr val="E8EEF7"/>
                    </a:solidFill>
                  </a:tcPr>
                </a:tc>
                <a:tc>
                  <a:txBody>
                    <a:bodyPr wrap="square"/>
                    <a:lstStyle/>
                    <a:p>
                      <a:pPr algn="l"/>
                      <a:r>
                        <a:rPr sz="1400" b="0">
                          <a:solidFill>
                            <a:srgbClr val="333333"/>
                          </a:solidFill>
                          <a:latin typeface="Hiragino Sans"/>
                        </a:rPr>
                        <a:t>「タイトル文字を“Spring Sale”に変えて」</a:t>
                      </a:r>
                    </a:p>
                  </a:txBody>
                  <a:tcPr marL="91440" marR="91440" marT="45720" marB="45720" anchor="ctr">
                    <a:solidFill>
                      <a:srgbClr val="E8EEF7"/>
                    </a:solidFill>
                  </a:tcPr>
                </a:tc>
              </a:tr>
            </a:tbl>
          </a:graphicData>
        </a:graphic>
      </p:graphicFrame>
      <p:sp>
        <p:nvSpPr>
          <p:cNvPr id="11" name="TextBox 10"/>
          <p:cNvSpPr txBox="1"/>
          <p:nvPr/>
        </p:nvSpPr>
        <p:spPr>
          <a:xfrm>
            <a:off x="548640" y="4983480"/>
            <a:ext cx="11064240" cy="365760"/>
          </a:xfrm>
          <a:prstGeom prst="rect">
            <a:avLst/>
          </a:prstGeom>
          <a:noFill/>
        </p:spPr>
        <p:txBody>
          <a:bodyPr wrap="square" lIns="45720" rIns="45720" tIns="18288" bIns="18288" anchor="t">
            <a:spAutoFit/>
          </a:bodyPr>
          <a:lstStyle/>
          <a:p>
            <a:pPr algn="l"/>
            <a:r>
              <a:rPr sz="1300" b="1">
                <a:solidFill>
                  <a:srgbClr val="0B1B3F"/>
                </a:solidFill>
                <a:latin typeface="Hiragino Sans"/>
              </a:rPr>
              <a:t>▼  編集サイクル ― 小さく回す</a:t>
            </a:r>
          </a:p>
        </p:txBody>
      </p:sp>
      <p:sp>
        <p:nvSpPr>
          <p:cNvPr id="12" name="Rounded Rectangle 11"/>
          <p:cNvSpPr/>
          <p:nvPr/>
        </p:nvSpPr>
        <p:spPr>
          <a:xfrm>
            <a:off x="929487" y="5394960"/>
            <a:ext cx="2377440" cy="548640"/>
          </a:xfrm>
          <a:prstGeom prst="roundRect">
            <a:avLst>
              <a:gd name="adj" fmla="val 20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9487" y="5394960"/>
            <a:ext cx="2377440" cy="548640"/>
          </a:xfrm>
          <a:prstGeom prst="rect">
            <a:avLst/>
          </a:prstGeom>
          <a:noFill/>
        </p:spPr>
        <p:txBody>
          <a:bodyPr wrap="square" lIns="45720" rIns="45720" tIns="18288" bIns="18288" anchor="ctr">
            <a:spAutoFit/>
          </a:bodyPr>
          <a:lstStyle/>
          <a:p>
            <a:pPr algn="ctr"/>
            <a:r>
              <a:rPr sz="1400" b="1">
                <a:solidFill>
                  <a:srgbClr val="0B1B3F"/>
                </a:solidFill>
                <a:latin typeface="Hiragino Sans"/>
              </a:rPr>
              <a:t>生成</a:t>
            </a:r>
          </a:p>
        </p:txBody>
      </p:sp>
      <p:sp>
        <p:nvSpPr>
          <p:cNvPr id="14" name="Right Arrow 13"/>
          <p:cNvSpPr/>
          <p:nvPr/>
        </p:nvSpPr>
        <p:spPr>
          <a:xfrm>
            <a:off x="3316071" y="5559552"/>
            <a:ext cx="256032" cy="228600"/>
          </a:xfrm>
          <a:prstGeom prst="rightArrow">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81247" y="5394960"/>
            <a:ext cx="2377440" cy="548640"/>
          </a:xfrm>
          <a:prstGeom prst="roundRect">
            <a:avLst>
              <a:gd name="adj" fmla="val 20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1247" y="5394960"/>
            <a:ext cx="2377440" cy="548640"/>
          </a:xfrm>
          <a:prstGeom prst="rect">
            <a:avLst/>
          </a:prstGeom>
          <a:noFill/>
        </p:spPr>
        <p:txBody>
          <a:bodyPr wrap="square" lIns="45720" rIns="45720" tIns="18288" bIns="18288" anchor="ctr">
            <a:spAutoFit/>
          </a:bodyPr>
          <a:lstStyle/>
          <a:p>
            <a:pPr algn="ctr"/>
            <a:r>
              <a:rPr sz="1400" b="1">
                <a:solidFill>
                  <a:srgbClr val="0B1B3F"/>
                </a:solidFill>
                <a:latin typeface="Hiragino Sans"/>
              </a:rPr>
              <a:t>1箇所だけ指示</a:t>
            </a:r>
          </a:p>
        </p:txBody>
      </p:sp>
      <p:sp>
        <p:nvSpPr>
          <p:cNvPr id="17" name="Right Arrow 16"/>
          <p:cNvSpPr/>
          <p:nvPr/>
        </p:nvSpPr>
        <p:spPr>
          <a:xfrm>
            <a:off x="5967831" y="5559552"/>
            <a:ext cx="256032" cy="228600"/>
          </a:xfrm>
          <a:prstGeom prst="rightArrow">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33007" y="5394960"/>
            <a:ext cx="2377440" cy="548640"/>
          </a:xfrm>
          <a:prstGeom prst="roundRect">
            <a:avLst>
              <a:gd name="adj" fmla="val 20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5394960"/>
            <a:ext cx="2377440" cy="548640"/>
          </a:xfrm>
          <a:prstGeom prst="rect">
            <a:avLst/>
          </a:prstGeom>
          <a:noFill/>
        </p:spPr>
        <p:txBody>
          <a:bodyPr wrap="square" lIns="45720" rIns="45720" tIns="18288" bIns="18288" anchor="ctr">
            <a:spAutoFit/>
          </a:bodyPr>
          <a:lstStyle/>
          <a:p>
            <a:pPr algn="ctr"/>
            <a:r>
              <a:rPr sz="1400" b="1">
                <a:solidFill>
                  <a:srgbClr val="0B1B3F"/>
                </a:solidFill>
                <a:latin typeface="Hiragino Sans"/>
              </a:rPr>
              <a:t>確認</a:t>
            </a:r>
          </a:p>
        </p:txBody>
      </p:sp>
      <p:sp>
        <p:nvSpPr>
          <p:cNvPr id="20" name="Right Arrow 19"/>
          <p:cNvSpPr/>
          <p:nvPr/>
        </p:nvSpPr>
        <p:spPr>
          <a:xfrm>
            <a:off x="8619591" y="5559552"/>
            <a:ext cx="256032" cy="228600"/>
          </a:xfrm>
          <a:prstGeom prst="rightArrow">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84767" y="5394960"/>
            <a:ext cx="2377440" cy="548640"/>
          </a:xfrm>
          <a:prstGeom prst="roundRect">
            <a:avLst>
              <a:gd name="adj" fmla="val 20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84767" y="5394960"/>
            <a:ext cx="2377440" cy="548640"/>
          </a:xfrm>
          <a:prstGeom prst="rect">
            <a:avLst/>
          </a:prstGeom>
          <a:noFill/>
        </p:spPr>
        <p:txBody>
          <a:bodyPr wrap="square" lIns="45720" rIns="45720" tIns="18288" bIns="18288" anchor="ctr">
            <a:spAutoFit/>
          </a:bodyPr>
          <a:lstStyle/>
          <a:p>
            <a:pPr algn="ctr"/>
            <a:r>
              <a:rPr sz="1400" b="1">
                <a:solidFill>
                  <a:srgbClr val="0B1B3F"/>
                </a:solidFill>
                <a:latin typeface="Hiragino Sans"/>
              </a:rPr>
              <a:t>次の指示</a:t>
            </a:r>
          </a:p>
        </p:txBody>
      </p:sp>
      <p:sp>
        <p:nvSpPr>
          <p:cNvPr id="23" name="Rectangle 22"/>
          <p:cNvSpPr/>
          <p:nvPr/>
        </p:nvSpPr>
        <p:spPr>
          <a:xfrm>
            <a:off x="548640" y="6126480"/>
            <a:ext cx="1097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6126480"/>
            <a:ext cx="10954512" cy="59436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6126480"/>
            <a:ext cx="1060704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メッセージ：1回の指示で多くを変えず、小さく繰り返すのがコツ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3｜複数枚＆編集</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32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 精度を上げるコツ ― 「変えない部分」を明示する</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「変える部分」より「変えない部分」を伝えるほうが効く</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828800"/>
            <a:ext cx="11064240" cy="1828800"/>
          </a:xfrm>
          <a:prstGeom prst="roundRect">
            <a:avLst>
              <a:gd name="adj" fmla="val 5000"/>
            </a:avLst>
          </a:prstGeom>
          <a:solidFill>
            <a:srgbClr val="FFFFFF"/>
          </a:solidFill>
          <a:ln w="254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28800"/>
            <a:ext cx="2286000" cy="182880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28800"/>
            <a:ext cx="2286000" cy="1828800"/>
          </a:xfrm>
          <a:prstGeom prst="rect">
            <a:avLst/>
          </a:prstGeom>
          <a:noFill/>
        </p:spPr>
        <p:txBody>
          <a:bodyPr wrap="square" lIns="45720" rIns="45720" tIns="18288" bIns="18288" anchor="ctr">
            <a:spAutoFit/>
          </a:bodyPr>
          <a:lstStyle/>
          <a:p>
            <a:pPr algn="ctr"/>
            <a:r>
              <a:rPr sz="2200" b="1">
                <a:solidFill>
                  <a:srgbClr val="FFFFFF"/>
                </a:solidFill>
                <a:latin typeface="Hiragino Sans"/>
              </a:rPr>
              <a:t>❌</a:t>
            </a:r>
          </a:p>
          <a:p>
            <a:pPr algn="ctr"/>
            <a:r>
              <a:rPr sz="2200" b="1">
                <a:solidFill>
                  <a:srgbClr val="FFFFFF"/>
                </a:solidFill>
                <a:latin typeface="Hiragino Sans"/>
              </a:rPr>
              <a:t>悪い例</a:t>
            </a:r>
          </a:p>
        </p:txBody>
      </p:sp>
      <p:sp>
        <p:nvSpPr>
          <p:cNvPr id="13" name="TextBox 12"/>
          <p:cNvSpPr txBox="1"/>
          <p:nvPr/>
        </p:nvSpPr>
        <p:spPr>
          <a:xfrm>
            <a:off x="3017520" y="1965960"/>
            <a:ext cx="8412480" cy="640080"/>
          </a:xfrm>
          <a:prstGeom prst="rect">
            <a:avLst/>
          </a:prstGeom>
          <a:noFill/>
        </p:spPr>
        <p:txBody>
          <a:bodyPr wrap="square" lIns="45720" rIns="45720" tIns="18288" bIns="18288" anchor="t">
            <a:spAutoFit/>
          </a:bodyPr>
          <a:lstStyle/>
          <a:p>
            <a:pPr algn="l"/>
            <a:r>
              <a:rPr sz="2200" b="1">
                <a:solidFill>
                  <a:srgbClr val="0B1B3F"/>
                </a:solidFill>
                <a:latin typeface="Hiragino Sans"/>
              </a:rPr>
              <a:t>「背景を変えて」</a:t>
            </a:r>
          </a:p>
        </p:txBody>
      </p:sp>
      <p:sp>
        <p:nvSpPr>
          <p:cNvPr id="14" name="TextBox 13"/>
          <p:cNvSpPr txBox="1"/>
          <p:nvPr/>
        </p:nvSpPr>
        <p:spPr>
          <a:xfrm>
            <a:off x="3017520" y="2606040"/>
            <a:ext cx="8412480" cy="914400"/>
          </a:xfrm>
          <a:prstGeom prst="rect">
            <a:avLst/>
          </a:prstGeom>
          <a:noFill/>
        </p:spPr>
        <p:txBody>
          <a:bodyPr wrap="square" lIns="45720" rIns="45720" tIns="18288" bIns="18288" anchor="t">
            <a:spAutoFit/>
          </a:bodyPr>
          <a:lstStyle/>
          <a:p>
            <a:pPr algn="l"/>
            <a:r>
              <a:rPr sz="1400" b="0">
                <a:solidFill>
                  <a:srgbClr val="333333"/>
                </a:solidFill>
                <a:latin typeface="Hiragino Sans"/>
              </a:rPr>
              <a:t>→ 全体が変わってしまうことがある（人物の表情・構図まで変わる）</a:t>
            </a:r>
          </a:p>
        </p:txBody>
      </p:sp>
      <p:sp>
        <p:nvSpPr>
          <p:cNvPr id="15" name="Rounded Rectangle 14"/>
          <p:cNvSpPr/>
          <p:nvPr/>
        </p:nvSpPr>
        <p:spPr>
          <a:xfrm>
            <a:off x="548640" y="3840480"/>
            <a:ext cx="11064240" cy="1828800"/>
          </a:xfrm>
          <a:prstGeom prst="roundRect">
            <a:avLst>
              <a:gd name="adj" fmla="val 5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840480"/>
            <a:ext cx="2286000" cy="182880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40480"/>
            <a:ext cx="2286000" cy="1828800"/>
          </a:xfrm>
          <a:prstGeom prst="rect">
            <a:avLst/>
          </a:prstGeom>
          <a:noFill/>
        </p:spPr>
        <p:txBody>
          <a:bodyPr wrap="square" lIns="45720" rIns="45720" tIns="18288" bIns="18288" anchor="ctr">
            <a:spAutoFit/>
          </a:bodyPr>
          <a:lstStyle/>
          <a:p>
            <a:pPr algn="ctr"/>
            <a:r>
              <a:rPr sz="2200" b="1">
                <a:solidFill>
                  <a:srgbClr val="FFFFFF"/>
                </a:solidFill>
                <a:latin typeface="Hiragino Sans"/>
              </a:rPr>
              <a:t>✓</a:t>
            </a:r>
          </a:p>
          <a:p>
            <a:pPr algn="ctr"/>
            <a:r>
              <a:rPr sz="2200" b="1">
                <a:solidFill>
                  <a:srgbClr val="FFFFFF"/>
                </a:solidFill>
                <a:latin typeface="Hiragino Sans"/>
              </a:rPr>
              <a:t>良い例</a:t>
            </a:r>
          </a:p>
        </p:txBody>
      </p:sp>
      <p:sp>
        <p:nvSpPr>
          <p:cNvPr id="18" name="TextBox 17"/>
          <p:cNvSpPr txBox="1"/>
          <p:nvPr/>
        </p:nvSpPr>
        <p:spPr>
          <a:xfrm>
            <a:off x="3017520" y="3950208"/>
            <a:ext cx="8412480" cy="640080"/>
          </a:xfrm>
          <a:prstGeom prst="rect">
            <a:avLst/>
          </a:prstGeom>
          <a:noFill/>
        </p:spPr>
        <p:txBody>
          <a:bodyPr wrap="square" lIns="45720" rIns="45720" anchor="t">
            <a:spAutoFit/>
          </a:bodyPr>
          <a:lstStyle/>
          <a:p>
            <a:pPr algn="l"/>
            <a:r>
              <a:rPr sz="1800" b="1">
                <a:solidFill>
                  <a:srgbClr val="0B1B3F"/>
                </a:solidFill>
                <a:latin typeface="Hiragino Sans"/>
              </a:rPr>
              <a:t>「背景の色だけを青系に変えて、</a:t>
            </a:r>
            <a:r>
              <a:rPr sz="1800" b="1">
                <a:solidFill>
                  <a:srgbClr val="C8A84B"/>
                </a:solidFill>
                <a:latin typeface="Hiragino Sans"/>
              </a:rPr>
              <a:t>人物と構図はそのまま</a:t>
            </a:r>
            <a:r>
              <a:rPr sz="1800" b="1">
                <a:solidFill>
                  <a:srgbClr val="0B1B3F"/>
                </a:solidFill>
                <a:latin typeface="Hiragino Sans"/>
              </a:rPr>
              <a:t>にして」</a:t>
            </a:r>
          </a:p>
        </p:txBody>
      </p:sp>
      <p:sp>
        <p:nvSpPr>
          <p:cNvPr id="19" name="TextBox 18"/>
          <p:cNvSpPr txBox="1"/>
          <p:nvPr/>
        </p:nvSpPr>
        <p:spPr>
          <a:xfrm>
            <a:off x="3017520" y="4617720"/>
            <a:ext cx="8412480" cy="914400"/>
          </a:xfrm>
          <a:prstGeom prst="rect">
            <a:avLst/>
          </a:prstGeom>
          <a:noFill/>
        </p:spPr>
        <p:txBody>
          <a:bodyPr wrap="square" lIns="45720" rIns="45720" tIns="18288" bIns="18288" anchor="t">
            <a:spAutoFit/>
          </a:bodyPr>
          <a:lstStyle/>
          <a:p>
            <a:pPr algn="l"/>
            <a:r>
              <a:rPr sz="1400" b="0">
                <a:solidFill>
                  <a:srgbClr val="0B1B3F"/>
                </a:solidFill>
                <a:latin typeface="Hiragino Sans"/>
              </a:rPr>
              <a:t>→ 変えたいところだけ変わる（変えない部分を明示することで保持される）</a:t>
            </a:r>
          </a:p>
        </p:txBody>
      </p:sp>
      <p:sp>
        <p:nvSpPr>
          <p:cNvPr id="20" name="Rectangle 19"/>
          <p:cNvSpPr/>
          <p:nvPr/>
        </p:nvSpPr>
        <p:spPr>
          <a:xfrm>
            <a:off x="548640" y="5897880"/>
            <a:ext cx="1097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5897880"/>
            <a:ext cx="10954512" cy="59436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5897880"/>
            <a:ext cx="1060704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メッセージ：「変える部分」より「変えない部分」を伝えるほうが効く</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3｜演習</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33 / 40</a:t>
            </a:r>
          </a:p>
        </p:txBody>
      </p:sp>
      <p:sp>
        <p:nvSpPr>
          <p:cNvPr id="6" name="Rectangle 5"/>
          <p:cNvSpPr/>
          <p:nvPr/>
        </p:nvSpPr>
        <p:spPr>
          <a:xfrm>
            <a:off x="457200" y="594360"/>
            <a:ext cx="164592"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anchor="ctr">
            <a:spAutoFit/>
          </a:bodyPr>
          <a:lstStyle/>
          <a:p>
            <a:pPr algn="l"/>
            <a:r>
              <a:rPr sz="3000" b="1">
                <a:solidFill>
                  <a:srgbClr val="0B1B3F"/>
                </a:solidFill>
                <a:latin typeface="Hiragino Sans"/>
              </a:rPr>
              <a:t>演習③</a:t>
            </a:r>
            <a:r>
              <a:rPr sz="3000" b="0">
                <a:solidFill>
                  <a:srgbClr val="0B1B3F"/>
                </a:solidFill>
                <a:latin typeface="Hiragino Sans"/>
              </a:rPr>
              <a:t>   </a:t>
            </a:r>
            <a:r>
              <a:rPr sz="1800" b="1">
                <a:solidFill>
                  <a:srgbClr val="C8A84B"/>
                </a:solidFill>
                <a:latin typeface="Hiragino Sans"/>
              </a:rPr>
              <a:t>⏱ 5分</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400" b="0">
                <a:solidFill>
                  <a:srgbClr val="3D5A80"/>
                </a:solidFill>
                <a:latin typeface="Hiragino Sans"/>
              </a:rPr>
              <a:t>演習②で作った画像を発展させる（A・Bどちらか選択）</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828800"/>
            <a:ext cx="5440680" cy="3200400"/>
          </a:xfrm>
          <a:prstGeom prst="roundRect">
            <a:avLst>
              <a:gd name="adj" fmla="val 5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28800"/>
            <a:ext cx="5440680" cy="6400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28800"/>
            <a:ext cx="5440680" cy="640080"/>
          </a:xfrm>
          <a:prstGeom prst="rect">
            <a:avLst/>
          </a:prstGeom>
          <a:noFill/>
        </p:spPr>
        <p:txBody>
          <a:bodyPr wrap="square" lIns="45720" rIns="45720" tIns="18288" bIns="18288" anchor="ctr">
            <a:spAutoFit/>
          </a:bodyPr>
          <a:lstStyle/>
          <a:p>
            <a:pPr algn="ctr"/>
            <a:r>
              <a:rPr sz="2000" b="1">
                <a:solidFill>
                  <a:srgbClr val="FFFFFF"/>
                </a:solidFill>
                <a:latin typeface="Hiragino Sans"/>
              </a:rPr>
              <a:t>A：バリエーション追加</a:t>
            </a:r>
          </a:p>
        </p:txBody>
      </p:sp>
      <p:sp>
        <p:nvSpPr>
          <p:cNvPr id="13" name="TextBox 12"/>
          <p:cNvSpPr txBox="1"/>
          <p:nvPr/>
        </p:nvSpPr>
        <p:spPr>
          <a:xfrm>
            <a:off x="777240" y="2697480"/>
            <a:ext cx="4983480" cy="1828800"/>
          </a:xfrm>
          <a:prstGeom prst="rect">
            <a:avLst/>
          </a:prstGeom>
          <a:noFill/>
        </p:spPr>
        <p:txBody>
          <a:bodyPr wrap="square" lIns="45720" rIns="45720" tIns="18288" bIns="18288" anchor="t">
            <a:spAutoFit/>
          </a:bodyPr>
          <a:lstStyle/>
          <a:p>
            <a:pPr algn="l"/>
            <a:r>
              <a:rPr sz="1500" b="0">
                <a:solidFill>
                  <a:srgbClr val="333333"/>
                </a:solidFill>
                <a:latin typeface="Hiragino Sans"/>
              </a:rPr>
              <a:t>演習②で作った画像と同じテイストで、別バージョンを1枚生成</a:t>
            </a:r>
          </a:p>
        </p:txBody>
      </p:sp>
      <p:sp>
        <p:nvSpPr>
          <p:cNvPr id="14" name="TextBox 13"/>
          <p:cNvSpPr txBox="1"/>
          <p:nvPr/>
        </p:nvSpPr>
        <p:spPr>
          <a:xfrm>
            <a:off x="777240" y="3657600"/>
            <a:ext cx="4983480" cy="1280160"/>
          </a:xfrm>
          <a:prstGeom prst="rect">
            <a:avLst/>
          </a:prstGeom>
          <a:noFill/>
        </p:spPr>
        <p:txBody>
          <a:bodyPr wrap="square" lIns="45720" rIns="45720" tIns="18288" bIns="18288" anchor="t">
            <a:spAutoFit/>
          </a:bodyPr>
          <a:lstStyle/>
          <a:p>
            <a:pPr algn="l"/>
            <a:r>
              <a:rPr sz="1200" b="0">
                <a:solidFill>
                  <a:srgbClr val="3D5A80"/>
                </a:solidFill>
                <a:latin typeface="Hiragino Sans"/>
              </a:rPr>
              <a:t>例：背景を別の季節に／登場キャラを別バージョンに／別シーンに</a:t>
            </a:r>
          </a:p>
        </p:txBody>
      </p:sp>
      <p:sp>
        <p:nvSpPr>
          <p:cNvPr id="15" name="Rounded Rectangle 14"/>
          <p:cNvSpPr/>
          <p:nvPr/>
        </p:nvSpPr>
        <p:spPr>
          <a:xfrm>
            <a:off x="6172200" y="1828800"/>
            <a:ext cx="5440680" cy="3200400"/>
          </a:xfrm>
          <a:prstGeom prst="roundRect">
            <a:avLst>
              <a:gd name="adj" fmla="val 5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828800"/>
            <a:ext cx="5440680" cy="64008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1828800"/>
            <a:ext cx="5440680" cy="640080"/>
          </a:xfrm>
          <a:prstGeom prst="rect">
            <a:avLst/>
          </a:prstGeom>
          <a:noFill/>
        </p:spPr>
        <p:txBody>
          <a:bodyPr wrap="square" lIns="45720" rIns="45720" tIns="18288" bIns="18288" anchor="ctr">
            <a:spAutoFit/>
          </a:bodyPr>
          <a:lstStyle/>
          <a:p>
            <a:pPr algn="ctr"/>
            <a:r>
              <a:rPr sz="2000" b="1">
                <a:solidFill>
                  <a:srgbClr val="FFFFFF"/>
                </a:solidFill>
                <a:latin typeface="Hiragino Sans"/>
              </a:rPr>
              <a:t>B：部分修正</a:t>
            </a:r>
          </a:p>
        </p:txBody>
      </p:sp>
      <p:sp>
        <p:nvSpPr>
          <p:cNvPr id="18" name="TextBox 17"/>
          <p:cNvSpPr txBox="1"/>
          <p:nvPr/>
        </p:nvSpPr>
        <p:spPr>
          <a:xfrm>
            <a:off x="6400800" y="2697480"/>
            <a:ext cx="4983480" cy="548640"/>
          </a:xfrm>
          <a:prstGeom prst="rect">
            <a:avLst/>
          </a:prstGeom>
          <a:noFill/>
        </p:spPr>
        <p:txBody>
          <a:bodyPr wrap="square" lIns="45720" rIns="45720" tIns="18288" bIns="18288" anchor="t">
            <a:spAutoFit/>
          </a:bodyPr>
          <a:lstStyle/>
          <a:p>
            <a:pPr algn="l"/>
            <a:r>
              <a:rPr sz="1500" b="0">
                <a:solidFill>
                  <a:srgbClr val="333333"/>
                </a:solidFill>
                <a:latin typeface="Hiragino Sans"/>
              </a:rPr>
              <a:t>演習②で作った画像を、編集指示で修正</a:t>
            </a:r>
          </a:p>
        </p:txBody>
      </p:sp>
      <p:sp>
        <p:nvSpPr>
          <p:cNvPr id="19" name="TextBox 18"/>
          <p:cNvSpPr txBox="1"/>
          <p:nvPr/>
        </p:nvSpPr>
        <p:spPr>
          <a:xfrm>
            <a:off x="6400800" y="3383280"/>
            <a:ext cx="4983480" cy="1554480"/>
          </a:xfrm>
          <a:prstGeom prst="rect">
            <a:avLst/>
          </a:prstGeom>
          <a:noFill/>
        </p:spPr>
        <p:txBody>
          <a:bodyPr wrap="square" lIns="45720" rIns="45720" tIns="18288" bIns="18288" anchor="t">
            <a:spAutoFit/>
          </a:bodyPr>
          <a:lstStyle/>
          <a:p>
            <a:pPr algn="l"/>
            <a:r>
              <a:rPr sz="1200" b="0">
                <a:solidFill>
                  <a:srgbClr val="3D5A80"/>
                </a:solidFill>
                <a:latin typeface="Hiragino Sans"/>
              </a:rPr>
              <a:t>例：「背景の色を変えて」「要素を1つ追加」「別スタイルに変換」</a:t>
            </a:r>
          </a:p>
        </p:txBody>
      </p:sp>
      <p:sp>
        <p:nvSpPr>
          <p:cNvPr id="20" name="TextBox 19"/>
          <p:cNvSpPr txBox="1"/>
          <p:nvPr/>
        </p:nvSpPr>
        <p:spPr>
          <a:xfrm>
            <a:off x="548640" y="5212080"/>
            <a:ext cx="11064240" cy="365760"/>
          </a:xfrm>
          <a:prstGeom prst="rect">
            <a:avLst/>
          </a:prstGeom>
          <a:noFill/>
        </p:spPr>
        <p:txBody>
          <a:bodyPr wrap="square" lIns="45720" rIns="45720" tIns="18288" bIns="18288" anchor="t">
            <a:spAutoFit/>
          </a:bodyPr>
          <a:lstStyle/>
          <a:p>
            <a:pPr algn="l"/>
            <a:r>
              <a:rPr sz="1400" b="1">
                <a:solidFill>
                  <a:srgbClr val="0B1B3F"/>
                </a:solidFill>
                <a:latin typeface="Hiragino Sans"/>
              </a:rPr>
              <a:t>▼  チェックポイント</a:t>
            </a:r>
          </a:p>
        </p:txBody>
      </p:sp>
      <p:sp>
        <p:nvSpPr>
          <p:cNvPr id="21" name="Rounded Rectangle 20"/>
          <p:cNvSpPr/>
          <p:nvPr/>
        </p:nvSpPr>
        <p:spPr>
          <a:xfrm>
            <a:off x="548640" y="5623560"/>
            <a:ext cx="11064240" cy="960120"/>
          </a:xfrm>
          <a:prstGeom prst="roundRect">
            <a:avLst>
              <a:gd name="adj" fmla="val 5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94360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5852160"/>
            <a:ext cx="5029200" cy="502920"/>
          </a:xfrm>
          <a:prstGeom prst="rect">
            <a:avLst/>
          </a:prstGeom>
          <a:noFill/>
        </p:spPr>
        <p:txBody>
          <a:bodyPr wrap="square" lIns="45720" rIns="45720" tIns="18288" bIns="18288" anchor="ctr">
            <a:spAutoFit/>
          </a:bodyPr>
          <a:lstStyle/>
          <a:p>
            <a:pPr algn="l"/>
            <a:r>
              <a:rPr sz="1400" b="0">
                <a:solidFill>
                  <a:srgbClr val="0B1B3F"/>
                </a:solidFill>
                <a:latin typeface="Hiragino Sans"/>
              </a:rPr>
              <a:t>バリエーション追加 or 部分修正ができた</a:t>
            </a:r>
          </a:p>
        </p:txBody>
      </p:sp>
      <p:sp>
        <p:nvSpPr>
          <p:cNvPr id="24" name="Rectangle 23"/>
          <p:cNvSpPr/>
          <p:nvPr/>
        </p:nvSpPr>
        <p:spPr>
          <a:xfrm>
            <a:off x="6263640" y="594360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5852160"/>
            <a:ext cx="5029200" cy="502920"/>
          </a:xfrm>
          <a:prstGeom prst="rect">
            <a:avLst/>
          </a:prstGeom>
          <a:noFill/>
        </p:spPr>
        <p:txBody>
          <a:bodyPr wrap="square" lIns="45720" rIns="45720" tIns="18288" bIns="18288" anchor="ctr">
            <a:spAutoFit/>
          </a:bodyPr>
          <a:lstStyle/>
          <a:p>
            <a:pPr algn="l"/>
            <a:r>
              <a:rPr sz="1400" b="0">
                <a:solidFill>
                  <a:srgbClr val="0B1B3F"/>
                </a:solidFill>
                <a:latin typeface="Hiragino Sans"/>
              </a:rPr>
              <a:t>「変えない部分」が崩れずに残っている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468880"/>
            <a:ext cx="64008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2331720"/>
            <a:ext cx="9144000" cy="457200"/>
          </a:xfrm>
          <a:prstGeom prst="rect">
            <a:avLst/>
          </a:prstGeom>
          <a:noFill/>
        </p:spPr>
        <p:txBody>
          <a:bodyPr wrap="square" lIns="45720" rIns="45720" tIns="18288" bIns="18288" anchor="ctr">
            <a:spAutoFit/>
          </a:bodyPr>
          <a:lstStyle/>
          <a:p>
            <a:pPr algn="l"/>
            <a:r>
              <a:rPr sz="1800" b="1">
                <a:solidFill>
                  <a:srgbClr val="C8A84B"/>
                </a:solidFill>
                <a:latin typeface="Hiragino Sans"/>
              </a:rPr>
              <a:t>PART 4</a:t>
            </a:r>
          </a:p>
        </p:txBody>
      </p:sp>
      <p:sp>
        <p:nvSpPr>
          <p:cNvPr id="5" name="TextBox 4"/>
          <p:cNvSpPr txBox="1"/>
          <p:nvPr/>
        </p:nvSpPr>
        <p:spPr>
          <a:xfrm>
            <a:off x="731520" y="2834640"/>
            <a:ext cx="10698480" cy="1828800"/>
          </a:xfrm>
          <a:prstGeom prst="rect">
            <a:avLst/>
          </a:prstGeom>
          <a:noFill/>
        </p:spPr>
        <p:txBody>
          <a:bodyPr wrap="square" lIns="45720" rIns="45720" tIns="18288" bIns="18288" anchor="t">
            <a:spAutoFit/>
          </a:bodyPr>
          <a:lstStyle/>
          <a:p>
            <a:pPr algn="l"/>
            <a:r>
              <a:rPr sz="5400" b="1">
                <a:solidFill>
                  <a:srgbClr val="FFFFFF"/>
                </a:solidFill>
                <a:latin typeface="Hiragino Sans"/>
              </a:rPr>
              <a:t>Claudeに埋め込む</a:t>
            </a:r>
          </a:p>
          <a:p>
            <a:pPr algn="l"/>
            <a:r>
              <a:rPr sz="5400" b="1">
                <a:solidFill>
                  <a:srgbClr val="FFFFFF"/>
                </a:solidFill>
                <a:latin typeface="Hiragino Sans"/>
              </a:rPr>
              <a:t>― Vol.14連携</a:t>
            </a:r>
          </a:p>
        </p:txBody>
      </p:sp>
      <p:sp>
        <p:nvSpPr>
          <p:cNvPr id="6" name="TextBox 5"/>
          <p:cNvSpPr txBox="1"/>
          <p:nvPr/>
        </p:nvSpPr>
        <p:spPr>
          <a:xfrm>
            <a:off x="731520" y="6035040"/>
            <a:ext cx="10698480" cy="365760"/>
          </a:xfrm>
          <a:prstGeom prst="rect">
            <a:avLst/>
          </a:prstGeom>
          <a:noFill/>
        </p:spPr>
        <p:txBody>
          <a:bodyPr wrap="square" lIns="45720" rIns="45720" tIns="18288" bIns="18288" anchor="t">
            <a:spAutoFit/>
          </a:bodyPr>
          <a:lstStyle/>
          <a:p>
            <a:pPr algn="l"/>
            <a:r>
              <a:rPr sz="1300" b="0">
                <a:solidFill>
                  <a:srgbClr val="E8EEF7"/>
                </a:solidFill>
                <a:latin typeface="Hiragino Sans"/>
              </a:rPr>
              <a:t>Vol.16 AIデザイン作成</a:t>
            </a:r>
          </a:p>
        </p:txBody>
      </p:sp>
      <p:sp>
        <p:nvSpPr>
          <p:cNvPr id="7" name="TextBox 6"/>
          <p:cNvSpPr txBox="1"/>
          <p:nvPr/>
        </p:nvSpPr>
        <p:spPr>
          <a:xfrm>
            <a:off x="11247120" y="6492240"/>
            <a:ext cx="868680" cy="274320"/>
          </a:xfrm>
          <a:prstGeom prst="rect">
            <a:avLst/>
          </a:prstGeom>
          <a:noFill/>
        </p:spPr>
        <p:txBody>
          <a:bodyPr wrap="square" lIns="45720" rIns="45720" tIns="18288" bIns="18288" anchor="t">
            <a:spAutoFit/>
          </a:bodyPr>
          <a:lstStyle/>
          <a:p>
            <a:pPr algn="r"/>
            <a:r>
              <a:rPr sz="1000" b="0">
                <a:solidFill>
                  <a:srgbClr val="E8EEF7"/>
                </a:solidFill>
                <a:latin typeface="Hiragino Sans"/>
              </a:rPr>
              <a:t>34 / 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4｜Claude連携</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35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なぜBase64で埋め込むのか</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1ファイルで完結 ― 共有・印刷・PDF化がシンプル</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828800"/>
            <a:ext cx="5440680" cy="2468880"/>
          </a:xfrm>
          <a:prstGeom prst="roundRect">
            <a:avLst>
              <a:gd name="adj" fmla="val 5000"/>
            </a:avLst>
          </a:prstGeom>
          <a:solidFill>
            <a:srgbClr val="FFFFFF"/>
          </a:solidFill>
          <a:ln w="2286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28800"/>
            <a:ext cx="5440680" cy="50292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28800"/>
            <a:ext cx="544068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通常のHTML</a:t>
            </a:r>
          </a:p>
        </p:txBody>
      </p:sp>
      <p:sp>
        <p:nvSpPr>
          <p:cNvPr id="13" name="Rounded Rectangle 12"/>
          <p:cNvSpPr/>
          <p:nvPr/>
        </p:nvSpPr>
        <p:spPr>
          <a:xfrm>
            <a:off x="777240" y="2606040"/>
            <a:ext cx="1463040" cy="1097280"/>
          </a:xfrm>
          <a:prstGeom prst="roundRect">
            <a:avLst>
              <a:gd name="adj" fmla="val 8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606040"/>
            <a:ext cx="1463040" cy="1097280"/>
          </a:xfrm>
          <a:prstGeom prst="rect">
            <a:avLst/>
          </a:prstGeom>
          <a:noFill/>
        </p:spPr>
        <p:txBody>
          <a:bodyPr wrap="square" lIns="45720" rIns="45720" tIns="18288" bIns="18288" anchor="ctr">
            <a:spAutoFit/>
          </a:bodyPr>
          <a:lstStyle/>
          <a:p>
            <a:pPr algn="ctr"/>
            <a:r>
              <a:rPr sz="1200" b="0">
                <a:solidFill>
                  <a:srgbClr val="0B1B3F"/>
                </a:solidFill>
                <a:latin typeface="Hiragino Sans"/>
              </a:rPr>
              <a:t>📄 report.html</a:t>
            </a:r>
          </a:p>
        </p:txBody>
      </p:sp>
      <p:sp>
        <p:nvSpPr>
          <p:cNvPr id="15" name="Rounded Rectangle 14"/>
          <p:cNvSpPr/>
          <p:nvPr/>
        </p:nvSpPr>
        <p:spPr>
          <a:xfrm>
            <a:off x="2468880" y="2606040"/>
            <a:ext cx="1463040" cy="1097280"/>
          </a:xfrm>
          <a:prstGeom prst="roundRect">
            <a:avLst>
              <a:gd name="adj" fmla="val 8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2606040"/>
            <a:ext cx="1463040" cy="1097280"/>
          </a:xfrm>
          <a:prstGeom prst="rect">
            <a:avLst/>
          </a:prstGeom>
          <a:noFill/>
        </p:spPr>
        <p:txBody>
          <a:bodyPr wrap="square" lIns="45720" rIns="45720" tIns="18288" bIns="18288" anchor="ctr">
            <a:spAutoFit/>
          </a:bodyPr>
          <a:lstStyle/>
          <a:p>
            <a:pPr algn="ctr"/>
            <a:r>
              <a:rPr sz="1200" b="0">
                <a:solidFill>
                  <a:srgbClr val="0B1B3F"/>
                </a:solidFill>
                <a:latin typeface="Hiragino Sans"/>
              </a:rPr>
              <a:t>🖼 image1.png</a:t>
            </a:r>
          </a:p>
        </p:txBody>
      </p:sp>
      <p:sp>
        <p:nvSpPr>
          <p:cNvPr id="17" name="Rounded Rectangle 16"/>
          <p:cNvSpPr/>
          <p:nvPr/>
        </p:nvSpPr>
        <p:spPr>
          <a:xfrm>
            <a:off x="4160520" y="2606040"/>
            <a:ext cx="1463040" cy="1097280"/>
          </a:xfrm>
          <a:prstGeom prst="roundRect">
            <a:avLst>
              <a:gd name="adj" fmla="val 8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60520" y="2606040"/>
            <a:ext cx="1463040" cy="1097280"/>
          </a:xfrm>
          <a:prstGeom prst="rect">
            <a:avLst/>
          </a:prstGeom>
          <a:noFill/>
        </p:spPr>
        <p:txBody>
          <a:bodyPr wrap="square" lIns="45720" rIns="45720" tIns="18288" bIns="18288" anchor="ctr">
            <a:spAutoFit/>
          </a:bodyPr>
          <a:lstStyle/>
          <a:p>
            <a:pPr algn="ctr"/>
            <a:r>
              <a:rPr sz="1200" b="0">
                <a:solidFill>
                  <a:srgbClr val="0B1B3F"/>
                </a:solidFill>
                <a:latin typeface="Hiragino Sans"/>
              </a:rPr>
              <a:t>🖼 image2.png</a:t>
            </a:r>
          </a:p>
        </p:txBody>
      </p:sp>
      <p:sp>
        <p:nvSpPr>
          <p:cNvPr id="19" name="TextBox 18"/>
          <p:cNvSpPr txBox="1"/>
          <p:nvPr/>
        </p:nvSpPr>
        <p:spPr>
          <a:xfrm>
            <a:off x="548640" y="3794760"/>
            <a:ext cx="5440680" cy="457200"/>
          </a:xfrm>
          <a:prstGeom prst="rect">
            <a:avLst/>
          </a:prstGeom>
          <a:noFill/>
        </p:spPr>
        <p:txBody>
          <a:bodyPr wrap="square" lIns="45720" rIns="45720" tIns="18288" bIns="18288" anchor="ctr">
            <a:spAutoFit/>
          </a:bodyPr>
          <a:lstStyle/>
          <a:p>
            <a:pPr algn="ctr"/>
            <a:r>
              <a:rPr sz="1300" b="1">
                <a:solidFill>
                  <a:srgbClr val="3D5A80"/>
                </a:solidFill>
                <a:latin typeface="Hiragino Sans"/>
              </a:rPr>
              <a:t>→  3ファイルを管理する必要がある</a:t>
            </a:r>
          </a:p>
        </p:txBody>
      </p:sp>
      <p:sp>
        <p:nvSpPr>
          <p:cNvPr id="20" name="Rounded Rectangle 19"/>
          <p:cNvSpPr/>
          <p:nvPr/>
        </p:nvSpPr>
        <p:spPr>
          <a:xfrm>
            <a:off x="6172200" y="1828800"/>
            <a:ext cx="5440680" cy="2468880"/>
          </a:xfrm>
          <a:prstGeom prst="roundRect">
            <a:avLst>
              <a:gd name="adj" fmla="val 5000"/>
            </a:avLst>
          </a:prstGeom>
          <a:solidFill>
            <a:srgbClr val="FFFFFF"/>
          </a:solidFill>
          <a:ln w="317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828800"/>
            <a:ext cx="5440680" cy="5029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72200" y="1828800"/>
            <a:ext cx="544068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Base64埋め込みHTML</a:t>
            </a:r>
          </a:p>
        </p:txBody>
      </p:sp>
      <p:sp>
        <p:nvSpPr>
          <p:cNvPr id="23" name="Rounded Rectangle 22"/>
          <p:cNvSpPr/>
          <p:nvPr/>
        </p:nvSpPr>
        <p:spPr>
          <a:xfrm>
            <a:off x="6995160" y="2606040"/>
            <a:ext cx="3794760" cy="1097280"/>
          </a:xfrm>
          <a:prstGeom prst="roundRect">
            <a:avLst>
              <a:gd name="adj" fmla="val 8000"/>
            </a:avLst>
          </a:prstGeom>
          <a:solidFill>
            <a:srgbClr val="E8EEF7"/>
          </a:solidFill>
          <a:ln w="2540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95160" y="2606040"/>
            <a:ext cx="3794760" cy="457200"/>
          </a:xfrm>
          <a:prstGeom prst="rect">
            <a:avLst/>
          </a:prstGeom>
          <a:noFill/>
        </p:spPr>
        <p:txBody>
          <a:bodyPr wrap="square" lIns="45720" rIns="45720" tIns="18288" bIns="18288" anchor="ctr">
            <a:spAutoFit/>
          </a:bodyPr>
          <a:lstStyle/>
          <a:p>
            <a:pPr algn="ctr"/>
            <a:r>
              <a:rPr sz="1400" b="1">
                <a:solidFill>
                  <a:srgbClr val="0B1B3F"/>
                </a:solidFill>
                <a:latin typeface="Hiragino Sans"/>
              </a:rPr>
              <a:t>📄  report.html</a:t>
            </a:r>
          </a:p>
        </p:txBody>
      </p:sp>
      <p:sp>
        <p:nvSpPr>
          <p:cNvPr id="25" name="TextBox 24"/>
          <p:cNvSpPr txBox="1"/>
          <p:nvPr/>
        </p:nvSpPr>
        <p:spPr>
          <a:xfrm>
            <a:off x="6995160" y="3017520"/>
            <a:ext cx="3794760" cy="640080"/>
          </a:xfrm>
          <a:prstGeom prst="rect">
            <a:avLst/>
          </a:prstGeom>
          <a:noFill/>
        </p:spPr>
        <p:txBody>
          <a:bodyPr wrap="square" lIns="45720" rIns="45720" tIns="18288" bIns="18288" anchor="ctr">
            <a:spAutoFit/>
          </a:bodyPr>
          <a:lstStyle/>
          <a:p>
            <a:pPr algn="ctr"/>
            <a:r>
              <a:rPr sz="1100" b="0">
                <a:solidFill>
                  <a:srgbClr val="333333"/>
                </a:solidFill>
                <a:latin typeface="Hiragino Sans"/>
              </a:rPr>
              <a:t>（画像データもこの中に Base64で内包）</a:t>
            </a:r>
          </a:p>
        </p:txBody>
      </p:sp>
      <p:sp>
        <p:nvSpPr>
          <p:cNvPr id="26" name="TextBox 25"/>
          <p:cNvSpPr txBox="1"/>
          <p:nvPr/>
        </p:nvSpPr>
        <p:spPr>
          <a:xfrm>
            <a:off x="6172200" y="3794760"/>
            <a:ext cx="5440680" cy="457200"/>
          </a:xfrm>
          <a:prstGeom prst="rect">
            <a:avLst/>
          </a:prstGeom>
          <a:noFill/>
        </p:spPr>
        <p:txBody>
          <a:bodyPr wrap="square" lIns="45720" rIns="45720" tIns="18288" bIns="18288" anchor="ctr">
            <a:spAutoFit/>
          </a:bodyPr>
          <a:lstStyle/>
          <a:p>
            <a:pPr algn="ctr"/>
            <a:r>
              <a:rPr sz="1300" b="1">
                <a:solidFill>
                  <a:srgbClr val="142A5C"/>
                </a:solidFill>
                <a:latin typeface="Hiragino Sans"/>
              </a:rPr>
              <a:t>→  1ファイルで完結</a:t>
            </a:r>
          </a:p>
        </p:txBody>
      </p:sp>
      <p:sp>
        <p:nvSpPr>
          <p:cNvPr id="27" name="TextBox 26"/>
          <p:cNvSpPr txBox="1"/>
          <p:nvPr/>
        </p:nvSpPr>
        <p:spPr>
          <a:xfrm>
            <a:off x="548640" y="4572000"/>
            <a:ext cx="11064240" cy="365760"/>
          </a:xfrm>
          <a:prstGeom prst="rect">
            <a:avLst/>
          </a:prstGeom>
          <a:noFill/>
        </p:spPr>
        <p:txBody>
          <a:bodyPr wrap="square" lIns="45720" rIns="45720" tIns="18288" bIns="18288" anchor="t">
            <a:spAutoFit/>
          </a:bodyPr>
          <a:lstStyle/>
          <a:p>
            <a:pPr algn="l"/>
            <a:r>
              <a:rPr sz="1400" b="1">
                <a:solidFill>
                  <a:srgbClr val="0B1B3F"/>
                </a:solidFill>
                <a:latin typeface="Hiragino Sans"/>
              </a:rPr>
              <a:t>▼  メリット</a:t>
            </a:r>
          </a:p>
        </p:txBody>
      </p:sp>
      <p:sp>
        <p:nvSpPr>
          <p:cNvPr id="28" name="Rectangle 27"/>
          <p:cNvSpPr/>
          <p:nvPr/>
        </p:nvSpPr>
        <p:spPr>
          <a:xfrm>
            <a:off x="548640" y="5120640"/>
            <a:ext cx="274320" cy="2743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20640"/>
            <a:ext cx="274320" cy="274320"/>
          </a:xfrm>
          <a:prstGeom prst="rect">
            <a:avLst/>
          </a:prstGeom>
          <a:noFill/>
        </p:spPr>
        <p:txBody>
          <a:bodyPr wrap="square" lIns="45720" rIns="45720" tIns="18288" bIns="18288" anchor="ctr">
            <a:spAutoFit/>
          </a:bodyPr>
          <a:lstStyle/>
          <a:p>
            <a:pPr algn="ctr"/>
            <a:r>
              <a:rPr sz="1400" b="1">
                <a:solidFill>
                  <a:srgbClr val="FFFFFF"/>
                </a:solidFill>
                <a:latin typeface="Hiragino Sans"/>
              </a:rPr>
              <a:t>✓</a:t>
            </a:r>
          </a:p>
        </p:txBody>
      </p:sp>
      <p:sp>
        <p:nvSpPr>
          <p:cNvPr id="30" name="TextBox 29"/>
          <p:cNvSpPr txBox="1"/>
          <p:nvPr/>
        </p:nvSpPr>
        <p:spPr>
          <a:xfrm>
            <a:off x="914400" y="4983480"/>
            <a:ext cx="10515600" cy="502920"/>
          </a:xfrm>
          <a:prstGeom prst="rect">
            <a:avLst/>
          </a:prstGeom>
          <a:noFill/>
        </p:spPr>
        <p:txBody>
          <a:bodyPr wrap="square" lIns="45720" rIns="45720" tIns="18288" bIns="18288" anchor="ctr">
            <a:spAutoFit/>
          </a:bodyPr>
          <a:lstStyle/>
          <a:p>
            <a:pPr algn="l"/>
            <a:r>
              <a:rPr sz="1400" b="0">
                <a:solidFill>
                  <a:srgbClr val="0B1B3F"/>
                </a:solidFill>
                <a:latin typeface="Hiragino Sans"/>
              </a:rPr>
              <a:t>HTML 1ファイルで完結 → 共有・印刷・PDF化がシンプル</a:t>
            </a:r>
          </a:p>
        </p:txBody>
      </p:sp>
      <p:sp>
        <p:nvSpPr>
          <p:cNvPr id="31" name="Rectangle 30"/>
          <p:cNvSpPr/>
          <p:nvPr/>
        </p:nvSpPr>
        <p:spPr>
          <a:xfrm>
            <a:off x="548640" y="5669280"/>
            <a:ext cx="274320" cy="2743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669280"/>
            <a:ext cx="274320" cy="274320"/>
          </a:xfrm>
          <a:prstGeom prst="rect">
            <a:avLst/>
          </a:prstGeom>
          <a:noFill/>
        </p:spPr>
        <p:txBody>
          <a:bodyPr wrap="square" lIns="45720" rIns="45720" tIns="18288" bIns="18288" anchor="ctr">
            <a:spAutoFit/>
          </a:bodyPr>
          <a:lstStyle/>
          <a:p>
            <a:pPr algn="ctr"/>
            <a:r>
              <a:rPr sz="1400" b="1">
                <a:solidFill>
                  <a:srgbClr val="FFFFFF"/>
                </a:solidFill>
                <a:latin typeface="Hiragino Sans"/>
              </a:rPr>
              <a:t>✓</a:t>
            </a:r>
          </a:p>
        </p:txBody>
      </p:sp>
      <p:sp>
        <p:nvSpPr>
          <p:cNvPr id="33" name="TextBox 32"/>
          <p:cNvSpPr txBox="1"/>
          <p:nvPr/>
        </p:nvSpPr>
        <p:spPr>
          <a:xfrm>
            <a:off x="914400" y="5532120"/>
            <a:ext cx="10515600" cy="502920"/>
          </a:xfrm>
          <a:prstGeom prst="rect">
            <a:avLst/>
          </a:prstGeom>
          <a:noFill/>
        </p:spPr>
        <p:txBody>
          <a:bodyPr wrap="square" lIns="45720" rIns="45720" tIns="18288" bIns="18288" anchor="ctr">
            <a:spAutoFit/>
          </a:bodyPr>
          <a:lstStyle/>
          <a:p>
            <a:pPr algn="l"/>
            <a:r>
              <a:rPr sz="1400" b="0">
                <a:solidFill>
                  <a:srgbClr val="0B1B3F"/>
                </a:solidFill>
                <a:latin typeface="Hiragino Sans"/>
              </a:rPr>
              <a:t>画像のリンク切れがない（他環境でも崩れない）</a:t>
            </a:r>
          </a:p>
        </p:txBody>
      </p:sp>
      <p:sp>
        <p:nvSpPr>
          <p:cNvPr id="34" name="Rectangle 33"/>
          <p:cNvSpPr/>
          <p:nvPr/>
        </p:nvSpPr>
        <p:spPr>
          <a:xfrm>
            <a:off x="548640" y="6217920"/>
            <a:ext cx="274320" cy="2743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6217920"/>
            <a:ext cx="274320" cy="274320"/>
          </a:xfrm>
          <a:prstGeom prst="rect">
            <a:avLst/>
          </a:prstGeom>
          <a:noFill/>
        </p:spPr>
        <p:txBody>
          <a:bodyPr wrap="square" lIns="45720" rIns="45720" tIns="18288" bIns="18288" anchor="ctr">
            <a:spAutoFit/>
          </a:bodyPr>
          <a:lstStyle/>
          <a:p>
            <a:pPr algn="ctr"/>
            <a:r>
              <a:rPr sz="1400" b="1">
                <a:solidFill>
                  <a:srgbClr val="FFFFFF"/>
                </a:solidFill>
                <a:latin typeface="Hiragino Sans"/>
              </a:rPr>
              <a:t>✓</a:t>
            </a:r>
          </a:p>
        </p:txBody>
      </p:sp>
      <p:sp>
        <p:nvSpPr>
          <p:cNvPr id="36" name="TextBox 35"/>
          <p:cNvSpPr txBox="1"/>
          <p:nvPr/>
        </p:nvSpPr>
        <p:spPr>
          <a:xfrm>
            <a:off x="914400" y="6080760"/>
            <a:ext cx="10515600" cy="502920"/>
          </a:xfrm>
          <a:prstGeom prst="rect">
            <a:avLst/>
          </a:prstGeom>
          <a:noFill/>
        </p:spPr>
        <p:txBody>
          <a:bodyPr wrap="square" lIns="45720" rIns="45720" tIns="18288" bIns="18288" anchor="ctr">
            <a:spAutoFit/>
          </a:bodyPr>
          <a:lstStyle/>
          <a:p>
            <a:pPr algn="l"/>
            <a:r>
              <a:rPr sz="1400" b="0">
                <a:solidFill>
                  <a:srgbClr val="0B1B3F"/>
                </a:solidFill>
                <a:latin typeface="Hiragino Sans"/>
              </a:rPr>
              <a:t>メールでも1ファイル送るだけ</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4｜Claude連携</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36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Claudeに画像を渡す → Base64で埋め込ませる</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5ステップで成果物が完成</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640080" cy="5029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83080"/>
            <a:ext cx="64008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1</a:t>
            </a:r>
          </a:p>
        </p:txBody>
      </p:sp>
      <p:sp>
        <p:nvSpPr>
          <p:cNvPr id="12" name="Rectangle 11"/>
          <p:cNvSpPr/>
          <p:nvPr/>
        </p:nvSpPr>
        <p:spPr>
          <a:xfrm>
            <a:off x="1234440" y="1783080"/>
            <a:ext cx="10378440" cy="50292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1783080"/>
            <a:ext cx="10241280" cy="502920"/>
          </a:xfrm>
          <a:prstGeom prst="rect">
            <a:avLst/>
          </a:prstGeom>
          <a:noFill/>
        </p:spPr>
        <p:txBody>
          <a:bodyPr wrap="square" lIns="45720" rIns="45720" tIns="18288" bIns="18288" anchor="ctr">
            <a:spAutoFit/>
          </a:bodyPr>
          <a:lstStyle/>
          <a:p>
            <a:pPr algn="l"/>
            <a:r>
              <a:rPr sz="1300" b="0">
                <a:solidFill>
                  <a:srgbClr val="0B1B3F"/>
                </a:solidFill>
                <a:latin typeface="Hiragino Sans"/>
              </a:rPr>
              <a:t>ファイルアプリ（または写真アプリ）から、埋め込みたい画像を準備</a:t>
            </a:r>
          </a:p>
        </p:txBody>
      </p:sp>
      <p:sp>
        <p:nvSpPr>
          <p:cNvPr id="14" name="Rectangle 13"/>
          <p:cNvSpPr/>
          <p:nvPr/>
        </p:nvSpPr>
        <p:spPr>
          <a:xfrm>
            <a:off x="548640" y="2359152"/>
            <a:ext cx="640080" cy="5029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359152"/>
            <a:ext cx="64008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2</a:t>
            </a:r>
          </a:p>
        </p:txBody>
      </p:sp>
      <p:sp>
        <p:nvSpPr>
          <p:cNvPr id="16" name="Rectangle 15"/>
          <p:cNvSpPr/>
          <p:nvPr/>
        </p:nvSpPr>
        <p:spPr>
          <a:xfrm>
            <a:off x="1234440" y="2359152"/>
            <a:ext cx="10378440" cy="50292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2359152"/>
            <a:ext cx="10241280" cy="502920"/>
          </a:xfrm>
          <a:prstGeom prst="rect">
            <a:avLst/>
          </a:prstGeom>
          <a:noFill/>
        </p:spPr>
        <p:txBody>
          <a:bodyPr wrap="square" lIns="45720" rIns="45720" tIns="18288" bIns="18288" anchor="ctr">
            <a:spAutoFit/>
          </a:bodyPr>
          <a:lstStyle/>
          <a:p>
            <a:pPr algn="l"/>
            <a:r>
              <a:rPr sz="1300" b="0">
                <a:solidFill>
                  <a:srgbClr val="0B1B3F"/>
                </a:solidFill>
                <a:latin typeface="Hiragino Sans"/>
              </a:rPr>
              <a:t>Claudeを開いて新規チャット</a:t>
            </a:r>
          </a:p>
        </p:txBody>
      </p:sp>
      <p:sp>
        <p:nvSpPr>
          <p:cNvPr id="18" name="Rectangle 17"/>
          <p:cNvSpPr/>
          <p:nvPr/>
        </p:nvSpPr>
        <p:spPr>
          <a:xfrm>
            <a:off x="548640" y="2935224"/>
            <a:ext cx="640080" cy="5029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935224"/>
            <a:ext cx="64008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3</a:t>
            </a:r>
          </a:p>
        </p:txBody>
      </p:sp>
      <p:sp>
        <p:nvSpPr>
          <p:cNvPr id="20" name="Rectangle 19"/>
          <p:cNvSpPr/>
          <p:nvPr/>
        </p:nvSpPr>
        <p:spPr>
          <a:xfrm>
            <a:off x="1234440" y="2935224"/>
            <a:ext cx="10378440" cy="50292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2935224"/>
            <a:ext cx="10241280" cy="502920"/>
          </a:xfrm>
          <a:prstGeom prst="rect">
            <a:avLst/>
          </a:prstGeom>
          <a:noFill/>
        </p:spPr>
        <p:txBody>
          <a:bodyPr wrap="square" lIns="45720" rIns="45720" tIns="18288" bIns="18288" anchor="ctr">
            <a:spAutoFit/>
          </a:bodyPr>
          <a:lstStyle/>
          <a:p>
            <a:pPr algn="l"/>
            <a:r>
              <a:rPr sz="1300" b="0">
                <a:solidFill>
                  <a:srgbClr val="0B1B3F"/>
                </a:solidFill>
                <a:latin typeface="Hiragino Sans"/>
              </a:rPr>
              <a:t>添付アイコンから画像を添付</a:t>
            </a:r>
          </a:p>
        </p:txBody>
      </p:sp>
      <p:sp>
        <p:nvSpPr>
          <p:cNvPr id="22" name="Rectangle 21"/>
          <p:cNvSpPr/>
          <p:nvPr/>
        </p:nvSpPr>
        <p:spPr>
          <a:xfrm>
            <a:off x="548640" y="3511296"/>
            <a:ext cx="640080" cy="5029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511296"/>
            <a:ext cx="64008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4</a:t>
            </a:r>
          </a:p>
        </p:txBody>
      </p:sp>
      <p:sp>
        <p:nvSpPr>
          <p:cNvPr id="24" name="Rectangle 23"/>
          <p:cNvSpPr/>
          <p:nvPr/>
        </p:nvSpPr>
        <p:spPr>
          <a:xfrm>
            <a:off x="1234440" y="3511296"/>
            <a:ext cx="10378440" cy="50292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71600" y="3511296"/>
            <a:ext cx="10241280" cy="502920"/>
          </a:xfrm>
          <a:prstGeom prst="rect">
            <a:avLst/>
          </a:prstGeom>
          <a:noFill/>
        </p:spPr>
        <p:txBody>
          <a:bodyPr wrap="square" lIns="45720" rIns="45720" tIns="18288" bIns="18288" anchor="ctr">
            <a:spAutoFit/>
          </a:bodyPr>
          <a:lstStyle/>
          <a:p>
            <a:pPr algn="l"/>
            <a:r>
              <a:rPr sz="1300" b="0">
                <a:solidFill>
                  <a:srgbClr val="0B1B3F"/>
                </a:solidFill>
                <a:latin typeface="Hiragino Sans"/>
              </a:rPr>
              <a:t>指示文を入力（下のテキストをコピペ可）</a:t>
            </a:r>
          </a:p>
        </p:txBody>
      </p:sp>
      <p:sp>
        <p:nvSpPr>
          <p:cNvPr id="26" name="Rectangle 25"/>
          <p:cNvSpPr/>
          <p:nvPr/>
        </p:nvSpPr>
        <p:spPr>
          <a:xfrm>
            <a:off x="548640" y="4087368"/>
            <a:ext cx="640080" cy="50292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087368"/>
            <a:ext cx="640080" cy="502920"/>
          </a:xfrm>
          <a:prstGeom prst="rect">
            <a:avLst/>
          </a:prstGeom>
          <a:noFill/>
        </p:spPr>
        <p:txBody>
          <a:bodyPr wrap="square" lIns="45720" rIns="45720" tIns="18288" bIns="18288" anchor="ctr">
            <a:spAutoFit/>
          </a:bodyPr>
          <a:lstStyle/>
          <a:p>
            <a:pPr algn="ctr"/>
            <a:r>
              <a:rPr sz="1800" b="1">
                <a:solidFill>
                  <a:srgbClr val="FFFFFF"/>
                </a:solidFill>
                <a:latin typeface="Hiragino Sans"/>
              </a:rPr>
              <a:t>5</a:t>
            </a:r>
          </a:p>
        </p:txBody>
      </p:sp>
      <p:sp>
        <p:nvSpPr>
          <p:cNvPr id="28" name="Rectangle 27"/>
          <p:cNvSpPr/>
          <p:nvPr/>
        </p:nvSpPr>
        <p:spPr>
          <a:xfrm>
            <a:off x="1234440" y="4087368"/>
            <a:ext cx="10378440" cy="50292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71600" y="4087368"/>
            <a:ext cx="10241280" cy="502920"/>
          </a:xfrm>
          <a:prstGeom prst="rect">
            <a:avLst/>
          </a:prstGeom>
          <a:noFill/>
        </p:spPr>
        <p:txBody>
          <a:bodyPr wrap="square" lIns="45720" rIns="45720" tIns="18288" bIns="18288" anchor="ctr">
            <a:spAutoFit/>
          </a:bodyPr>
          <a:lstStyle/>
          <a:p>
            <a:pPr algn="l"/>
            <a:r>
              <a:rPr sz="1300" b="0">
                <a:solidFill>
                  <a:srgbClr val="0B1B3F"/>
                </a:solidFill>
                <a:latin typeface="Hiragino Sans"/>
              </a:rPr>
              <a:t>ClaudeがHTMLを生成 → ダウンロード → iPad表示確認 →（必要ならPDF変換）</a:t>
            </a:r>
          </a:p>
        </p:txBody>
      </p:sp>
      <p:sp>
        <p:nvSpPr>
          <p:cNvPr id="30" name="Rectangle 29"/>
          <p:cNvSpPr/>
          <p:nvPr/>
        </p:nvSpPr>
        <p:spPr>
          <a:xfrm>
            <a:off x="548640" y="4800600"/>
            <a:ext cx="11064240" cy="36576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00600"/>
            <a:ext cx="11064240" cy="365760"/>
          </a:xfrm>
          <a:prstGeom prst="rect">
            <a:avLst/>
          </a:prstGeom>
          <a:noFill/>
        </p:spPr>
        <p:txBody>
          <a:bodyPr wrap="square" lIns="45720" rIns="45720" tIns="18288" bIns="18288" anchor="ctr">
            <a:spAutoFit/>
          </a:bodyPr>
          <a:lstStyle/>
          <a:p>
            <a:pPr algn="l"/>
            <a:r>
              <a:rPr sz="1200" b="1">
                <a:solidFill>
                  <a:srgbClr val="FFFFFF"/>
                </a:solidFill>
                <a:latin typeface="Hiragino Sans"/>
              </a:rPr>
              <a:t>📝  指示文（コピペ用）</a:t>
            </a:r>
          </a:p>
        </p:txBody>
      </p:sp>
      <p:sp>
        <p:nvSpPr>
          <p:cNvPr id="32" name="Rectangle 31"/>
          <p:cNvSpPr/>
          <p:nvPr/>
        </p:nvSpPr>
        <p:spPr>
          <a:xfrm>
            <a:off x="548640" y="5166360"/>
            <a:ext cx="11064240" cy="1554480"/>
          </a:xfrm>
          <a:prstGeom prst="rect">
            <a:avLst/>
          </a:prstGeom>
          <a:solidFill>
            <a:srgbClr val="E8EEF7"/>
          </a:solidFill>
          <a:ln w="19050">
            <a:solidFill>
              <a:srgbClr val="0B1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257800"/>
            <a:ext cx="10607040" cy="1371600"/>
          </a:xfrm>
          <a:prstGeom prst="rect">
            <a:avLst/>
          </a:prstGeom>
          <a:noFill/>
        </p:spPr>
        <p:txBody>
          <a:bodyPr wrap="square" lIns="45720" rIns="45720" tIns="18288" bIns="18288" anchor="t">
            <a:spAutoFit/>
          </a:bodyPr>
          <a:lstStyle/>
          <a:p>
            <a:pPr algn="l"/>
            <a:r>
              <a:rPr sz="1400" b="0">
                <a:solidFill>
                  <a:srgbClr val="0B1B3F"/>
                </a:solidFill>
                <a:latin typeface="Menlo"/>
              </a:rPr>
              <a:t>この画像を使って、簡単な自己紹介HTMLを作ってください。</a:t>
            </a:r>
          </a:p>
          <a:p>
            <a:pPr algn="l"/>
            <a:r>
              <a:rPr sz="1400" b="0">
                <a:solidFill>
                  <a:srgbClr val="0B1B3F"/>
                </a:solidFill>
                <a:latin typeface="Menlo"/>
              </a:rPr>
              <a:t>画像はBase64でHTMLに埋め込んで、表紙画像として配置してください。</a:t>
            </a:r>
          </a:p>
          <a:p>
            <a:pPr algn="l"/>
            <a:r>
              <a:rPr sz="1400" b="0">
                <a:solidFill>
                  <a:srgbClr val="0B1B3F"/>
                </a:solidFill>
                <a:latin typeface="Menlo"/>
              </a:rPr>
              <a:t>タイトルは「自己紹介」、本文は短くて構いません。</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Part 4｜統合演習</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37 / 40</a:t>
            </a:r>
          </a:p>
        </p:txBody>
      </p:sp>
      <p:sp>
        <p:nvSpPr>
          <p:cNvPr id="6" name="Rectangle 5"/>
          <p:cNvSpPr/>
          <p:nvPr/>
        </p:nvSpPr>
        <p:spPr>
          <a:xfrm>
            <a:off x="457200" y="594360"/>
            <a:ext cx="164592"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anchor="ctr">
            <a:spAutoFit/>
          </a:bodyPr>
          <a:lstStyle/>
          <a:p>
            <a:pPr algn="l"/>
            <a:r>
              <a:rPr sz="3000" b="1">
                <a:solidFill>
                  <a:srgbClr val="0B1B3F"/>
                </a:solidFill>
                <a:latin typeface="Hiragino Sans"/>
              </a:rPr>
              <a:t>演習④（統合演習）</a:t>
            </a:r>
            <a:r>
              <a:rPr sz="3000" b="0">
                <a:solidFill>
                  <a:srgbClr val="0B1B3F"/>
                </a:solidFill>
                <a:latin typeface="Hiragino Sans"/>
              </a:rPr>
              <a:t>   </a:t>
            </a:r>
            <a:r>
              <a:rPr sz="1800" b="1">
                <a:solidFill>
                  <a:srgbClr val="C8A84B"/>
                </a:solidFill>
                <a:latin typeface="Hiragino Sans"/>
              </a:rPr>
              <a:t>⏱ 10分</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400" b="0">
                <a:solidFill>
                  <a:srgbClr val="3D5A80"/>
                </a:solidFill>
                <a:latin typeface="Hiragino Sans"/>
              </a:rPr>
              <a:t>今日作った画像を、Claudeのドキュメントに組み込んで「成果物」として仕上げる</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91640"/>
            <a:ext cx="6400800" cy="411480"/>
          </a:xfrm>
          <a:prstGeom prst="rect">
            <a:avLst/>
          </a:prstGeom>
          <a:noFill/>
        </p:spPr>
        <p:txBody>
          <a:bodyPr wrap="square" lIns="45720" rIns="45720" tIns="18288" bIns="18288" anchor="t">
            <a:spAutoFit/>
          </a:bodyPr>
          <a:lstStyle/>
          <a:p>
            <a:pPr algn="l"/>
            <a:r>
              <a:rPr sz="1600" b="1">
                <a:solidFill>
                  <a:srgbClr val="0B1B3F"/>
                </a:solidFill>
                <a:latin typeface="Hiragino Sans"/>
              </a:rPr>
              <a:t>▼  手順</a:t>
            </a:r>
          </a:p>
        </p:txBody>
      </p:sp>
      <p:sp>
        <p:nvSpPr>
          <p:cNvPr id="11" name="Rectangle 10"/>
          <p:cNvSpPr/>
          <p:nvPr/>
        </p:nvSpPr>
        <p:spPr>
          <a:xfrm>
            <a:off x="548640" y="214884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4884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1</a:t>
            </a:r>
          </a:p>
        </p:txBody>
      </p:sp>
      <p:sp>
        <p:nvSpPr>
          <p:cNvPr id="13" name="Rectangle 12"/>
          <p:cNvSpPr/>
          <p:nvPr/>
        </p:nvSpPr>
        <p:spPr>
          <a:xfrm>
            <a:off x="1143000" y="214884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214884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Part 1〜3で作った画像のうち、お気に入りを1枚選ぶ</a:t>
            </a:r>
          </a:p>
        </p:txBody>
      </p:sp>
      <p:sp>
        <p:nvSpPr>
          <p:cNvPr id="15" name="Rectangle 14"/>
          <p:cNvSpPr/>
          <p:nvPr/>
        </p:nvSpPr>
        <p:spPr>
          <a:xfrm>
            <a:off x="548640" y="278892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78892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2</a:t>
            </a:r>
          </a:p>
        </p:txBody>
      </p:sp>
      <p:sp>
        <p:nvSpPr>
          <p:cNvPr id="17" name="Rectangle 16"/>
          <p:cNvSpPr/>
          <p:nvPr/>
        </p:nvSpPr>
        <p:spPr>
          <a:xfrm>
            <a:off x="1143000" y="278892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278892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Claudeに短いHTMLドキュメントを作らせる（例：本講義の感想 / 自己紹介 / プロフィール紹介）</a:t>
            </a:r>
          </a:p>
        </p:txBody>
      </p:sp>
      <p:sp>
        <p:nvSpPr>
          <p:cNvPr id="19" name="Rectangle 18"/>
          <p:cNvSpPr/>
          <p:nvPr/>
        </p:nvSpPr>
        <p:spPr>
          <a:xfrm>
            <a:off x="548640" y="342900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42900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3</a:t>
            </a:r>
          </a:p>
        </p:txBody>
      </p:sp>
      <p:sp>
        <p:nvSpPr>
          <p:cNvPr id="21" name="Rectangle 20"/>
          <p:cNvSpPr/>
          <p:nvPr/>
        </p:nvSpPr>
        <p:spPr>
          <a:xfrm>
            <a:off x="1143000" y="342900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342900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上の画像をBase64で埋め込ませる</a:t>
            </a:r>
          </a:p>
        </p:txBody>
      </p:sp>
      <p:sp>
        <p:nvSpPr>
          <p:cNvPr id="23" name="Rectangle 22"/>
          <p:cNvSpPr/>
          <p:nvPr/>
        </p:nvSpPr>
        <p:spPr>
          <a:xfrm>
            <a:off x="548640" y="406908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06908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4</a:t>
            </a:r>
          </a:p>
        </p:txBody>
      </p:sp>
      <p:sp>
        <p:nvSpPr>
          <p:cNvPr id="25" name="Rectangle 24"/>
          <p:cNvSpPr/>
          <p:nvPr/>
        </p:nvSpPr>
        <p:spPr>
          <a:xfrm>
            <a:off x="1143000" y="406908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0160" y="406908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生成されたHTMLをiPadで表示確認</a:t>
            </a:r>
          </a:p>
        </p:txBody>
      </p:sp>
      <p:sp>
        <p:nvSpPr>
          <p:cNvPr id="27" name="Rectangle 26"/>
          <p:cNvSpPr/>
          <p:nvPr/>
        </p:nvSpPr>
        <p:spPr>
          <a:xfrm>
            <a:off x="548640" y="4709160"/>
            <a:ext cx="548640" cy="5486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709160"/>
            <a:ext cx="548640" cy="548640"/>
          </a:xfrm>
          <a:prstGeom prst="rect">
            <a:avLst/>
          </a:prstGeom>
          <a:noFill/>
        </p:spPr>
        <p:txBody>
          <a:bodyPr wrap="square" lIns="45720" rIns="45720" tIns="18288" bIns="18288" anchor="ctr">
            <a:spAutoFit/>
          </a:bodyPr>
          <a:lstStyle/>
          <a:p>
            <a:pPr algn="ctr"/>
            <a:r>
              <a:rPr sz="2000" b="1">
                <a:solidFill>
                  <a:srgbClr val="FFFFFF"/>
                </a:solidFill>
                <a:latin typeface="Hiragino Sans"/>
              </a:rPr>
              <a:t>5</a:t>
            </a:r>
          </a:p>
        </p:txBody>
      </p:sp>
      <p:sp>
        <p:nvSpPr>
          <p:cNvPr id="29" name="Rectangle 28"/>
          <p:cNvSpPr/>
          <p:nvPr/>
        </p:nvSpPr>
        <p:spPr>
          <a:xfrm>
            <a:off x="1143000" y="4709160"/>
            <a:ext cx="5943600" cy="5486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80160" y="4709160"/>
            <a:ext cx="5760720" cy="548640"/>
          </a:xfrm>
          <a:prstGeom prst="rect">
            <a:avLst/>
          </a:prstGeom>
          <a:noFill/>
        </p:spPr>
        <p:txBody>
          <a:bodyPr wrap="square" lIns="45720" rIns="45720" tIns="18288" bIns="18288" anchor="ctr">
            <a:spAutoFit/>
          </a:bodyPr>
          <a:lstStyle/>
          <a:p>
            <a:pPr algn="l"/>
            <a:r>
              <a:rPr sz="1300" b="0">
                <a:solidFill>
                  <a:srgbClr val="333333"/>
                </a:solidFill>
                <a:latin typeface="Hiragino Sans"/>
              </a:rPr>
              <a:t>（時間があれば）PDFに変換</a:t>
            </a:r>
          </a:p>
        </p:txBody>
      </p:sp>
      <p:sp>
        <p:nvSpPr>
          <p:cNvPr id="31" name="TextBox 30"/>
          <p:cNvSpPr txBox="1"/>
          <p:nvPr/>
        </p:nvSpPr>
        <p:spPr>
          <a:xfrm>
            <a:off x="7315200" y="1691640"/>
            <a:ext cx="4297680" cy="411480"/>
          </a:xfrm>
          <a:prstGeom prst="rect">
            <a:avLst/>
          </a:prstGeom>
          <a:noFill/>
        </p:spPr>
        <p:txBody>
          <a:bodyPr wrap="square" lIns="45720" rIns="45720" tIns="18288" bIns="18288" anchor="t">
            <a:spAutoFit/>
          </a:bodyPr>
          <a:lstStyle/>
          <a:p>
            <a:pPr algn="l"/>
            <a:r>
              <a:rPr sz="1600" b="1">
                <a:solidFill>
                  <a:srgbClr val="0B1B3F"/>
                </a:solidFill>
                <a:latin typeface="Hiragino Sans"/>
              </a:rPr>
              <a:t>▼  チェックポイント</a:t>
            </a:r>
          </a:p>
        </p:txBody>
      </p:sp>
      <p:sp>
        <p:nvSpPr>
          <p:cNvPr id="32" name="Rounded Rectangle 31"/>
          <p:cNvSpPr/>
          <p:nvPr/>
        </p:nvSpPr>
        <p:spPr>
          <a:xfrm>
            <a:off x="7315200" y="2148840"/>
            <a:ext cx="4297680" cy="4480560"/>
          </a:xfrm>
          <a:prstGeom prst="roundRect">
            <a:avLst>
              <a:gd name="adj" fmla="val 5000"/>
            </a:avLst>
          </a:prstGeom>
          <a:solidFill>
            <a:srgbClr val="E8EEF7"/>
          </a:solidFill>
          <a:ln w="19050">
            <a:solidFill>
              <a:srgbClr val="14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79" y="237744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3657600" cy="365760"/>
          </a:xfrm>
          <a:prstGeom prst="rect">
            <a:avLst/>
          </a:prstGeom>
          <a:noFill/>
        </p:spPr>
        <p:txBody>
          <a:bodyPr wrap="square" lIns="45720" rIns="45720" tIns="18288" bIns="18288" anchor="ctr">
            <a:spAutoFit/>
          </a:bodyPr>
          <a:lstStyle/>
          <a:p>
            <a:pPr algn="l"/>
            <a:r>
              <a:rPr sz="1300" b="0">
                <a:solidFill>
                  <a:srgbClr val="0B1B3F"/>
                </a:solidFill>
                <a:latin typeface="Hiragino Sans"/>
              </a:rPr>
              <a:t>HTMLに画像がBase64で埋め込まれている</a:t>
            </a:r>
          </a:p>
        </p:txBody>
      </p:sp>
      <p:sp>
        <p:nvSpPr>
          <p:cNvPr id="35" name="Rectangle 34"/>
          <p:cNvSpPr/>
          <p:nvPr/>
        </p:nvSpPr>
        <p:spPr>
          <a:xfrm>
            <a:off x="7498079" y="292608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2880360"/>
            <a:ext cx="3657600" cy="365760"/>
          </a:xfrm>
          <a:prstGeom prst="rect">
            <a:avLst/>
          </a:prstGeom>
          <a:noFill/>
        </p:spPr>
        <p:txBody>
          <a:bodyPr wrap="square" lIns="45720" rIns="45720" tIns="18288" bIns="18288" anchor="ctr">
            <a:spAutoFit/>
          </a:bodyPr>
          <a:lstStyle/>
          <a:p>
            <a:pPr algn="l"/>
            <a:r>
              <a:rPr sz="1300" b="0">
                <a:solidFill>
                  <a:srgbClr val="0B1B3F"/>
                </a:solidFill>
                <a:latin typeface="Hiragino Sans"/>
              </a:rPr>
              <a:t>iPadで開いたときに画像が表示される</a:t>
            </a:r>
          </a:p>
        </p:txBody>
      </p:sp>
      <p:sp>
        <p:nvSpPr>
          <p:cNvPr id="37" name="Rectangle 36"/>
          <p:cNvSpPr/>
          <p:nvPr/>
        </p:nvSpPr>
        <p:spPr>
          <a:xfrm>
            <a:off x="7498079" y="3474720"/>
            <a:ext cx="292608" cy="292608"/>
          </a:xfrm>
          <a:prstGeom prst="rect">
            <a:avLst/>
          </a:prstGeom>
          <a:solidFill>
            <a:srgbClr val="FFFFFF"/>
          </a:solidFill>
          <a:ln w="19050">
            <a:solidFill>
              <a:srgbClr val="142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0" y="3429000"/>
            <a:ext cx="3657600" cy="365760"/>
          </a:xfrm>
          <a:prstGeom prst="rect">
            <a:avLst/>
          </a:prstGeom>
          <a:noFill/>
        </p:spPr>
        <p:txBody>
          <a:bodyPr wrap="square" lIns="45720" rIns="45720" tIns="18288" bIns="18288" anchor="ctr">
            <a:spAutoFit/>
          </a:bodyPr>
          <a:lstStyle/>
          <a:p>
            <a:pPr algn="l"/>
            <a:r>
              <a:rPr sz="1300" b="0">
                <a:solidFill>
                  <a:srgbClr val="0B1B3F"/>
                </a:solidFill>
                <a:latin typeface="Hiragino Sans"/>
              </a:rPr>
              <a:t>PDF化したときも画像が表示される</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まとめ</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38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今日学んだこと（ゴール8項目の振り返り）</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全部できるようになった ＝ ゴール達成</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828800"/>
            <a:ext cx="5440680" cy="566928"/>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920240"/>
            <a:ext cx="411480" cy="38404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920240"/>
            <a:ext cx="411480" cy="384048"/>
          </a:xfrm>
          <a:prstGeom prst="rect">
            <a:avLst/>
          </a:prstGeom>
          <a:noFill/>
        </p:spPr>
        <p:txBody>
          <a:bodyPr wrap="square" lIns="45720" rIns="45720" tIns="18288" bIns="18288" anchor="ctr">
            <a:spAutoFit/>
          </a:bodyPr>
          <a:lstStyle/>
          <a:p>
            <a:pPr algn="ctr"/>
            <a:r>
              <a:rPr sz="1500" b="1">
                <a:solidFill>
                  <a:srgbClr val="FFFFFF"/>
                </a:solidFill>
                <a:latin typeface="Hiragino Sans"/>
              </a:rPr>
              <a:t>1</a:t>
            </a:r>
          </a:p>
        </p:txBody>
      </p:sp>
      <p:sp>
        <p:nvSpPr>
          <p:cNvPr id="13" name="TextBox 12"/>
          <p:cNvSpPr txBox="1"/>
          <p:nvPr/>
        </p:nvSpPr>
        <p:spPr>
          <a:xfrm>
            <a:off x="1097280" y="1828800"/>
            <a:ext cx="3611880" cy="566928"/>
          </a:xfrm>
          <a:prstGeom prst="rect">
            <a:avLst/>
          </a:prstGeom>
          <a:noFill/>
        </p:spPr>
        <p:txBody>
          <a:bodyPr wrap="square" lIns="45720" rIns="45720" tIns="18288" bIns="18288" anchor="ctr">
            <a:spAutoFit/>
          </a:bodyPr>
          <a:lstStyle/>
          <a:p>
            <a:pPr algn="l"/>
            <a:r>
              <a:rPr sz="1300" b="0">
                <a:solidFill>
                  <a:srgbClr val="0B1B3F"/>
                </a:solidFill>
                <a:latin typeface="Hiragino Sans"/>
              </a:rPr>
              <a:t>ChatGPTのImages機能で画像を生成できる</a:t>
            </a:r>
          </a:p>
        </p:txBody>
      </p:sp>
      <p:sp>
        <p:nvSpPr>
          <p:cNvPr id="14" name="Rectangle 13"/>
          <p:cNvSpPr/>
          <p:nvPr/>
        </p:nvSpPr>
        <p:spPr>
          <a:xfrm>
            <a:off x="4800600" y="1947672"/>
            <a:ext cx="1097280" cy="329184"/>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1947672"/>
            <a:ext cx="1097280" cy="329184"/>
          </a:xfrm>
          <a:prstGeom prst="rect">
            <a:avLst/>
          </a:prstGeom>
          <a:noFill/>
        </p:spPr>
        <p:txBody>
          <a:bodyPr wrap="square" lIns="45720" rIns="45720" tIns="18288" bIns="18288" anchor="ctr">
            <a:spAutoFit/>
          </a:bodyPr>
          <a:lstStyle/>
          <a:p>
            <a:pPr algn="ctr"/>
            <a:r>
              <a:rPr sz="1100" b="1">
                <a:solidFill>
                  <a:srgbClr val="FFFFFF"/>
                </a:solidFill>
                <a:latin typeface="Hiragino Sans"/>
              </a:rPr>
              <a:t>Part 1</a:t>
            </a:r>
          </a:p>
        </p:txBody>
      </p:sp>
      <p:sp>
        <p:nvSpPr>
          <p:cNvPr id="16" name="Rounded Rectangle 15"/>
          <p:cNvSpPr/>
          <p:nvPr/>
        </p:nvSpPr>
        <p:spPr>
          <a:xfrm>
            <a:off x="548640" y="2487168"/>
            <a:ext cx="5440680" cy="566928"/>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2578608"/>
            <a:ext cx="411480" cy="38404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578608"/>
            <a:ext cx="411480" cy="384048"/>
          </a:xfrm>
          <a:prstGeom prst="rect">
            <a:avLst/>
          </a:prstGeom>
          <a:noFill/>
        </p:spPr>
        <p:txBody>
          <a:bodyPr wrap="square" lIns="45720" rIns="45720" tIns="18288" bIns="18288" anchor="ctr">
            <a:spAutoFit/>
          </a:bodyPr>
          <a:lstStyle/>
          <a:p>
            <a:pPr algn="ctr"/>
            <a:r>
              <a:rPr sz="1500" b="1">
                <a:solidFill>
                  <a:srgbClr val="FFFFFF"/>
                </a:solidFill>
                <a:latin typeface="Hiragino Sans"/>
              </a:rPr>
              <a:t>2</a:t>
            </a:r>
          </a:p>
        </p:txBody>
      </p:sp>
      <p:sp>
        <p:nvSpPr>
          <p:cNvPr id="19" name="TextBox 18"/>
          <p:cNvSpPr txBox="1"/>
          <p:nvPr/>
        </p:nvSpPr>
        <p:spPr>
          <a:xfrm>
            <a:off x="1097280" y="2487168"/>
            <a:ext cx="3611880" cy="566928"/>
          </a:xfrm>
          <a:prstGeom prst="rect">
            <a:avLst/>
          </a:prstGeom>
          <a:noFill/>
        </p:spPr>
        <p:txBody>
          <a:bodyPr wrap="square" lIns="45720" rIns="45720" tIns="18288" bIns="18288" anchor="ctr">
            <a:spAutoFit/>
          </a:bodyPr>
          <a:lstStyle/>
          <a:p>
            <a:pPr algn="l"/>
            <a:r>
              <a:rPr sz="1300" b="0">
                <a:solidFill>
                  <a:srgbClr val="0B1B3F"/>
                </a:solidFill>
                <a:latin typeface="Hiragino Sans"/>
              </a:rPr>
              <a:t>用途別にアスペクト比を使い分けられる</a:t>
            </a:r>
          </a:p>
        </p:txBody>
      </p:sp>
      <p:sp>
        <p:nvSpPr>
          <p:cNvPr id="20" name="Rectangle 19"/>
          <p:cNvSpPr/>
          <p:nvPr/>
        </p:nvSpPr>
        <p:spPr>
          <a:xfrm>
            <a:off x="4800600" y="2606040"/>
            <a:ext cx="1097280" cy="329184"/>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2606040"/>
            <a:ext cx="1097280" cy="329184"/>
          </a:xfrm>
          <a:prstGeom prst="rect">
            <a:avLst/>
          </a:prstGeom>
          <a:noFill/>
        </p:spPr>
        <p:txBody>
          <a:bodyPr wrap="square" lIns="45720" rIns="45720" tIns="18288" bIns="18288" anchor="ctr">
            <a:spAutoFit/>
          </a:bodyPr>
          <a:lstStyle/>
          <a:p>
            <a:pPr algn="ctr"/>
            <a:r>
              <a:rPr sz="1100" b="1">
                <a:solidFill>
                  <a:srgbClr val="FFFFFF"/>
                </a:solidFill>
                <a:latin typeface="Hiragino Sans"/>
              </a:rPr>
              <a:t>Part 1</a:t>
            </a:r>
          </a:p>
        </p:txBody>
      </p:sp>
      <p:sp>
        <p:nvSpPr>
          <p:cNvPr id="22" name="Rounded Rectangle 21"/>
          <p:cNvSpPr/>
          <p:nvPr/>
        </p:nvSpPr>
        <p:spPr>
          <a:xfrm>
            <a:off x="548640" y="3145536"/>
            <a:ext cx="5440680" cy="566928"/>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 y="3236976"/>
            <a:ext cx="411480" cy="38404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3236976"/>
            <a:ext cx="411480" cy="384048"/>
          </a:xfrm>
          <a:prstGeom prst="rect">
            <a:avLst/>
          </a:prstGeom>
          <a:noFill/>
        </p:spPr>
        <p:txBody>
          <a:bodyPr wrap="square" lIns="45720" rIns="45720" tIns="18288" bIns="18288" anchor="ctr">
            <a:spAutoFit/>
          </a:bodyPr>
          <a:lstStyle/>
          <a:p>
            <a:pPr algn="ctr"/>
            <a:r>
              <a:rPr sz="1500" b="1">
                <a:solidFill>
                  <a:srgbClr val="FFFFFF"/>
                </a:solidFill>
                <a:latin typeface="Hiragino Sans"/>
              </a:rPr>
              <a:t>3</a:t>
            </a:r>
          </a:p>
        </p:txBody>
      </p:sp>
      <p:sp>
        <p:nvSpPr>
          <p:cNvPr id="25" name="TextBox 24"/>
          <p:cNvSpPr txBox="1"/>
          <p:nvPr/>
        </p:nvSpPr>
        <p:spPr>
          <a:xfrm>
            <a:off x="1097280" y="3145536"/>
            <a:ext cx="3611880" cy="566928"/>
          </a:xfrm>
          <a:prstGeom prst="rect">
            <a:avLst/>
          </a:prstGeom>
          <a:noFill/>
        </p:spPr>
        <p:txBody>
          <a:bodyPr wrap="square" lIns="45720" rIns="45720" tIns="18288" bIns="18288" anchor="ctr">
            <a:spAutoFit/>
          </a:bodyPr>
          <a:lstStyle/>
          <a:p>
            <a:pPr algn="l"/>
            <a:r>
              <a:rPr sz="1300" b="0">
                <a:solidFill>
                  <a:srgbClr val="0B1B3F"/>
                </a:solidFill>
                <a:latin typeface="Hiragino Sans"/>
              </a:rPr>
              <a:t>プロンプト工房でプロンプトを生成できる</a:t>
            </a:r>
          </a:p>
        </p:txBody>
      </p:sp>
      <p:sp>
        <p:nvSpPr>
          <p:cNvPr id="26" name="Rectangle 25"/>
          <p:cNvSpPr/>
          <p:nvPr/>
        </p:nvSpPr>
        <p:spPr>
          <a:xfrm>
            <a:off x="4800600" y="3264408"/>
            <a:ext cx="1097280" cy="329184"/>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3264408"/>
            <a:ext cx="1097280" cy="329184"/>
          </a:xfrm>
          <a:prstGeom prst="rect">
            <a:avLst/>
          </a:prstGeom>
          <a:noFill/>
        </p:spPr>
        <p:txBody>
          <a:bodyPr wrap="square" lIns="45720" rIns="45720" tIns="18288" bIns="18288" anchor="ctr">
            <a:spAutoFit/>
          </a:bodyPr>
          <a:lstStyle/>
          <a:p>
            <a:pPr algn="ctr"/>
            <a:r>
              <a:rPr sz="1100" b="1">
                <a:solidFill>
                  <a:srgbClr val="FFFFFF"/>
                </a:solidFill>
                <a:latin typeface="Hiragino Sans"/>
              </a:rPr>
              <a:t>Part 2</a:t>
            </a:r>
          </a:p>
        </p:txBody>
      </p:sp>
      <p:sp>
        <p:nvSpPr>
          <p:cNvPr id="28" name="Rounded Rectangle 27"/>
          <p:cNvSpPr/>
          <p:nvPr/>
        </p:nvSpPr>
        <p:spPr>
          <a:xfrm>
            <a:off x="548640" y="3803904"/>
            <a:ext cx="5440680" cy="566928"/>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 y="3895344"/>
            <a:ext cx="411480" cy="38404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3895344"/>
            <a:ext cx="411480" cy="384048"/>
          </a:xfrm>
          <a:prstGeom prst="rect">
            <a:avLst/>
          </a:prstGeom>
          <a:noFill/>
        </p:spPr>
        <p:txBody>
          <a:bodyPr wrap="square" lIns="45720" rIns="45720" tIns="18288" bIns="18288" anchor="ctr">
            <a:spAutoFit/>
          </a:bodyPr>
          <a:lstStyle/>
          <a:p>
            <a:pPr algn="ctr"/>
            <a:r>
              <a:rPr sz="1500" b="1">
                <a:solidFill>
                  <a:srgbClr val="FFFFFF"/>
                </a:solidFill>
                <a:latin typeface="Hiragino Sans"/>
              </a:rPr>
              <a:t>4</a:t>
            </a:r>
          </a:p>
        </p:txBody>
      </p:sp>
      <p:sp>
        <p:nvSpPr>
          <p:cNvPr id="31" name="TextBox 30"/>
          <p:cNvSpPr txBox="1"/>
          <p:nvPr/>
        </p:nvSpPr>
        <p:spPr>
          <a:xfrm>
            <a:off x="1097280" y="3803904"/>
            <a:ext cx="3611880" cy="566928"/>
          </a:xfrm>
          <a:prstGeom prst="rect">
            <a:avLst/>
          </a:prstGeom>
          <a:noFill/>
        </p:spPr>
        <p:txBody>
          <a:bodyPr wrap="square" lIns="45720" rIns="45720" tIns="18288" bIns="18288" anchor="ctr">
            <a:spAutoFit/>
          </a:bodyPr>
          <a:lstStyle/>
          <a:p>
            <a:pPr algn="l"/>
            <a:r>
              <a:rPr sz="1300" b="0">
                <a:solidFill>
                  <a:srgbClr val="0B1B3F"/>
                </a:solidFill>
                <a:latin typeface="Hiragino Sans"/>
              </a:rPr>
              <a:t>同一テイストで複数枚を揃えられる</a:t>
            </a:r>
          </a:p>
        </p:txBody>
      </p:sp>
      <p:sp>
        <p:nvSpPr>
          <p:cNvPr id="32" name="Rectangle 31"/>
          <p:cNvSpPr/>
          <p:nvPr/>
        </p:nvSpPr>
        <p:spPr>
          <a:xfrm>
            <a:off x="4800600" y="3922776"/>
            <a:ext cx="1097280" cy="329184"/>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00600" y="3922776"/>
            <a:ext cx="1097280" cy="329184"/>
          </a:xfrm>
          <a:prstGeom prst="rect">
            <a:avLst/>
          </a:prstGeom>
          <a:noFill/>
        </p:spPr>
        <p:txBody>
          <a:bodyPr wrap="square" lIns="45720" rIns="45720" tIns="18288" bIns="18288" anchor="ctr">
            <a:spAutoFit/>
          </a:bodyPr>
          <a:lstStyle/>
          <a:p>
            <a:pPr algn="ctr"/>
            <a:r>
              <a:rPr sz="1100" b="1">
                <a:solidFill>
                  <a:srgbClr val="FFFFFF"/>
                </a:solidFill>
                <a:latin typeface="Hiragino Sans"/>
              </a:rPr>
              <a:t>Part 3</a:t>
            </a:r>
          </a:p>
        </p:txBody>
      </p:sp>
      <p:sp>
        <p:nvSpPr>
          <p:cNvPr id="34" name="Rounded Rectangle 33"/>
          <p:cNvSpPr/>
          <p:nvPr/>
        </p:nvSpPr>
        <p:spPr>
          <a:xfrm>
            <a:off x="6172200" y="1828800"/>
            <a:ext cx="5440680" cy="566928"/>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1920240"/>
            <a:ext cx="411480" cy="38404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1920240"/>
            <a:ext cx="411480" cy="384048"/>
          </a:xfrm>
          <a:prstGeom prst="rect">
            <a:avLst/>
          </a:prstGeom>
          <a:noFill/>
        </p:spPr>
        <p:txBody>
          <a:bodyPr wrap="square" lIns="45720" rIns="45720" tIns="18288" bIns="18288" anchor="ctr">
            <a:spAutoFit/>
          </a:bodyPr>
          <a:lstStyle/>
          <a:p>
            <a:pPr algn="ctr"/>
            <a:r>
              <a:rPr sz="1500" b="1">
                <a:solidFill>
                  <a:srgbClr val="FFFFFF"/>
                </a:solidFill>
                <a:latin typeface="Hiragino Sans"/>
              </a:rPr>
              <a:t>5</a:t>
            </a:r>
          </a:p>
        </p:txBody>
      </p:sp>
      <p:sp>
        <p:nvSpPr>
          <p:cNvPr id="37" name="TextBox 36"/>
          <p:cNvSpPr txBox="1"/>
          <p:nvPr/>
        </p:nvSpPr>
        <p:spPr>
          <a:xfrm>
            <a:off x="6720840" y="1828800"/>
            <a:ext cx="3611880" cy="566928"/>
          </a:xfrm>
          <a:prstGeom prst="rect">
            <a:avLst/>
          </a:prstGeom>
          <a:noFill/>
        </p:spPr>
        <p:txBody>
          <a:bodyPr wrap="square" lIns="45720" rIns="45720" tIns="18288" bIns="18288" anchor="ctr">
            <a:spAutoFit/>
          </a:bodyPr>
          <a:lstStyle/>
          <a:p>
            <a:pPr algn="l"/>
            <a:r>
              <a:rPr sz="1300" b="0">
                <a:solidFill>
                  <a:srgbClr val="0B1B3F"/>
                </a:solidFill>
                <a:latin typeface="Hiragino Sans"/>
              </a:rPr>
              <a:t>チャットで生成後編集ができる</a:t>
            </a:r>
          </a:p>
        </p:txBody>
      </p:sp>
      <p:sp>
        <p:nvSpPr>
          <p:cNvPr id="38" name="Rectangle 37"/>
          <p:cNvSpPr/>
          <p:nvPr/>
        </p:nvSpPr>
        <p:spPr>
          <a:xfrm>
            <a:off x="10424160" y="1947672"/>
            <a:ext cx="1097280" cy="329184"/>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24160" y="1947672"/>
            <a:ext cx="1097280" cy="329184"/>
          </a:xfrm>
          <a:prstGeom prst="rect">
            <a:avLst/>
          </a:prstGeom>
          <a:noFill/>
        </p:spPr>
        <p:txBody>
          <a:bodyPr wrap="square" lIns="45720" rIns="45720" tIns="18288" bIns="18288" anchor="ctr">
            <a:spAutoFit/>
          </a:bodyPr>
          <a:lstStyle/>
          <a:p>
            <a:pPr algn="ctr"/>
            <a:r>
              <a:rPr sz="1100" b="1">
                <a:solidFill>
                  <a:srgbClr val="FFFFFF"/>
                </a:solidFill>
                <a:latin typeface="Hiragino Sans"/>
              </a:rPr>
              <a:t>Part 3</a:t>
            </a:r>
          </a:p>
        </p:txBody>
      </p:sp>
      <p:sp>
        <p:nvSpPr>
          <p:cNvPr id="40" name="Rounded Rectangle 39"/>
          <p:cNvSpPr/>
          <p:nvPr/>
        </p:nvSpPr>
        <p:spPr>
          <a:xfrm>
            <a:off x="6172200" y="2487168"/>
            <a:ext cx="5440680" cy="566928"/>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2578608"/>
            <a:ext cx="411480" cy="38404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2578608"/>
            <a:ext cx="411480" cy="384048"/>
          </a:xfrm>
          <a:prstGeom prst="rect">
            <a:avLst/>
          </a:prstGeom>
          <a:noFill/>
        </p:spPr>
        <p:txBody>
          <a:bodyPr wrap="square" lIns="45720" rIns="45720" tIns="18288" bIns="18288" anchor="ctr">
            <a:spAutoFit/>
          </a:bodyPr>
          <a:lstStyle/>
          <a:p>
            <a:pPr algn="ctr"/>
            <a:r>
              <a:rPr sz="1500" b="1">
                <a:solidFill>
                  <a:srgbClr val="FFFFFF"/>
                </a:solidFill>
                <a:latin typeface="Hiragino Sans"/>
              </a:rPr>
              <a:t>6</a:t>
            </a:r>
          </a:p>
        </p:txBody>
      </p:sp>
      <p:sp>
        <p:nvSpPr>
          <p:cNvPr id="43" name="TextBox 42"/>
          <p:cNvSpPr txBox="1"/>
          <p:nvPr/>
        </p:nvSpPr>
        <p:spPr>
          <a:xfrm>
            <a:off x="6720840" y="2487168"/>
            <a:ext cx="3611880" cy="566928"/>
          </a:xfrm>
          <a:prstGeom prst="rect">
            <a:avLst/>
          </a:prstGeom>
          <a:noFill/>
        </p:spPr>
        <p:txBody>
          <a:bodyPr wrap="square" lIns="45720" rIns="45720" tIns="18288" bIns="18288" anchor="ctr">
            <a:spAutoFit/>
          </a:bodyPr>
          <a:lstStyle/>
          <a:p>
            <a:pPr algn="l"/>
            <a:r>
              <a:rPr sz="1300" b="0">
                <a:solidFill>
                  <a:srgbClr val="0B1B3F"/>
                </a:solidFill>
                <a:latin typeface="Hiragino Sans"/>
              </a:rPr>
              <a:t>写真App／ファイルAppに保存できる</a:t>
            </a:r>
          </a:p>
        </p:txBody>
      </p:sp>
      <p:sp>
        <p:nvSpPr>
          <p:cNvPr id="44" name="Rectangle 43"/>
          <p:cNvSpPr/>
          <p:nvPr/>
        </p:nvSpPr>
        <p:spPr>
          <a:xfrm>
            <a:off x="10424160" y="2606040"/>
            <a:ext cx="1097280" cy="329184"/>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24160" y="2606040"/>
            <a:ext cx="1097280" cy="329184"/>
          </a:xfrm>
          <a:prstGeom prst="rect">
            <a:avLst/>
          </a:prstGeom>
          <a:noFill/>
        </p:spPr>
        <p:txBody>
          <a:bodyPr wrap="square" lIns="45720" rIns="45720" tIns="18288" bIns="18288" anchor="ctr">
            <a:spAutoFit/>
          </a:bodyPr>
          <a:lstStyle/>
          <a:p>
            <a:pPr algn="ctr"/>
            <a:r>
              <a:rPr sz="1100" b="1">
                <a:solidFill>
                  <a:srgbClr val="FFFFFF"/>
                </a:solidFill>
                <a:latin typeface="Hiragino Sans"/>
              </a:rPr>
              <a:t>Part 1</a:t>
            </a:r>
          </a:p>
        </p:txBody>
      </p:sp>
      <p:sp>
        <p:nvSpPr>
          <p:cNvPr id="46" name="Rounded Rectangle 45"/>
          <p:cNvSpPr/>
          <p:nvPr/>
        </p:nvSpPr>
        <p:spPr>
          <a:xfrm>
            <a:off x="6172200" y="3145536"/>
            <a:ext cx="5440680" cy="566928"/>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3236976"/>
            <a:ext cx="411480" cy="38404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0" y="3236976"/>
            <a:ext cx="411480" cy="384048"/>
          </a:xfrm>
          <a:prstGeom prst="rect">
            <a:avLst/>
          </a:prstGeom>
          <a:noFill/>
        </p:spPr>
        <p:txBody>
          <a:bodyPr wrap="square" lIns="45720" rIns="45720" tIns="18288" bIns="18288" anchor="ctr">
            <a:spAutoFit/>
          </a:bodyPr>
          <a:lstStyle/>
          <a:p>
            <a:pPr algn="ctr"/>
            <a:r>
              <a:rPr sz="1500" b="1">
                <a:solidFill>
                  <a:srgbClr val="FFFFFF"/>
                </a:solidFill>
                <a:latin typeface="Hiragino Sans"/>
              </a:rPr>
              <a:t>7</a:t>
            </a:r>
          </a:p>
        </p:txBody>
      </p:sp>
      <p:sp>
        <p:nvSpPr>
          <p:cNvPr id="49" name="TextBox 48"/>
          <p:cNvSpPr txBox="1"/>
          <p:nvPr/>
        </p:nvSpPr>
        <p:spPr>
          <a:xfrm>
            <a:off x="6720840" y="3145536"/>
            <a:ext cx="3611880" cy="566928"/>
          </a:xfrm>
          <a:prstGeom prst="rect">
            <a:avLst/>
          </a:prstGeom>
          <a:noFill/>
        </p:spPr>
        <p:txBody>
          <a:bodyPr wrap="square" lIns="45720" rIns="45720" tIns="18288" bIns="18288" anchor="ctr">
            <a:spAutoFit/>
          </a:bodyPr>
          <a:lstStyle/>
          <a:p>
            <a:pPr algn="l"/>
            <a:r>
              <a:rPr sz="1300" b="0">
                <a:solidFill>
                  <a:srgbClr val="0B1B3F"/>
                </a:solidFill>
                <a:latin typeface="Hiragino Sans"/>
              </a:rPr>
              <a:t>ClaudeのHTMLにBase64で埋め込める</a:t>
            </a:r>
          </a:p>
        </p:txBody>
      </p:sp>
      <p:sp>
        <p:nvSpPr>
          <p:cNvPr id="50" name="Rectangle 49"/>
          <p:cNvSpPr/>
          <p:nvPr/>
        </p:nvSpPr>
        <p:spPr>
          <a:xfrm>
            <a:off x="10424160" y="3264408"/>
            <a:ext cx="1097280" cy="329184"/>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424160" y="3264408"/>
            <a:ext cx="1097280" cy="329184"/>
          </a:xfrm>
          <a:prstGeom prst="rect">
            <a:avLst/>
          </a:prstGeom>
          <a:noFill/>
        </p:spPr>
        <p:txBody>
          <a:bodyPr wrap="square" lIns="45720" rIns="45720" tIns="18288" bIns="18288" anchor="ctr">
            <a:spAutoFit/>
          </a:bodyPr>
          <a:lstStyle/>
          <a:p>
            <a:pPr algn="ctr"/>
            <a:r>
              <a:rPr sz="1100" b="1">
                <a:solidFill>
                  <a:srgbClr val="FFFFFF"/>
                </a:solidFill>
                <a:latin typeface="Hiragino Sans"/>
              </a:rPr>
              <a:t>Part 4</a:t>
            </a:r>
          </a:p>
        </p:txBody>
      </p:sp>
      <p:sp>
        <p:nvSpPr>
          <p:cNvPr id="52" name="Rounded Rectangle 51"/>
          <p:cNvSpPr/>
          <p:nvPr/>
        </p:nvSpPr>
        <p:spPr>
          <a:xfrm>
            <a:off x="6172200" y="3803904"/>
            <a:ext cx="5440680" cy="566928"/>
          </a:xfrm>
          <a:prstGeom prst="roundRect">
            <a:avLst>
              <a:gd name="adj" fmla="val 10000"/>
            </a:avLst>
          </a:prstGeom>
          <a:solidFill>
            <a:srgbClr val="E8EEF7"/>
          </a:solidFill>
          <a:ln w="12700">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17920" y="3895344"/>
            <a:ext cx="411480" cy="38404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17920" y="3895344"/>
            <a:ext cx="411480" cy="384048"/>
          </a:xfrm>
          <a:prstGeom prst="rect">
            <a:avLst/>
          </a:prstGeom>
          <a:noFill/>
        </p:spPr>
        <p:txBody>
          <a:bodyPr wrap="square" lIns="45720" rIns="45720" tIns="18288" bIns="18288" anchor="ctr">
            <a:spAutoFit/>
          </a:bodyPr>
          <a:lstStyle/>
          <a:p>
            <a:pPr algn="ctr"/>
            <a:r>
              <a:rPr sz="1500" b="1">
                <a:solidFill>
                  <a:srgbClr val="FFFFFF"/>
                </a:solidFill>
                <a:latin typeface="Hiragino Sans"/>
              </a:rPr>
              <a:t>8</a:t>
            </a:r>
          </a:p>
        </p:txBody>
      </p:sp>
      <p:sp>
        <p:nvSpPr>
          <p:cNvPr id="55" name="TextBox 54"/>
          <p:cNvSpPr txBox="1"/>
          <p:nvPr/>
        </p:nvSpPr>
        <p:spPr>
          <a:xfrm>
            <a:off x="6720840" y="3803904"/>
            <a:ext cx="3611880" cy="566928"/>
          </a:xfrm>
          <a:prstGeom prst="rect">
            <a:avLst/>
          </a:prstGeom>
          <a:noFill/>
        </p:spPr>
        <p:txBody>
          <a:bodyPr wrap="square" lIns="45720" rIns="45720" tIns="18288" bIns="18288" anchor="ctr">
            <a:spAutoFit/>
          </a:bodyPr>
          <a:lstStyle/>
          <a:p>
            <a:pPr algn="l"/>
            <a:r>
              <a:rPr sz="1300" b="0">
                <a:solidFill>
                  <a:srgbClr val="0B1B3F"/>
                </a:solidFill>
                <a:latin typeface="Hiragino Sans"/>
              </a:rPr>
              <a:t>苦手領域を理解し、被写体抜き出しで補完できる</a:t>
            </a:r>
          </a:p>
        </p:txBody>
      </p:sp>
      <p:sp>
        <p:nvSpPr>
          <p:cNvPr id="56" name="Rectangle 55"/>
          <p:cNvSpPr/>
          <p:nvPr/>
        </p:nvSpPr>
        <p:spPr>
          <a:xfrm>
            <a:off x="10424160" y="3922776"/>
            <a:ext cx="1097280" cy="329184"/>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424160" y="3922776"/>
            <a:ext cx="1097280" cy="329184"/>
          </a:xfrm>
          <a:prstGeom prst="rect">
            <a:avLst/>
          </a:prstGeom>
          <a:noFill/>
        </p:spPr>
        <p:txBody>
          <a:bodyPr wrap="square" lIns="45720" rIns="45720" tIns="18288" bIns="18288" anchor="ctr">
            <a:spAutoFit/>
          </a:bodyPr>
          <a:lstStyle/>
          <a:p>
            <a:pPr algn="ctr"/>
            <a:r>
              <a:rPr sz="1100" b="1">
                <a:solidFill>
                  <a:srgbClr val="FFFFFF"/>
                </a:solidFill>
                <a:latin typeface="Hiragino Sans"/>
              </a:rPr>
              <a:t>Part 0／1</a:t>
            </a:r>
          </a:p>
        </p:txBody>
      </p:sp>
      <p:sp>
        <p:nvSpPr>
          <p:cNvPr id="58" name="Rectangle 57"/>
          <p:cNvSpPr/>
          <p:nvPr/>
        </p:nvSpPr>
        <p:spPr>
          <a:xfrm>
            <a:off x="548640" y="5943600"/>
            <a:ext cx="11064240"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5943600"/>
            <a:ext cx="11064240" cy="777240"/>
          </a:xfrm>
          <a:prstGeom prst="rect">
            <a:avLst/>
          </a:prstGeom>
          <a:noFill/>
        </p:spPr>
        <p:txBody>
          <a:bodyPr wrap="square" lIns="45720" rIns="45720" tIns="18288" bIns="18288" anchor="ctr">
            <a:spAutoFit/>
          </a:bodyPr>
          <a:lstStyle/>
          <a:p>
            <a:pPr algn="ctr"/>
            <a:r>
              <a:rPr sz="1800" b="1">
                <a:solidFill>
                  <a:srgbClr val="FFFFFF"/>
                </a:solidFill>
                <a:latin typeface="Hiragino Sans"/>
              </a:rPr>
              <a:t>🎉  おめでとうございます！  Vol.16のゴール8項目をすべて達成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
            <a:ext cx="4114800" cy="256032"/>
          </a:xfrm>
          <a:prstGeom prst="rect">
            <a:avLst/>
          </a:prstGeom>
          <a:noFill/>
        </p:spPr>
        <p:txBody>
          <a:bodyPr wrap="square" lIns="45720" rIns="45720" tIns="18288" bIns="18288" anchor="ctr">
            <a:spAutoFit/>
          </a:bodyPr>
          <a:lstStyle/>
          <a:p>
            <a:pPr algn="l"/>
            <a:r>
              <a:rPr sz="1100" b="1">
                <a:solidFill>
                  <a:srgbClr val="FFFFFF"/>
                </a:solidFill>
                <a:latin typeface="Hiragino Sans"/>
              </a:rPr>
              <a:t>Vol.16 ｜ AIデザイン作成</a:t>
            </a:r>
          </a:p>
        </p:txBody>
      </p:sp>
      <p:sp>
        <p:nvSpPr>
          <p:cNvPr id="4" name="TextBox 3"/>
          <p:cNvSpPr txBox="1"/>
          <p:nvPr/>
        </p:nvSpPr>
        <p:spPr>
          <a:xfrm>
            <a:off x="6400800" y="36576"/>
            <a:ext cx="4572000" cy="256032"/>
          </a:xfrm>
          <a:prstGeom prst="rect">
            <a:avLst/>
          </a:prstGeom>
          <a:noFill/>
        </p:spPr>
        <p:txBody>
          <a:bodyPr wrap="square" lIns="45720" rIns="45720" tIns="18288" bIns="18288" anchor="ctr">
            <a:spAutoFit/>
          </a:bodyPr>
          <a:lstStyle/>
          <a:p>
            <a:pPr algn="r"/>
            <a:r>
              <a:rPr sz="1100" b="0">
                <a:solidFill>
                  <a:srgbClr val="FFFFFF"/>
                </a:solidFill>
                <a:latin typeface="Hiragino Sans"/>
              </a:rPr>
              <a:t>まとめ</a:t>
            </a:r>
          </a:p>
        </p:txBody>
      </p:sp>
      <p:sp>
        <p:nvSpPr>
          <p:cNvPr id="5" name="TextBox 4"/>
          <p:cNvSpPr txBox="1"/>
          <p:nvPr/>
        </p:nvSpPr>
        <p:spPr>
          <a:xfrm>
            <a:off x="11247120" y="6492240"/>
            <a:ext cx="868680" cy="274320"/>
          </a:xfrm>
          <a:prstGeom prst="rect">
            <a:avLst/>
          </a:prstGeom>
          <a:noFill/>
        </p:spPr>
        <p:txBody>
          <a:bodyPr wrap="square" lIns="45720" rIns="45720" tIns="18288" bIns="18288" anchor="ctr">
            <a:spAutoFit/>
          </a:bodyPr>
          <a:lstStyle/>
          <a:p>
            <a:pPr algn="r"/>
            <a:r>
              <a:rPr sz="1000" b="0">
                <a:solidFill>
                  <a:srgbClr val="3D5A80"/>
                </a:solidFill>
                <a:latin typeface="Hiragino Sans"/>
              </a:rPr>
              <a:t>39 / 40</a:t>
            </a:r>
          </a:p>
        </p:txBody>
      </p:sp>
      <p:sp>
        <p:nvSpPr>
          <p:cNvPr id="6" name="Rectangle 5"/>
          <p:cNvSpPr/>
          <p:nvPr/>
        </p:nvSpPr>
        <p:spPr>
          <a:xfrm>
            <a:off x="457200" y="594360"/>
            <a:ext cx="164592" cy="77724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02920"/>
            <a:ext cx="10515600" cy="640080"/>
          </a:xfrm>
          <a:prstGeom prst="rect">
            <a:avLst/>
          </a:prstGeom>
          <a:noFill/>
        </p:spPr>
        <p:txBody>
          <a:bodyPr wrap="square" lIns="45720" rIns="45720" tIns="18288" bIns="18288" anchor="ctr">
            <a:spAutoFit/>
          </a:bodyPr>
          <a:lstStyle/>
          <a:p>
            <a:pPr algn="l"/>
            <a:r>
              <a:rPr sz="3000" b="1">
                <a:solidFill>
                  <a:srgbClr val="0B1B3F"/>
                </a:solidFill>
                <a:latin typeface="Hiragino Sans"/>
              </a:rPr>
              <a:t>作った画像はこんな場面で使える ― 使い道早見表</a:t>
            </a:r>
          </a:p>
        </p:txBody>
      </p:sp>
      <p:sp>
        <p:nvSpPr>
          <p:cNvPr id="8" name="TextBox 7"/>
          <p:cNvSpPr txBox="1"/>
          <p:nvPr/>
        </p:nvSpPr>
        <p:spPr>
          <a:xfrm>
            <a:off x="713232" y="1097280"/>
            <a:ext cx="10515600" cy="365760"/>
          </a:xfrm>
          <a:prstGeom prst="rect">
            <a:avLst/>
          </a:prstGeom>
          <a:noFill/>
        </p:spPr>
        <p:txBody>
          <a:bodyPr wrap="square" lIns="45720" rIns="45720" tIns="18288" bIns="18288" anchor="t">
            <a:spAutoFit/>
          </a:bodyPr>
          <a:lstStyle/>
          <a:p>
            <a:pPr algn="l"/>
            <a:r>
              <a:rPr sz="1300" b="0">
                <a:solidFill>
                  <a:srgbClr val="3D5A80"/>
                </a:solidFill>
                <a:latin typeface="Hiragino Sans"/>
              </a:rPr>
              <a:t>迷ったら KeynoteかGoodNotes に貼る</a:t>
            </a:r>
          </a:p>
        </p:txBody>
      </p:sp>
      <p:sp>
        <p:nvSpPr>
          <p:cNvPr id="9" name="Rectangle 8"/>
          <p:cNvSpPr/>
          <p:nvPr/>
        </p:nvSpPr>
        <p:spPr>
          <a:xfrm>
            <a:off x="457200" y="1481328"/>
            <a:ext cx="11247120" cy="18288"/>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457200" y="1783080"/>
          <a:ext cx="11247119" cy="4023360"/>
        </p:xfrm>
        <a:graphic>
          <a:graphicData uri="http://schemas.openxmlformats.org/drawingml/2006/table">
            <a:tbl>
              <a:tblPr firstRow="1" bandRow="1">
                <a:tableStyleId>{5C22544A-7EE6-4342-B048-85BDC9FD1C3A}</a:tableStyleId>
              </a:tblPr>
              <a:tblGrid>
                <a:gridCol w="3383280"/>
                <a:gridCol w="4206239"/>
                <a:gridCol w="3657600"/>
              </a:tblGrid>
              <a:tr h="365760">
                <a:tc>
                  <a:txBody>
                    <a:bodyPr/>
                    <a:lstStyle/>
                    <a:p>
                      <a:pPr algn="ctr"/>
                      <a:r>
                        <a:rPr sz="1300" b="1">
                          <a:solidFill>
                            <a:srgbClr val="FFFFFF"/>
                          </a:solidFill>
                          <a:latin typeface="Hiragino Sans"/>
                        </a:rPr>
                        <a:t>ジャンル</a:t>
                      </a:r>
                    </a:p>
                  </a:txBody>
                  <a:tcPr marL="73152" marR="73152" marT="45720" marB="45720" anchor="ctr">
                    <a:solidFill>
                      <a:srgbClr val="142A5C"/>
                    </a:solidFill>
                  </a:tcPr>
                </a:tc>
                <a:tc>
                  <a:txBody>
                    <a:bodyPr/>
                    <a:lstStyle/>
                    <a:p>
                      <a:pPr algn="ctr"/>
                      <a:r>
                        <a:rPr sz="1300" b="1">
                          <a:solidFill>
                            <a:srgbClr val="FFFFFF"/>
                          </a:solidFill>
                          <a:latin typeface="Hiragino Sans"/>
                        </a:rPr>
                        <a:t>主な使い道</a:t>
                      </a:r>
                    </a:p>
                  </a:txBody>
                  <a:tcPr marL="73152" marR="73152" marT="45720" marB="45720" anchor="ctr">
                    <a:solidFill>
                      <a:srgbClr val="142A5C"/>
                    </a:solidFill>
                  </a:tcPr>
                </a:tc>
                <a:tc>
                  <a:txBody>
                    <a:bodyPr/>
                    <a:lstStyle/>
                    <a:p>
                      <a:pPr algn="ctr"/>
                      <a:r>
                        <a:rPr sz="1300" b="1">
                          <a:solidFill>
                            <a:srgbClr val="FFFFFF"/>
                          </a:solidFill>
                          <a:latin typeface="Hiragino Sans"/>
                        </a:rPr>
                        <a:t>配置先</a:t>
                      </a:r>
                    </a:p>
                  </a:txBody>
                  <a:tcPr marL="73152" marR="73152" marT="45720" marB="45720" anchor="ctr">
                    <a:solidFill>
                      <a:srgbClr val="142A5C"/>
                    </a:solidFill>
                  </a:tcPr>
                </a:tc>
              </a:tr>
              <a:tr h="457200">
                <a:tc>
                  <a:txBody>
                    <a:bodyPr wrap="square"/>
                    <a:lstStyle/>
                    <a:p>
                      <a:pPr algn="l"/>
                      <a:r>
                        <a:rPr sz="1200" b="1">
                          <a:solidFill>
                            <a:srgbClr val="0B1B3F"/>
                          </a:solidFill>
                          <a:latin typeface="Hiragino Sans"/>
                        </a:rPr>
                        <a:t>提案書／企画書の表紙</a:t>
                      </a:r>
                    </a:p>
                  </a:txBody>
                  <a:tcPr marL="91440" marR="91440" marT="45720" marB="45720" anchor="ctr">
                    <a:solidFill>
                      <a:srgbClr val="E8EEF7"/>
                    </a:solidFill>
                  </a:tcPr>
                </a:tc>
                <a:tc>
                  <a:txBody>
                    <a:bodyPr wrap="square"/>
                    <a:lstStyle/>
                    <a:p>
                      <a:pPr algn="l"/>
                      <a:r>
                        <a:rPr sz="1200" b="0">
                          <a:solidFill>
                            <a:srgbClr val="333333"/>
                          </a:solidFill>
                          <a:latin typeface="Hiragino Sans"/>
                        </a:rPr>
                        <a:t>会議・商談の第一印象を上げる</a:t>
                      </a:r>
                    </a:p>
                  </a:txBody>
                  <a:tcPr marL="91440" marR="91440" marT="45720" marB="45720" anchor="ctr">
                    <a:solidFill>
                      <a:srgbClr val="E8EEF7"/>
                    </a:solidFill>
                  </a:tcPr>
                </a:tc>
                <a:tc>
                  <a:txBody>
                    <a:bodyPr wrap="square"/>
                    <a:lstStyle/>
                    <a:p>
                      <a:pPr algn="l"/>
                      <a:r>
                        <a:rPr sz="1200" b="0">
                          <a:solidFill>
                            <a:srgbClr val="333333"/>
                          </a:solidFill>
                          <a:latin typeface="Hiragino Sans"/>
                        </a:rPr>
                        <a:t>Keynote / PowerPoint</a:t>
                      </a:r>
                    </a:p>
                  </a:txBody>
                  <a:tcPr marL="91440" marR="91440" marT="45720" marB="45720" anchor="ctr">
                    <a:solidFill>
                      <a:srgbClr val="E8EEF7"/>
                    </a:solidFill>
                  </a:tcPr>
                </a:tc>
              </a:tr>
              <a:tr h="457200">
                <a:tc>
                  <a:txBody>
                    <a:bodyPr wrap="square"/>
                    <a:lstStyle/>
                    <a:p>
                      <a:pPr algn="l"/>
                      <a:r>
                        <a:rPr sz="1200" b="1">
                          <a:solidFill>
                            <a:srgbClr val="0B1B3F"/>
                          </a:solidFill>
                          <a:latin typeface="Hiragino Sans"/>
                        </a:rPr>
                        <a:t>業務マニュアル用アイコン</a:t>
                      </a:r>
                    </a:p>
                  </a:txBody>
                  <a:tcPr marL="91440" marR="91440" marT="45720" marB="45720" anchor="ctr">
                    <a:solidFill>
                      <a:srgbClr val="FFFFFF"/>
                    </a:solidFill>
                  </a:tcPr>
                </a:tc>
                <a:tc>
                  <a:txBody>
                    <a:bodyPr wrap="square"/>
                    <a:lstStyle/>
                    <a:p>
                      <a:pPr algn="l"/>
                      <a:r>
                        <a:rPr sz="1200" b="0">
                          <a:solidFill>
                            <a:srgbClr val="333333"/>
                          </a:solidFill>
                          <a:latin typeface="Hiragino Sans"/>
                        </a:rPr>
                        <a:t>マニュアル・FAQの統一感</a:t>
                      </a:r>
                    </a:p>
                  </a:txBody>
                  <a:tcPr marL="91440" marR="91440" marT="45720" marB="45720" anchor="ctr">
                    <a:solidFill>
                      <a:srgbClr val="FFFFFF"/>
                    </a:solidFill>
                  </a:tcPr>
                </a:tc>
                <a:tc>
                  <a:txBody>
                    <a:bodyPr wrap="square"/>
                    <a:lstStyle/>
                    <a:p>
                      <a:pPr algn="l"/>
                      <a:r>
                        <a:rPr sz="1200" b="0">
                          <a:solidFill>
                            <a:srgbClr val="333333"/>
                          </a:solidFill>
                          <a:latin typeface="Hiragino Sans"/>
                        </a:rPr>
                        <a:t>Word / Pages / Notion</a:t>
                      </a:r>
                    </a:p>
                  </a:txBody>
                  <a:tcPr marL="91440" marR="91440" marT="45720" marB="45720" anchor="ctr">
                    <a:solidFill>
                      <a:srgbClr val="FFFFFF"/>
                    </a:solidFill>
                  </a:tcPr>
                </a:tc>
              </a:tr>
              <a:tr h="457200">
                <a:tc>
                  <a:txBody>
                    <a:bodyPr wrap="square"/>
                    <a:lstStyle/>
                    <a:p>
                      <a:pPr algn="l"/>
                      <a:r>
                        <a:rPr sz="1200" b="1">
                          <a:solidFill>
                            <a:srgbClr val="0B1B3F"/>
                          </a:solidFill>
                          <a:latin typeface="Hiragino Sans"/>
                        </a:rPr>
                        <a:t>誕生日招待状／季節カード</a:t>
                      </a:r>
                    </a:p>
                  </a:txBody>
                  <a:tcPr marL="91440" marR="91440" marT="45720" marB="45720" anchor="ctr">
                    <a:solidFill>
                      <a:srgbClr val="E8EEF7"/>
                    </a:solidFill>
                  </a:tcPr>
                </a:tc>
                <a:tc>
                  <a:txBody>
                    <a:bodyPr wrap="square"/>
                    <a:lstStyle/>
                    <a:p>
                      <a:pPr algn="l"/>
                      <a:r>
                        <a:rPr sz="1200" b="0">
                          <a:solidFill>
                            <a:srgbClr val="333333"/>
                          </a:solidFill>
                          <a:latin typeface="Hiragino Sans"/>
                        </a:rPr>
                        <a:t>親戚・友人・取引先への挨拶</a:t>
                      </a:r>
                    </a:p>
                  </a:txBody>
                  <a:tcPr marL="91440" marR="91440" marT="45720" marB="45720" anchor="ctr">
                    <a:solidFill>
                      <a:srgbClr val="E8EEF7"/>
                    </a:solidFill>
                  </a:tcPr>
                </a:tc>
                <a:tc>
                  <a:txBody>
                    <a:bodyPr wrap="square"/>
                    <a:lstStyle/>
                    <a:p>
                      <a:pPr algn="l"/>
                      <a:r>
                        <a:rPr sz="1200" b="0">
                          <a:solidFill>
                            <a:srgbClr val="333333"/>
                          </a:solidFill>
                          <a:latin typeface="Hiragino Sans"/>
                        </a:rPr>
                        <a:t>LINE / メール / 印刷</a:t>
                      </a:r>
                    </a:p>
                  </a:txBody>
                  <a:tcPr marL="91440" marR="91440" marT="45720" marB="45720" anchor="ctr">
                    <a:solidFill>
                      <a:srgbClr val="E8EEF7"/>
                    </a:solidFill>
                  </a:tcPr>
                </a:tc>
              </a:tr>
              <a:tr h="457200">
                <a:tc>
                  <a:txBody>
                    <a:bodyPr wrap="square"/>
                    <a:lstStyle/>
                    <a:p>
                      <a:pPr algn="l"/>
                      <a:r>
                        <a:rPr sz="1200" b="1">
                          <a:solidFill>
                            <a:srgbClr val="0B1B3F"/>
                          </a:solidFill>
                          <a:latin typeface="Hiragino Sans"/>
                        </a:rPr>
                        <a:t>町内会・PTAポスター</a:t>
                      </a:r>
                    </a:p>
                  </a:txBody>
                  <a:tcPr marL="91440" marR="91440" marT="45720" marB="45720" anchor="ctr">
                    <a:solidFill>
                      <a:srgbClr val="FFFFFF"/>
                    </a:solidFill>
                  </a:tcPr>
                </a:tc>
                <a:tc>
                  <a:txBody>
                    <a:bodyPr wrap="square"/>
                    <a:lstStyle/>
                    <a:p>
                      <a:pPr algn="l"/>
                      <a:r>
                        <a:rPr sz="1200" b="0">
                          <a:solidFill>
                            <a:srgbClr val="333333"/>
                          </a:solidFill>
                          <a:latin typeface="Hiragino Sans"/>
                        </a:rPr>
                        <a:t>地域・学校への告知</a:t>
                      </a:r>
                    </a:p>
                  </a:txBody>
                  <a:tcPr marL="91440" marR="91440" marT="45720" marB="45720" anchor="ctr">
                    <a:solidFill>
                      <a:srgbClr val="FFFFFF"/>
                    </a:solidFill>
                  </a:tcPr>
                </a:tc>
                <a:tc>
                  <a:txBody>
                    <a:bodyPr wrap="square"/>
                    <a:lstStyle/>
                    <a:p>
                      <a:pPr algn="l"/>
                      <a:r>
                        <a:rPr sz="1200" b="0">
                          <a:solidFill>
                            <a:srgbClr val="333333"/>
                          </a:solidFill>
                          <a:latin typeface="Hiragino Sans"/>
                        </a:rPr>
                        <a:t>掲示板 / LINEグループ</a:t>
                      </a:r>
                    </a:p>
                  </a:txBody>
                  <a:tcPr marL="91440" marR="91440" marT="45720" marB="45720" anchor="ctr">
                    <a:solidFill>
                      <a:srgbClr val="FFFFFF"/>
                    </a:solidFill>
                  </a:tcPr>
                </a:tc>
              </a:tr>
              <a:tr h="457200">
                <a:tc>
                  <a:txBody>
                    <a:bodyPr wrap="square"/>
                    <a:lstStyle/>
                    <a:p>
                      <a:pPr algn="l"/>
                      <a:r>
                        <a:rPr sz="1200" b="1">
                          <a:solidFill>
                            <a:srgbClr val="0B1B3F"/>
                          </a:solidFill>
                          <a:latin typeface="Hiragino Sans"/>
                        </a:rPr>
                        <a:t>ブログアイキャッチ</a:t>
                      </a:r>
                    </a:p>
                  </a:txBody>
                  <a:tcPr marL="91440" marR="91440" marT="45720" marB="45720" anchor="ctr">
                    <a:solidFill>
                      <a:srgbClr val="E8EEF7"/>
                    </a:solidFill>
                  </a:tcPr>
                </a:tc>
                <a:tc>
                  <a:txBody>
                    <a:bodyPr wrap="square"/>
                    <a:lstStyle/>
                    <a:p>
                      <a:pPr algn="l"/>
                      <a:r>
                        <a:rPr sz="1200" b="0">
                          <a:solidFill>
                            <a:srgbClr val="333333"/>
                          </a:solidFill>
                          <a:latin typeface="Hiragino Sans"/>
                        </a:rPr>
                        <a:t>記事の第一印象アップ</a:t>
                      </a:r>
                    </a:p>
                  </a:txBody>
                  <a:tcPr marL="91440" marR="91440" marT="45720" marB="45720" anchor="ctr">
                    <a:solidFill>
                      <a:srgbClr val="E8EEF7"/>
                    </a:solidFill>
                  </a:tcPr>
                </a:tc>
                <a:tc>
                  <a:txBody>
                    <a:bodyPr wrap="square"/>
                    <a:lstStyle/>
                    <a:p>
                      <a:pPr algn="l"/>
                      <a:r>
                        <a:rPr sz="1200" b="0">
                          <a:solidFill>
                            <a:srgbClr val="333333"/>
                          </a:solidFill>
                          <a:latin typeface="Hiragino Sans"/>
                        </a:rPr>
                        <a:t>ブログ / note</a:t>
                      </a:r>
                    </a:p>
                  </a:txBody>
                  <a:tcPr marL="91440" marR="91440" marT="45720" marB="45720" anchor="ctr">
                    <a:solidFill>
                      <a:srgbClr val="E8EEF7"/>
                    </a:solidFill>
                  </a:tcPr>
                </a:tc>
              </a:tr>
              <a:tr h="457200">
                <a:tc>
                  <a:txBody>
                    <a:bodyPr wrap="square"/>
                    <a:lstStyle/>
                    <a:p>
                      <a:pPr algn="l"/>
                      <a:r>
                        <a:rPr sz="1200" b="1">
                          <a:solidFill>
                            <a:srgbClr val="0B1B3F"/>
                          </a:solidFill>
                          <a:latin typeface="Hiragino Sans"/>
                        </a:rPr>
                        <a:t>Instagram投稿／ヘッダー</a:t>
                      </a:r>
                    </a:p>
                  </a:txBody>
                  <a:tcPr marL="91440" marR="91440" marT="45720" marB="45720" anchor="ctr">
                    <a:solidFill>
                      <a:srgbClr val="FFFFFF"/>
                    </a:solidFill>
                  </a:tcPr>
                </a:tc>
                <a:tc>
                  <a:txBody>
                    <a:bodyPr wrap="square"/>
                    <a:lstStyle/>
                    <a:p>
                      <a:pPr algn="l"/>
                      <a:r>
                        <a:rPr sz="1200" b="0">
                          <a:solidFill>
                            <a:srgbClr val="333333"/>
                          </a:solidFill>
                          <a:latin typeface="Hiragino Sans"/>
                        </a:rPr>
                        <a:t>SNS発信・お店紹介</a:t>
                      </a:r>
                    </a:p>
                  </a:txBody>
                  <a:tcPr marL="91440" marR="91440" marT="45720" marB="45720" anchor="ctr">
                    <a:solidFill>
                      <a:srgbClr val="FFFFFF"/>
                    </a:solidFill>
                  </a:tcPr>
                </a:tc>
                <a:tc>
                  <a:txBody>
                    <a:bodyPr wrap="square"/>
                    <a:lstStyle/>
                    <a:p>
                      <a:pPr algn="l"/>
                      <a:r>
                        <a:rPr sz="1200" b="0">
                          <a:solidFill>
                            <a:srgbClr val="333333"/>
                          </a:solidFill>
                          <a:latin typeface="Hiragino Sans"/>
                        </a:rPr>
                        <a:t>Instagram / X</a:t>
                      </a:r>
                    </a:p>
                  </a:txBody>
                  <a:tcPr marL="91440" marR="91440" marT="45720" marB="45720" anchor="ctr">
                    <a:solidFill>
                      <a:srgbClr val="FFFFFF"/>
                    </a:solidFill>
                  </a:tcPr>
                </a:tc>
              </a:tr>
              <a:tr h="457200">
                <a:tc>
                  <a:txBody>
                    <a:bodyPr wrap="square"/>
                    <a:lstStyle/>
                    <a:p>
                      <a:pPr algn="l"/>
                      <a:r>
                        <a:rPr sz="1200" b="1">
                          <a:solidFill>
                            <a:srgbClr val="0B1B3F"/>
                          </a:solidFill>
                          <a:latin typeface="Hiragino Sans"/>
                        </a:rPr>
                        <a:t>子どもの学習プリント</a:t>
                      </a:r>
                    </a:p>
                  </a:txBody>
                  <a:tcPr marL="91440" marR="91440" marT="45720" marB="45720" anchor="ctr">
                    <a:solidFill>
                      <a:srgbClr val="E8EEF7"/>
                    </a:solidFill>
                  </a:tcPr>
                </a:tc>
                <a:tc>
                  <a:txBody>
                    <a:bodyPr wrap="square"/>
                    <a:lstStyle/>
                    <a:p>
                      <a:pPr algn="l"/>
                      <a:r>
                        <a:rPr sz="1200" b="0">
                          <a:solidFill>
                            <a:srgbClr val="333333"/>
                          </a:solidFill>
                          <a:latin typeface="Hiragino Sans"/>
                        </a:rPr>
                        <a:t>お子さんの勉強サポート</a:t>
                      </a:r>
                    </a:p>
                  </a:txBody>
                  <a:tcPr marL="91440" marR="91440" marT="45720" marB="45720" anchor="ctr">
                    <a:solidFill>
                      <a:srgbClr val="E8EEF7"/>
                    </a:solidFill>
                  </a:tcPr>
                </a:tc>
                <a:tc>
                  <a:txBody>
                    <a:bodyPr wrap="square"/>
                    <a:lstStyle/>
                    <a:p>
                      <a:pPr algn="l"/>
                      <a:r>
                        <a:rPr sz="1200" b="0">
                          <a:solidFill>
                            <a:srgbClr val="333333"/>
                          </a:solidFill>
                          <a:latin typeface="Hiragino Sans"/>
                        </a:rPr>
                        <a:t>印刷 / GoodNotes</a:t>
                      </a:r>
                    </a:p>
                  </a:txBody>
                  <a:tcPr marL="91440" marR="91440" marT="45720" marB="45720" anchor="ctr">
                    <a:solidFill>
                      <a:srgbClr val="E8EEF7"/>
                    </a:solidFill>
                  </a:tcPr>
                </a:tc>
              </a:tr>
              <a:tr h="457200">
                <a:tc>
                  <a:txBody>
                    <a:bodyPr wrap="square"/>
                    <a:lstStyle/>
                    <a:p>
                      <a:pPr algn="l"/>
                      <a:r>
                        <a:rPr sz="1200" b="1">
                          <a:solidFill>
                            <a:srgbClr val="0B1B3F"/>
                          </a:solidFill>
                          <a:latin typeface="Hiragino Sans"/>
                        </a:rPr>
                        <a:t>資格学習・社内研修の素材</a:t>
                      </a:r>
                    </a:p>
                  </a:txBody>
                  <a:tcPr marL="91440" marR="91440" marT="45720" marB="45720" anchor="ctr">
                    <a:solidFill>
                      <a:srgbClr val="FFFFFF"/>
                    </a:solidFill>
                  </a:tcPr>
                </a:tc>
                <a:tc>
                  <a:txBody>
                    <a:bodyPr wrap="square"/>
                    <a:lstStyle/>
                    <a:p>
                      <a:pPr algn="l"/>
                      <a:r>
                        <a:rPr sz="1200" b="0">
                          <a:solidFill>
                            <a:srgbClr val="333333"/>
                          </a:solidFill>
                          <a:latin typeface="Hiragino Sans"/>
                        </a:rPr>
                        <a:t>大人の学び・OJT資料</a:t>
                      </a:r>
                    </a:p>
                  </a:txBody>
                  <a:tcPr marL="91440" marR="91440" marT="45720" marB="45720" anchor="ctr">
                    <a:solidFill>
                      <a:srgbClr val="FFFFFF"/>
                    </a:solidFill>
                  </a:tcPr>
                </a:tc>
                <a:tc>
                  <a:txBody>
                    <a:bodyPr wrap="square"/>
                    <a:lstStyle/>
                    <a:p>
                      <a:pPr algn="l"/>
                      <a:r>
                        <a:rPr sz="1200" b="0">
                          <a:solidFill>
                            <a:srgbClr val="333333"/>
                          </a:solidFill>
                          <a:latin typeface="Hiragino Sans"/>
                        </a:rPr>
                        <a:t>GoodNotes / Keynote</a:t>
                      </a:r>
                    </a:p>
                  </a:txBody>
                  <a:tcPr marL="91440" marR="91440" marT="45720" marB="45720" anchor="ctr">
                    <a:solidFill>
                      <a:srgbClr val="FFFFFF"/>
                    </a:solidFill>
                  </a:tcPr>
                </a:tc>
              </a:tr>
            </a:tbl>
          </a:graphicData>
        </a:graphic>
      </p:graphicFrame>
      <p:sp>
        <p:nvSpPr>
          <p:cNvPr id="11" name="Rectangle 10"/>
          <p:cNvSpPr/>
          <p:nvPr/>
        </p:nvSpPr>
        <p:spPr>
          <a:xfrm>
            <a:off x="457200" y="5989320"/>
            <a:ext cx="109728" cy="59436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5989320"/>
            <a:ext cx="11137392" cy="59436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5989320"/>
            <a:ext cx="10789920" cy="594360"/>
          </a:xfrm>
          <a:prstGeom prst="rect">
            <a:avLst/>
          </a:prstGeom>
          <a:noFill/>
        </p:spPr>
        <p:txBody>
          <a:bodyPr wrap="square" lIns="45720" rIns="45720" tIns="18288" bIns="18288" anchor="ctr">
            <a:spAutoFit/>
          </a:bodyPr>
          <a:lstStyle/>
          <a:p>
            <a:pPr algn="l"/>
            <a:r>
              <a:rPr sz="1400" b="1">
                <a:solidFill>
                  <a:srgbClr val="0B1B3F"/>
                </a:solidFill>
                <a:latin typeface="Hiragino Sans"/>
              </a:rPr>
              <a:t>メッセージ：迷ったら【KeynoteかGoodNotesに貼る】が一番つぶしが効く（PDF化で共有・印刷・メール添付すべて対応）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0" y="2194560"/>
            <a:ext cx="7589520" cy="54864"/>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2468880"/>
            <a:ext cx="12191695" cy="1554480"/>
          </a:xfrm>
          <a:prstGeom prst="rect">
            <a:avLst/>
          </a:prstGeom>
          <a:noFill/>
        </p:spPr>
        <p:txBody>
          <a:bodyPr wrap="square" lIns="45720" rIns="45720" tIns="18288" bIns="18288" anchor="ctr">
            <a:spAutoFit/>
          </a:bodyPr>
          <a:lstStyle/>
          <a:p>
            <a:pPr algn="ctr"/>
            <a:r>
              <a:rPr sz="7200" b="1">
                <a:solidFill>
                  <a:srgbClr val="FFFFFF"/>
                </a:solidFill>
                <a:latin typeface="Hiragino Sans"/>
              </a:rPr>
              <a:t>ありがとうございました！</a:t>
            </a:r>
          </a:p>
        </p:txBody>
      </p:sp>
      <p:sp>
        <p:nvSpPr>
          <p:cNvPr id="5" name="TextBox 4"/>
          <p:cNvSpPr txBox="1"/>
          <p:nvPr/>
        </p:nvSpPr>
        <p:spPr>
          <a:xfrm>
            <a:off x="0" y="4114800"/>
            <a:ext cx="12191695" cy="548640"/>
          </a:xfrm>
          <a:prstGeom prst="rect">
            <a:avLst/>
          </a:prstGeom>
          <a:noFill/>
        </p:spPr>
        <p:txBody>
          <a:bodyPr wrap="square" lIns="45720" rIns="45720" tIns="18288" bIns="18288" anchor="ctr">
            <a:spAutoFit/>
          </a:bodyPr>
          <a:lstStyle/>
          <a:p>
            <a:pPr algn="ctr"/>
            <a:r>
              <a:rPr sz="2200" b="0">
                <a:solidFill>
                  <a:srgbClr val="E8EEF7"/>
                </a:solidFill>
                <a:latin typeface="Hiragino Sans"/>
              </a:rPr>
              <a:t>質問・感想はチャットでお気軽にどうぞ</a:t>
            </a:r>
          </a:p>
        </p:txBody>
      </p:sp>
      <p:sp>
        <p:nvSpPr>
          <p:cNvPr id="6" name="Rectangle 5"/>
          <p:cNvSpPr/>
          <p:nvPr/>
        </p:nvSpPr>
        <p:spPr>
          <a:xfrm>
            <a:off x="4114800" y="4846320"/>
            <a:ext cx="3931920" cy="36576"/>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5212080"/>
            <a:ext cx="12191695" cy="365760"/>
          </a:xfrm>
          <a:prstGeom prst="rect">
            <a:avLst/>
          </a:prstGeom>
          <a:noFill/>
        </p:spPr>
        <p:txBody>
          <a:bodyPr wrap="square" lIns="45720" rIns="45720" tIns="18288" bIns="18288" anchor="ctr">
            <a:spAutoFit/>
          </a:bodyPr>
          <a:lstStyle/>
          <a:p>
            <a:pPr algn="ctr"/>
            <a:r>
              <a:rPr sz="1400" b="0">
                <a:solidFill>
                  <a:srgbClr val="E8EEF7"/>
                </a:solidFill>
                <a:latin typeface="Hiragino Sans"/>
              </a:rPr>
              <a:t>Vol.16  ｜  AIデザイン作成  ―  GPT Image 2でデザインを自動化する</a:t>
            </a:r>
          </a:p>
        </p:txBody>
      </p:sp>
      <p:sp>
        <p:nvSpPr>
          <p:cNvPr id="8" name="TextBox 7"/>
          <p:cNvSpPr txBox="1"/>
          <p:nvPr/>
        </p:nvSpPr>
        <p:spPr>
          <a:xfrm>
            <a:off x="0" y="5669280"/>
            <a:ext cx="12191695" cy="365760"/>
          </a:xfrm>
          <a:prstGeom prst="rect">
            <a:avLst/>
          </a:prstGeom>
          <a:noFill/>
        </p:spPr>
        <p:txBody>
          <a:bodyPr wrap="square" lIns="45720" rIns="45720" tIns="18288" bIns="18288" anchor="ctr">
            <a:spAutoFit/>
          </a:bodyPr>
          <a:lstStyle/>
          <a:p>
            <a:pPr algn="ctr"/>
            <a:r>
              <a:rPr sz="1200" b="0">
                <a:solidFill>
                  <a:srgbClr val="3D5A80"/>
                </a:solidFill>
                <a:latin typeface="Hiragino Sans"/>
              </a:rPr>
              <a:t>AI活用セミナーシリーズ  ―  Phase 4：AIによる創造とアウトプット</a:t>
            </a:r>
          </a:p>
        </p:txBody>
      </p:sp>
      <p:sp>
        <p:nvSpPr>
          <p:cNvPr id="9" name="TextBox 8"/>
          <p:cNvSpPr txBox="1"/>
          <p:nvPr/>
        </p:nvSpPr>
        <p:spPr>
          <a:xfrm>
            <a:off x="0" y="6446520"/>
            <a:ext cx="12191695" cy="365760"/>
          </a:xfrm>
          <a:prstGeom prst="rect">
            <a:avLst/>
          </a:prstGeom>
          <a:noFill/>
        </p:spPr>
        <p:txBody>
          <a:bodyPr wrap="square" lIns="45720" rIns="45720" tIns="18288" bIns="18288" anchor="ctr">
            <a:spAutoFit/>
          </a:bodyPr>
          <a:lstStyle/>
          <a:p>
            <a:pPr algn="ctr"/>
            <a:r>
              <a:rPr sz="1000" b="0">
                <a:solidFill>
                  <a:srgbClr val="E8EEF7"/>
                </a:solidFill>
                <a:latin typeface="Hiragino Sans"/>
              </a:rPr>
              <a:t>40 /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